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Metadata/LabelInfo.xml" ContentType="application/vnd.ms-office.classificationlabel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viewProps.xml" ContentType="application/vnd.openxmlformats-officedocument.presentationml.viewPro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ing AI to Scale GTM Enablement Services" id="{28838284-0E5E-48EF-8BA1-7B1009BC2BC1}">
          <p14:sldIdLst>
            <p14:sldId id="2561"/>
          </p14:sldIdLst>
        </p14:section>
        <p14:section name="AI-Driven GTM Enablement Transformation" id="{3BF6B1B6-D149-4CAC-B88A-E1DBEFF8EE1A}">
          <p14:sldIdLst>
            <p14:sldId id="2562"/>
            <p14:sldId id="2563"/>
            <p14:sldId id="2564"/>
            <p14:sldId id="2565"/>
            <p14:sldId id="2566"/>
            <p14:sldId id="2567"/>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C0669-F5C6-A87D-7296-2700F04C4258}" v="42" dt="2026-04-03T17:19:56.678"/>
    <p1510:client id="{7BC51D04-3BA3-01A7-B628-80353D4EC267}" v="4" dt="2026-04-03T17:23:47.1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ly Grover" userId="S::kgrover@equinix.com::c439a35e-2c8f-43c6-b4a1-1f677c4831d4" providerId="AD" clId="Web-{15AC0669-F5C6-A87D-7296-2700F04C4258}"/>
    <pc:docChg chg="addSld delSld modSld sldOrd modSection">
      <pc:chgData name="Kelly Grover" userId="S::kgrover@equinix.com::c439a35e-2c8f-43c6-b4a1-1f677c4831d4" providerId="AD" clId="Web-{15AC0669-F5C6-A87D-7296-2700F04C4258}" dt="2026-04-03T17:19:56.678" v="49"/>
      <pc:docMkLst>
        <pc:docMk/>
      </pc:docMkLst>
      <pc:sldChg chg="modSp modNotes">
        <pc:chgData name="Kelly Grover" userId="S::kgrover@equinix.com::c439a35e-2c8f-43c6-b4a1-1f677c4831d4" providerId="AD" clId="Web-{15AC0669-F5C6-A87D-7296-2700F04C4258}" dt="2026-04-03T16:22:27.229" v="32"/>
        <pc:sldMkLst>
          <pc:docMk/>
          <pc:sldMk cId="3540724296" sldId="2561"/>
        </pc:sldMkLst>
        <pc:spChg chg="mod">
          <ac:chgData name="Kelly Grover" userId="S::kgrover@equinix.com::c439a35e-2c8f-43c6-b4a1-1f677c4831d4" providerId="AD" clId="Web-{15AC0669-F5C6-A87D-7296-2700F04C4258}" dt="2026-04-03T16:19:31.475" v="20" actId="14100"/>
          <ac:spMkLst>
            <pc:docMk/>
            <pc:sldMk cId="3540724296" sldId="2561"/>
            <ac:spMk id="8" creationId="{0E4262D4-DCEB-4023-8944-C21F047FBC80}"/>
          </ac:spMkLst>
        </pc:spChg>
      </pc:sldChg>
      <pc:sldChg chg="ord modNotes">
        <pc:chgData name="Kelly Grover" userId="S::kgrover@equinix.com::c439a35e-2c8f-43c6-b4a1-1f677c4831d4" providerId="AD" clId="Web-{15AC0669-F5C6-A87D-7296-2700F04C4258}" dt="2026-04-03T16:46:16.949" v="39"/>
        <pc:sldMkLst>
          <pc:docMk/>
          <pc:sldMk cId="215640478" sldId="2562"/>
        </pc:sldMkLst>
      </pc:sldChg>
      <pc:sldChg chg="modSp modNotes">
        <pc:chgData name="Kelly Grover" userId="S::kgrover@equinix.com::c439a35e-2c8f-43c6-b4a1-1f677c4831d4" providerId="AD" clId="Web-{15AC0669-F5C6-A87D-7296-2700F04C4258}" dt="2026-04-03T16:22:57.573" v="35"/>
        <pc:sldMkLst>
          <pc:docMk/>
          <pc:sldMk cId="1109047122" sldId="2564"/>
        </pc:sldMkLst>
        <pc:spChg chg="mod">
          <ac:chgData name="Kelly Grover" userId="S::kgrover@equinix.com::c439a35e-2c8f-43c6-b4a1-1f677c4831d4" providerId="AD" clId="Web-{15AC0669-F5C6-A87D-7296-2700F04C4258}" dt="2026-04-03T16:19:50.726" v="22" actId="20577"/>
          <ac:spMkLst>
            <pc:docMk/>
            <pc:sldMk cId="1109047122" sldId="2564"/>
            <ac:spMk id="8" creationId="{9EB51D5B-81F5-41B3-89E0-C86A078094DC}"/>
          </ac:spMkLst>
        </pc:spChg>
        <pc:picChg chg="mod">
          <ac:chgData name="Kelly Grover" userId="S::kgrover@equinix.com::c439a35e-2c8f-43c6-b4a1-1f677c4831d4" providerId="AD" clId="Web-{15AC0669-F5C6-A87D-7296-2700F04C4258}" dt="2026-04-03T16:18:32.802" v="15" actId="1076"/>
          <ac:picMkLst>
            <pc:docMk/>
            <pc:sldMk cId="1109047122" sldId="2564"/>
            <ac:picMk id="6" creationId="{2B1A56A7-3906-46A8-8934-FD497D02E6D0}"/>
          </ac:picMkLst>
        </pc:picChg>
      </pc:sldChg>
      <pc:sldChg chg="modSp">
        <pc:chgData name="Kelly Grover" userId="S::kgrover@equinix.com::c439a35e-2c8f-43c6-b4a1-1f677c4831d4" providerId="AD" clId="Web-{15AC0669-F5C6-A87D-7296-2700F04C4258}" dt="2026-04-03T16:17:54.457" v="6" actId="14100"/>
        <pc:sldMkLst>
          <pc:docMk/>
          <pc:sldMk cId="484422514" sldId="2565"/>
        </pc:sldMkLst>
        <pc:spChg chg="mod">
          <ac:chgData name="Kelly Grover" userId="S::kgrover@equinix.com::c439a35e-2c8f-43c6-b4a1-1f677c4831d4" providerId="AD" clId="Web-{15AC0669-F5C6-A87D-7296-2700F04C4258}" dt="2026-04-03T16:17:34.613" v="3" actId="1076"/>
          <ac:spMkLst>
            <pc:docMk/>
            <pc:sldMk cId="484422514" sldId="2565"/>
            <ac:spMk id="8" creationId="{CB2779E3-E897-4219-8D96-C0D613FC4A10}"/>
          </ac:spMkLst>
        </pc:spChg>
        <pc:picChg chg="mod">
          <ac:chgData name="Kelly Grover" userId="S::kgrover@equinix.com::c439a35e-2c8f-43c6-b4a1-1f677c4831d4" providerId="AD" clId="Web-{15AC0669-F5C6-A87D-7296-2700F04C4258}" dt="2026-04-03T16:17:54.457" v="6" actId="14100"/>
          <ac:picMkLst>
            <pc:docMk/>
            <pc:sldMk cId="484422514" sldId="2565"/>
            <ac:picMk id="6" creationId="{AA555B83-2407-461E-9379-2FA41ED1257E}"/>
          </ac:picMkLst>
        </pc:picChg>
      </pc:sldChg>
      <pc:sldChg chg="modSp">
        <pc:chgData name="Kelly Grover" userId="S::kgrover@equinix.com::c439a35e-2c8f-43c6-b4a1-1f677c4831d4" providerId="AD" clId="Web-{15AC0669-F5C6-A87D-7296-2700F04C4258}" dt="2026-04-03T16:20:14.117" v="24" actId="14100"/>
        <pc:sldMkLst>
          <pc:docMk/>
          <pc:sldMk cId="2901570019" sldId="2566"/>
        </pc:sldMkLst>
        <pc:picChg chg="mod">
          <ac:chgData name="Kelly Grover" userId="S::kgrover@equinix.com::c439a35e-2c8f-43c6-b4a1-1f677c4831d4" providerId="AD" clId="Web-{15AC0669-F5C6-A87D-7296-2700F04C4258}" dt="2026-04-03T16:20:14.117" v="24" actId="14100"/>
          <ac:picMkLst>
            <pc:docMk/>
            <pc:sldMk cId="2901570019" sldId="2566"/>
            <ac:picMk id="6" creationId="{E99BD0E3-21DD-44C8-9957-1A360B3FE489}"/>
          </ac:picMkLst>
        </pc:picChg>
      </pc:sldChg>
      <pc:sldChg chg="modSp">
        <pc:chgData name="Kelly Grover" userId="S::kgrover@equinix.com::c439a35e-2c8f-43c6-b4a1-1f677c4831d4" providerId="AD" clId="Web-{15AC0669-F5C6-A87D-7296-2700F04C4258}" dt="2026-04-03T16:18:05.520" v="9" actId="14100"/>
        <pc:sldMkLst>
          <pc:docMk/>
          <pc:sldMk cId="168962643" sldId="2568"/>
        </pc:sldMkLst>
        <pc:picChg chg="mod">
          <ac:chgData name="Kelly Grover" userId="S::kgrover@equinix.com::c439a35e-2c8f-43c6-b4a1-1f677c4831d4" providerId="AD" clId="Web-{15AC0669-F5C6-A87D-7296-2700F04C4258}" dt="2026-04-03T16:18:05.520" v="9" actId="14100"/>
          <ac:picMkLst>
            <pc:docMk/>
            <pc:sldMk cId="168962643" sldId="2568"/>
            <ac:picMk id="6" creationId="{3AAA6F9D-3F94-4319-9382-CACAB9771FFE}"/>
          </ac:picMkLst>
        </pc:picChg>
      </pc:sldChg>
      <pc:sldChg chg="addSp delSp modSp ord">
        <pc:chgData name="Kelly Grover" userId="S::kgrover@equinix.com::c439a35e-2c8f-43c6-b4a1-1f677c4831d4" providerId="AD" clId="Web-{15AC0669-F5C6-A87D-7296-2700F04C4258}" dt="2026-04-03T16:42:30.742" v="38"/>
        <pc:sldMkLst>
          <pc:docMk/>
          <pc:sldMk cId="3108377207" sldId="2569"/>
        </pc:sldMkLst>
        <pc:spChg chg="del mod">
          <ac:chgData name="Kelly Grover" userId="S::kgrover@equinix.com::c439a35e-2c8f-43c6-b4a1-1f677c4831d4" providerId="AD" clId="Web-{15AC0669-F5C6-A87D-7296-2700F04C4258}" dt="2026-04-03T16:42:30.742" v="38"/>
          <ac:spMkLst>
            <pc:docMk/>
            <pc:sldMk cId="3108377207" sldId="2569"/>
            <ac:spMk id="7" creationId="{CDB848DF-5820-40DF-810C-62FE20F642A2}"/>
          </ac:spMkLst>
        </pc:spChg>
        <pc:graphicFrameChg chg="add">
          <ac:chgData name="Kelly Grover" userId="S::kgrover@equinix.com::c439a35e-2c8f-43c6-b4a1-1f677c4831d4" providerId="AD" clId="Web-{15AC0669-F5C6-A87D-7296-2700F04C4258}" dt="2026-04-03T16:42:30.742" v="38"/>
          <ac:graphicFrameMkLst>
            <pc:docMk/>
            <pc:sldMk cId="3108377207" sldId="2569"/>
            <ac:graphicFrameMk id="9" creationId="{FC510A18-B26F-179C-F623-C0A5EBD86A7D}"/>
          </ac:graphicFrameMkLst>
        </pc:graphicFrameChg>
        <pc:picChg chg="add del mod">
          <ac:chgData name="Kelly Grover" userId="S::kgrover@equinix.com::c439a35e-2c8f-43c6-b4a1-1f677c4831d4" providerId="AD" clId="Web-{15AC0669-F5C6-A87D-7296-2700F04C4258}" dt="2026-04-03T16:42:25.273" v="37"/>
          <ac:picMkLst>
            <pc:docMk/>
            <pc:sldMk cId="3108377207" sldId="2569"/>
            <ac:picMk id="2" creationId="{FD7840F1-4956-C5D7-F5C6-FDC3EA66B130}"/>
          </ac:picMkLst>
        </pc:picChg>
      </pc:sldChg>
      <pc:sldChg chg="addSp delSp modSp new del">
        <pc:chgData name="Kelly Grover" userId="S::kgrover@equinix.com::c439a35e-2c8f-43c6-b4a1-1f677c4831d4" providerId="AD" clId="Web-{15AC0669-F5C6-A87D-7296-2700F04C4258}" dt="2026-04-03T17:19:56.678" v="49"/>
        <pc:sldMkLst>
          <pc:docMk/>
          <pc:sldMk cId="3999507410" sldId="2570"/>
        </pc:sldMkLst>
        <pc:spChg chg="mod">
          <ac:chgData name="Kelly Grover" userId="S::kgrover@equinix.com::c439a35e-2c8f-43c6-b4a1-1f677c4831d4" providerId="AD" clId="Web-{15AC0669-F5C6-A87D-7296-2700F04C4258}" dt="2026-04-03T17:19:38.694" v="48" actId="20577"/>
          <ac:spMkLst>
            <pc:docMk/>
            <pc:sldMk cId="3999507410" sldId="2570"/>
            <ac:spMk id="2" creationId="{24CC4291-6692-CAA1-85D4-7C645A2821EA}"/>
          </ac:spMkLst>
        </pc:spChg>
        <pc:spChg chg="add del mod">
          <ac:chgData name="Kelly Grover" userId="S::kgrover@equinix.com::c439a35e-2c8f-43c6-b4a1-1f677c4831d4" providerId="AD" clId="Web-{15AC0669-F5C6-A87D-7296-2700F04C4258}" dt="2026-04-03T17:19:33.241" v="44"/>
          <ac:spMkLst>
            <pc:docMk/>
            <pc:sldMk cId="3999507410" sldId="2570"/>
            <ac:spMk id="5" creationId="{F8455FCC-91BA-F2C6-B8CE-2F119A20BAD9}"/>
          </ac:spMkLst>
        </pc:spChg>
      </pc:sldChg>
    </pc:docChg>
  </pc:docChgLst>
  <pc:docChgLst>
    <pc:chgData name="Kelly Grover" userId="S::kgrover@equinix.com::c439a35e-2c8f-43c6-b4a1-1f677c4831d4" providerId="AD" clId="Web-{7BC51D04-3BA3-01A7-B628-80353D4EC267}"/>
    <pc:docChg chg="addSld delSld modSection">
      <pc:chgData name="Kelly Grover" userId="S::kgrover@equinix.com::c439a35e-2c8f-43c6-b4a1-1f677c4831d4" providerId="AD" clId="Web-{7BC51D04-3BA3-01A7-B628-80353D4EC267}" dt="2026-04-03T17:23:47.116" v="3"/>
      <pc:docMkLst>
        <pc:docMk/>
      </pc:docMkLst>
      <pc:sldChg chg="add del replId">
        <pc:chgData name="Kelly Grover" userId="S::kgrover@equinix.com::c439a35e-2c8f-43c6-b4a1-1f677c4831d4" providerId="AD" clId="Web-{7BC51D04-3BA3-01A7-B628-80353D4EC267}" dt="2026-04-03T17:23:47.116" v="3"/>
        <pc:sldMkLst>
          <pc:docMk/>
          <pc:sldMk cId="2341454736" sldId="2570"/>
        </pc:sldMkLst>
      </pc:sldChg>
      <pc:sldChg chg="new del">
        <pc:chgData name="Kelly Grover" userId="S::kgrover@equinix.com::c439a35e-2c8f-43c6-b4a1-1f677c4831d4" providerId="AD" clId="Web-{7BC51D04-3BA3-01A7-B628-80353D4EC267}" dt="2026-04-03T17:22:55.497" v="1"/>
        <pc:sldMkLst>
          <pc:docMk/>
          <pc:sldMk cId="3557130909" sldId="257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ABF8FF-DD45-4155-8DCB-915402AAC5EB}"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05B92215-D836-4796-ACA2-D8D7FCEDDE92}">
      <dgm:prSet/>
      <dgm:spPr/>
      <dgm:t>
        <a:bodyPr/>
        <a:lstStyle/>
        <a:p>
          <a:r>
            <a:rPr lang="en-US" b="0"/>
            <a:t>AI powers end-to-end enablement as a system: intake captures and prioritizes demand using strategic and revenue signals; design generates modular, role-based learning paths with leader governance. </a:t>
          </a:r>
          <a:endParaRPr lang="en-US"/>
        </a:p>
      </dgm:t>
    </dgm:pt>
    <dgm:pt modelId="{3B158DB8-68DE-4539-A28E-D7C1DC649AC9}" type="parTrans" cxnId="{8725B640-DEB4-42EC-B225-9352089CD2E6}">
      <dgm:prSet/>
      <dgm:spPr/>
      <dgm:t>
        <a:bodyPr/>
        <a:lstStyle/>
        <a:p>
          <a:endParaRPr lang="en-US"/>
        </a:p>
      </dgm:t>
    </dgm:pt>
    <dgm:pt modelId="{3FC07EAF-1521-422A-B6DA-EFBD8B7CEC5D}" type="sibTrans" cxnId="{8725B640-DEB4-42EC-B225-9352089CD2E6}">
      <dgm:prSet/>
      <dgm:spPr/>
      <dgm:t>
        <a:bodyPr/>
        <a:lstStyle/>
        <a:p>
          <a:endParaRPr lang="en-US"/>
        </a:p>
      </dgm:t>
    </dgm:pt>
    <dgm:pt modelId="{43BA0F3F-F92A-4DB2-945D-297C3BF1A84C}">
      <dgm:prSet/>
      <dgm:spPr/>
      <dgm:t>
        <a:bodyPr/>
        <a:lstStyle/>
        <a:p>
          <a:r>
            <a:rPr lang="en-US" b="0"/>
            <a:t>Delivery adapts to each learner and produces performance data; always-on reporting gives leaders real-time visibility into impact and ROI. </a:t>
          </a:r>
          <a:endParaRPr lang="en-US"/>
        </a:p>
      </dgm:t>
    </dgm:pt>
    <dgm:pt modelId="{0A189E0A-B829-4BA0-AA08-DE883A16841C}" type="parTrans" cxnId="{5193F0D2-5492-4662-9F13-5911787CF304}">
      <dgm:prSet/>
      <dgm:spPr/>
      <dgm:t>
        <a:bodyPr/>
        <a:lstStyle/>
        <a:p>
          <a:endParaRPr lang="en-US"/>
        </a:p>
      </dgm:t>
    </dgm:pt>
    <dgm:pt modelId="{7C1E6E47-03BD-4466-A729-0A860564C519}" type="sibTrans" cxnId="{5193F0D2-5492-4662-9F13-5911787CF304}">
      <dgm:prSet/>
      <dgm:spPr/>
      <dgm:t>
        <a:bodyPr/>
        <a:lstStyle/>
        <a:p>
          <a:endParaRPr lang="en-US"/>
        </a:p>
      </dgm:t>
    </dgm:pt>
    <dgm:pt modelId="{3BED3FED-2E92-4285-B2BF-5609320DF04F}">
      <dgm:prSet/>
      <dgm:spPr/>
      <dgm:t>
        <a:bodyPr/>
        <a:lstStyle/>
        <a:p>
          <a:r>
            <a:rPr lang="en-US" b="0"/>
            <a:t>Sentiment analysis closes the loop by identifying improvement opportunities and feeding insights back into intake and design—scaling execution without added complexity. </a:t>
          </a:r>
          <a:endParaRPr lang="en-US"/>
        </a:p>
      </dgm:t>
    </dgm:pt>
    <dgm:pt modelId="{EBB6D09C-CBE5-4D50-B403-EA3D8BDA067C}" type="parTrans" cxnId="{F91E5215-68EF-4202-839A-B0BAF720DE34}">
      <dgm:prSet/>
      <dgm:spPr/>
      <dgm:t>
        <a:bodyPr/>
        <a:lstStyle/>
        <a:p>
          <a:endParaRPr lang="en-US"/>
        </a:p>
      </dgm:t>
    </dgm:pt>
    <dgm:pt modelId="{28B97D0E-DFBF-426C-9B8E-35C379F0DC49}" type="sibTrans" cxnId="{F91E5215-68EF-4202-839A-B0BAF720DE34}">
      <dgm:prSet/>
      <dgm:spPr/>
      <dgm:t>
        <a:bodyPr/>
        <a:lstStyle/>
        <a:p>
          <a:endParaRPr lang="en-US"/>
        </a:p>
      </dgm:t>
    </dgm:pt>
    <dgm:pt modelId="{2E7D4313-D660-47B0-B4B7-14426A86E91A}" type="pres">
      <dgm:prSet presAssocID="{3BABF8FF-DD45-4155-8DCB-915402AAC5EB}" presName="diagram" presStyleCnt="0">
        <dgm:presLayoutVars>
          <dgm:dir/>
          <dgm:resizeHandles val="exact"/>
        </dgm:presLayoutVars>
      </dgm:prSet>
      <dgm:spPr/>
    </dgm:pt>
    <dgm:pt modelId="{2B41120E-3BB8-4A63-8018-A398CDDC9DDE}" type="pres">
      <dgm:prSet presAssocID="{05B92215-D836-4796-ACA2-D8D7FCEDDE92}" presName="node" presStyleLbl="node1" presStyleIdx="0" presStyleCnt="3">
        <dgm:presLayoutVars>
          <dgm:bulletEnabled val="1"/>
        </dgm:presLayoutVars>
      </dgm:prSet>
      <dgm:spPr/>
    </dgm:pt>
    <dgm:pt modelId="{E74A0CC3-416B-40D5-8A2D-C0F98500DFCF}" type="pres">
      <dgm:prSet presAssocID="{3FC07EAF-1521-422A-B6DA-EFBD8B7CEC5D}" presName="sibTrans" presStyleLbl="sibTrans2D1" presStyleIdx="0" presStyleCnt="2"/>
      <dgm:spPr/>
    </dgm:pt>
    <dgm:pt modelId="{70762A46-1EA3-4837-8A7C-2D6053E5B247}" type="pres">
      <dgm:prSet presAssocID="{3FC07EAF-1521-422A-B6DA-EFBD8B7CEC5D}" presName="connectorText" presStyleLbl="sibTrans2D1" presStyleIdx="0" presStyleCnt="2"/>
      <dgm:spPr/>
    </dgm:pt>
    <dgm:pt modelId="{04227F46-9D67-4040-9D11-6B8A8F923834}" type="pres">
      <dgm:prSet presAssocID="{43BA0F3F-F92A-4DB2-945D-297C3BF1A84C}" presName="node" presStyleLbl="node1" presStyleIdx="1" presStyleCnt="3">
        <dgm:presLayoutVars>
          <dgm:bulletEnabled val="1"/>
        </dgm:presLayoutVars>
      </dgm:prSet>
      <dgm:spPr/>
    </dgm:pt>
    <dgm:pt modelId="{AD01A751-8395-4A37-93C1-55D21C3F0077}" type="pres">
      <dgm:prSet presAssocID="{7C1E6E47-03BD-4466-A729-0A860564C519}" presName="sibTrans" presStyleLbl="sibTrans2D1" presStyleIdx="1" presStyleCnt="2"/>
      <dgm:spPr/>
    </dgm:pt>
    <dgm:pt modelId="{1F3DBDC0-C619-47EC-97AB-E016DB4B55EA}" type="pres">
      <dgm:prSet presAssocID="{7C1E6E47-03BD-4466-A729-0A860564C519}" presName="connectorText" presStyleLbl="sibTrans2D1" presStyleIdx="1" presStyleCnt="2"/>
      <dgm:spPr/>
    </dgm:pt>
    <dgm:pt modelId="{2AB814A9-A768-4160-97FA-7B4B28F17651}" type="pres">
      <dgm:prSet presAssocID="{3BED3FED-2E92-4285-B2BF-5609320DF04F}" presName="node" presStyleLbl="node1" presStyleIdx="2" presStyleCnt="3">
        <dgm:presLayoutVars>
          <dgm:bulletEnabled val="1"/>
        </dgm:presLayoutVars>
      </dgm:prSet>
      <dgm:spPr/>
    </dgm:pt>
  </dgm:ptLst>
  <dgm:cxnLst>
    <dgm:cxn modelId="{2B9F5500-67A5-4F70-A4B4-500A86D9BC82}" type="presOf" srcId="{05B92215-D836-4796-ACA2-D8D7FCEDDE92}" destId="{2B41120E-3BB8-4A63-8018-A398CDDC9DDE}" srcOrd="0" destOrd="0" presId="urn:microsoft.com/office/officeart/2005/8/layout/process5"/>
    <dgm:cxn modelId="{49DC860E-9BA8-43EA-8A30-89535B0F64BF}" type="presOf" srcId="{7C1E6E47-03BD-4466-A729-0A860564C519}" destId="{AD01A751-8395-4A37-93C1-55D21C3F0077}" srcOrd="0" destOrd="0" presId="urn:microsoft.com/office/officeart/2005/8/layout/process5"/>
    <dgm:cxn modelId="{D1EB8514-724C-49E7-A564-C5FC3912CDCB}" type="presOf" srcId="{43BA0F3F-F92A-4DB2-945D-297C3BF1A84C}" destId="{04227F46-9D67-4040-9D11-6B8A8F923834}" srcOrd="0" destOrd="0" presId="urn:microsoft.com/office/officeart/2005/8/layout/process5"/>
    <dgm:cxn modelId="{F91E5215-68EF-4202-839A-B0BAF720DE34}" srcId="{3BABF8FF-DD45-4155-8DCB-915402AAC5EB}" destId="{3BED3FED-2E92-4285-B2BF-5609320DF04F}" srcOrd="2" destOrd="0" parTransId="{EBB6D09C-CBE5-4D50-B403-EA3D8BDA067C}" sibTransId="{28B97D0E-DFBF-426C-9B8E-35C379F0DC49}"/>
    <dgm:cxn modelId="{1EA8BE1B-8DB3-44B8-8C19-C34EDBB10942}" type="presOf" srcId="{3BABF8FF-DD45-4155-8DCB-915402AAC5EB}" destId="{2E7D4313-D660-47B0-B4B7-14426A86E91A}" srcOrd="0" destOrd="0" presId="urn:microsoft.com/office/officeart/2005/8/layout/process5"/>
    <dgm:cxn modelId="{7553C325-C043-4746-8BD1-17126B144190}" type="presOf" srcId="{7C1E6E47-03BD-4466-A729-0A860564C519}" destId="{1F3DBDC0-C619-47EC-97AB-E016DB4B55EA}" srcOrd="1" destOrd="0" presId="urn:microsoft.com/office/officeart/2005/8/layout/process5"/>
    <dgm:cxn modelId="{87CDC338-E051-49DE-ACDC-5E976FCB2A9F}" type="presOf" srcId="{3FC07EAF-1521-422A-B6DA-EFBD8B7CEC5D}" destId="{E74A0CC3-416B-40D5-8A2D-C0F98500DFCF}" srcOrd="0" destOrd="0" presId="urn:microsoft.com/office/officeart/2005/8/layout/process5"/>
    <dgm:cxn modelId="{8725B640-DEB4-42EC-B225-9352089CD2E6}" srcId="{3BABF8FF-DD45-4155-8DCB-915402AAC5EB}" destId="{05B92215-D836-4796-ACA2-D8D7FCEDDE92}" srcOrd="0" destOrd="0" parTransId="{3B158DB8-68DE-4539-A28E-D7C1DC649AC9}" sibTransId="{3FC07EAF-1521-422A-B6DA-EFBD8B7CEC5D}"/>
    <dgm:cxn modelId="{86138070-F285-4183-951D-A8DD7B4ACB5B}" type="presOf" srcId="{3FC07EAF-1521-422A-B6DA-EFBD8B7CEC5D}" destId="{70762A46-1EA3-4837-8A7C-2D6053E5B247}" srcOrd="1" destOrd="0" presId="urn:microsoft.com/office/officeart/2005/8/layout/process5"/>
    <dgm:cxn modelId="{CC33FF8D-1599-4737-B9B6-FFC45FFC7E03}" type="presOf" srcId="{3BED3FED-2E92-4285-B2BF-5609320DF04F}" destId="{2AB814A9-A768-4160-97FA-7B4B28F17651}" srcOrd="0" destOrd="0" presId="urn:microsoft.com/office/officeart/2005/8/layout/process5"/>
    <dgm:cxn modelId="{5193F0D2-5492-4662-9F13-5911787CF304}" srcId="{3BABF8FF-DD45-4155-8DCB-915402AAC5EB}" destId="{43BA0F3F-F92A-4DB2-945D-297C3BF1A84C}" srcOrd="1" destOrd="0" parTransId="{0A189E0A-B829-4BA0-AA08-DE883A16841C}" sibTransId="{7C1E6E47-03BD-4466-A729-0A860564C519}"/>
    <dgm:cxn modelId="{D85D1E5E-BF50-4BC6-A500-CB04A0802B93}" type="presParOf" srcId="{2E7D4313-D660-47B0-B4B7-14426A86E91A}" destId="{2B41120E-3BB8-4A63-8018-A398CDDC9DDE}" srcOrd="0" destOrd="0" presId="urn:microsoft.com/office/officeart/2005/8/layout/process5"/>
    <dgm:cxn modelId="{3B0C9833-4C72-4EAD-86CB-CF6F16F4B80B}" type="presParOf" srcId="{2E7D4313-D660-47B0-B4B7-14426A86E91A}" destId="{E74A0CC3-416B-40D5-8A2D-C0F98500DFCF}" srcOrd="1" destOrd="0" presId="urn:microsoft.com/office/officeart/2005/8/layout/process5"/>
    <dgm:cxn modelId="{9AA3B1D8-5206-4002-B04E-1824789A1E51}" type="presParOf" srcId="{E74A0CC3-416B-40D5-8A2D-C0F98500DFCF}" destId="{70762A46-1EA3-4837-8A7C-2D6053E5B247}" srcOrd="0" destOrd="0" presId="urn:microsoft.com/office/officeart/2005/8/layout/process5"/>
    <dgm:cxn modelId="{C0650785-BBCD-4EED-AD81-65E29FA6567C}" type="presParOf" srcId="{2E7D4313-D660-47B0-B4B7-14426A86E91A}" destId="{04227F46-9D67-4040-9D11-6B8A8F923834}" srcOrd="2" destOrd="0" presId="urn:microsoft.com/office/officeart/2005/8/layout/process5"/>
    <dgm:cxn modelId="{143B2F81-CE10-4B91-AC0F-B21943BEAF5C}" type="presParOf" srcId="{2E7D4313-D660-47B0-B4B7-14426A86E91A}" destId="{AD01A751-8395-4A37-93C1-55D21C3F0077}" srcOrd="3" destOrd="0" presId="urn:microsoft.com/office/officeart/2005/8/layout/process5"/>
    <dgm:cxn modelId="{88F60946-8A99-401B-A353-7D2F415D1AAD}" type="presParOf" srcId="{AD01A751-8395-4A37-93C1-55D21C3F0077}" destId="{1F3DBDC0-C619-47EC-97AB-E016DB4B55EA}" srcOrd="0" destOrd="0" presId="urn:microsoft.com/office/officeart/2005/8/layout/process5"/>
    <dgm:cxn modelId="{1AA90960-0D25-41E1-80CE-558D365A90BF}" type="presParOf" srcId="{2E7D4313-D660-47B0-B4B7-14426A86E91A}" destId="{2AB814A9-A768-4160-97FA-7B4B28F17651}" srcOrd="4"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1120E-3BB8-4A63-8018-A398CDDC9DDE}">
      <dsp:nvSpPr>
        <dsp:cNvPr id="0" name=""/>
        <dsp:cNvSpPr/>
      </dsp:nvSpPr>
      <dsp:spPr>
        <a:xfrm>
          <a:off x="9523" y="204939"/>
          <a:ext cx="2846573" cy="17079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kern="1200"/>
            <a:t>AI powers end-to-end enablement as a system: intake captures and prioritizes demand using strategic and revenue signals; design generates modular, role-based learning paths with leader governance. </a:t>
          </a:r>
          <a:endParaRPr lang="en-US" sz="1500" kern="1200"/>
        </a:p>
      </dsp:txBody>
      <dsp:txXfrm>
        <a:off x="59547" y="254963"/>
        <a:ext cx="2746525" cy="1607896"/>
      </dsp:txXfrm>
    </dsp:sp>
    <dsp:sp modelId="{E74A0CC3-416B-40D5-8A2D-C0F98500DFCF}">
      <dsp:nvSpPr>
        <dsp:cNvPr id="0" name=""/>
        <dsp:cNvSpPr/>
      </dsp:nvSpPr>
      <dsp:spPr>
        <a:xfrm>
          <a:off x="3106596" y="705936"/>
          <a:ext cx="603473" cy="7059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06596" y="847126"/>
        <a:ext cx="422431" cy="423570"/>
      </dsp:txXfrm>
    </dsp:sp>
    <dsp:sp modelId="{04227F46-9D67-4040-9D11-6B8A8F923834}">
      <dsp:nvSpPr>
        <dsp:cNvPr id="0" name=""/>
        <dsp:cNvSpPr/>
      </dsp:nvSpPr>
      <dsp:spPr>
        <a:xfrm>
          <a:off x="3994727" y="204939"/>
          <a:ext cx="2846573" cy="17079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kern="1200"/>
            <a:t>Delivery adapts to each learner and produces performance data; always-on reporting gives leaders real-time visibility into impact and ROI. </a:t>
          </a:r>
          <a:endParaRPr lang="en-US" sz="1500" kern="1200"/>
        </a:p>
      </dsp:txBody>
      <dsp:txXfrm>
        <a:off x="4044751" y="254963"/>
        <a:ext cx="2746525" cy="1607896"/>
      </dsp:txXfrm>
    </dsp:sp>
    <dsp:sp modelId="{AD01A751-8395-4A37-93C1-55D21C3F0077}">
      <dsp:nvSpPr>
        <dsp:cNvPr id="0" name=""/>
        <dsp:cNvSpPr/>
      </dsp:nvSpPr>
      <dsp:spPr>
        <a:xfrm>
          <a:off x="7091799" y="705936"/>
          <a:ext cx="603473" cy="7059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7091799" y="847126"/>
        <a:ext cx="422431" cy="423570"/>
      </dsp:txXfrm>
    </dsp:sp>
    <dsp:sp modelId="{2AB814A9-A768-4160-97FA-7B4B28F17651}">
      <dsp:nvSpPr>
        <dsp:cNvPr id="0" name=""/>
        <dsp:cNvSpPr/>
      </dsp:nvSpPr>
      <dsp:spPr>
        <a:xfrm>
          <a:off x="7979930" y="204939"/>
          <a:ext cx="2846573" cy="17079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kern="1200"/>
            <a:t>Sentiment analysis closes the loop by identifying improvement opportunities and feeding insights back into intake and design—scaling execution without added complexity. </a:t>
          </a:r>
          <a:endParaRPr lang="en-US" sz="1500" kern="1200"/>
        </a:p>
      </dsp:txBody>
      <dsp:txXfrm>
        <a:off x="8029954" y="254963"/>
        <a:ext cx="2746525" cy="16078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D1D1A-1329-46BD-A3E0-7B6EAA8BE08A}" type="datetimeFigureOut">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2B04A2-7657-406F-82B8-8E410CB484A4}" type="slidenum">
              <a:t>‹#›</a:t>
            </a:fld>
            <a:endParaRPr lang="en-US"/>
          </a:p>
        </p:txBody>
      </p:sp>
    </p:spTree>
    <p:extLst>
      <p:ext uri="{BB962C8B-B14F-4D97-AF65-F5344CB8AC3E}">
        <p14:creationId xmlns:p14="http://schemas.microsoft.com/office/powerpoint/2010/main" val="885568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AI fundamentally changes the way GTM Enablement Services scales impact.</a:t>
            </a:r>
          </a:p>
          <a:p>
            <a:pPr marL="171450" indent="-171450">
              <a:buFont typeface="Arial"/>
              <a:buChar char="•"/>
            </a:pPr>
            <a:r>
              <a:rPr lang="en-US" dirty="0"/>
              <a:t>The challenge is not whether enablement is valuable—it's how we support more products, roles, regions, and motions without linearly adding effort.</a:t>
            </a:r>
            <a:endParaRPr lang="en-US" dirty="0">
              <a:ea typeface="Calibri"/>
              <a:cs typeface="Calibri"/>
            </a:endParaRPr>
          </a:p>
          <a:p>
            <a:pPr marL="171450" indent="-171450">
              <a:buFont typeface="Arial"/>
              <a:buChar char="•"/>
            </a:pPr>
            <a:r>
              <a:rPr lang="en-US"/>
              <a:t>AI allows us to scale enablement as a </a:t>
            </a:r>
            <a:r>
              <a:rPr lang="en-US" i="1"/>
              <a:t>system</a:t>
            </a:r>
            <a:r>
              <a:rPr lang="en-US"/>
              <a:t>, not a set of manual projects.</a:t>
            </a:r>
          </a:p>
          <a:p>
            <a:pPr marL="171450" indent="-171450">
              <a:buFont typeface="Arial"/>
              <a:buChar char="•"/>
            </a:pPr>
            <a:r>
              <a:rPr lang="en-US"/>
              <a:t>The goal is to shift enablement from operational support to a measurable growth lever—aligned directly to productivity, readiness, and revenue outcomes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32C31F7-4F1A-4204-B893-E232802A28C4}" type="slidenum">
              <a:t>1</a:t>
            </a:fld>
            <a:endParaRPr lang="en-US"/>
          </a:p>
        </p:txBody>
      </p:sp>
    </p:spTree>
    <p:extLst>
      <p:ext uri="{BB962C8B-B14F-4D97-AF65-F5344CB8AC3E}">
        <p14:creationId xmlns:p14="http://schemas.microsoft.com/office/powerpoint/2010/main" val="782389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GTM enablement complexity has increased faster than headcount or budget.</a:t>
            </a:r>
          </a:p>
          <a:p>
            <a:pPr marL="171450" indent="-171450">
              <a:buFont typeface="Arial"/>
              <a:buChar char="•"/>
            </a:pPr>
            <a:r>
              <a:rPr lang="en-US"/>
              <a:t>AI is critical because it enables automation, prioritization, personalization, and measurement at scale.</a:t>
            </a:r>
          </a:p>
          <a:p>
            <a:pPr marL="171450" indent="-171450">
              <a:buFont typeface="Arial"/>
              <a:buChar char="•"/>
            </a:pPr>
            <a:r>
              <a:rPr lang="en-US" dirty="0"/>
              <a:t>This isn’t about replacing enablement expertise—it’s about removing friction so leaders can focus on strategy and outcomes.</a:t>
            </a:r>
          </a:p>
          <a:p>
            <a:pPr marL="171450" indent="-171450">
              <a:buFont typeface="Arial"/>
              <a:buChar char="•"/>
            </a:pPr>
            <a:r>
              <a:rPr lang="en-US"/>
              <a:t>Across intake, curriculum design, delivery, reporting, and optimization, AI becomes the connective tissue that drives consistency and speed.</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32C31F7-4F1A-4204-B893-E232802A28C4}" type="slidenum">
              <a:t>2</a:t>
            </a:fld>
            <a:endParaRPr lang="en-US"/>
          </a:p>
        </p:txBody>
      </p:sp>
    </p:spTree>
    <p:extLst>
      <p:ext uri="{BB962C8B-B14F-4D97-AF65-F5344CB8AC3E}">
        <p14:creationId xmlns:p14="http://schemas.microsoft.com/office/powerpoint/2010/main" val="3794049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GTM Enablement Services teams are under increasing pressure to support more products, more roles, and faster go-to-market motions with the same or fewer resources. Traditional enablement models rely heavily on manual intake, static content creation, and retrospective reporting, which creates bottlenecks and limits the team’s ability to operate as a strategic business partner. Artificial intelligence provides a practical way to scale enablement by automating low-value manual work while increasing the quality, relevance, and measurability of training experiences. First, AI enables teams to move from reactive order-taking to proactive prioritization by quickly synthesizing large volumes of intake requests and identifying patterns across audiences, products, and business needs. Second, AI dramatically accelerates curriculum design and content production, allowing enablement leaders to focus on defining outcomes, skills, and behaviors rather than formatting slides or duplicating existing assets. Third, AI unlocks continuous insight by connecting learning engagement, skill progression, and business performance in near real time. Instead of waiting weeks or months for survey results and manual reports, enablement teams can see what is working, for whom, and why. Finally, AI allows enablement to become adaptive rather than static. Training can evolve dynamically based on learner behavior and sentiment, ensuring that GTM teams receive the right support at the right time. Together, these capabilities shift enablement from a cost center to a measurable growth lever, aligned directly to revenue impact, productivity, and readiness across the GTM organization. 
 Image source: Microsoft 365 content library</a:t>
            </a:r>
          </a:p>
        </p:txBody>
      </p:sp>
      <p:sp>
        <p:nvSpPr>
          <p:cNvPr id="4" name="Slide Number Placeholder 3"/>
          <p:cNvSpPr>
            <a:spLocks noGrp="1"/>
          </p:cNvSpPr>
          <p:nvPr>
            <p:ph type="sldNum" sz="quarter" idx="5"/>
          </p:nvPr>
        </p:nvSpPr>
        <p:spPr/>
        <p:txBody>
          <a:bodyPr/>
          <a:lstStyle/>
          <a:p>
            <a:fld id="{332C31F7-4F1A-4204-B893-E232802A28C4}" type="slidenum">
              <a:t>3</a:t>
            </a:fld>
            <a:endParaRPr lang="en-US"/>
          </a:p>
        </p:txBody>
      </p:sp>
    </p:spTree>
    <p:extLst>
      <p:ext uri="{BB962C8B-B14F-4D97-AF65-F5344CB8AC3E}">
        <p14:creationId xmlns:p14="http://schemas.microsoft.com/office/powerpoint/2010/main" val="1468743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Enablement intake is often fragmented across email, Teams, forms, and meetings, creating inconsistent inputs and forcing teams to manually interpret urgency and scope. AI can unify and automate this process by ingesting requests from multiple channels and converting them into standardized, structured briefs. Natural language processing allows AI to extract key details such as target audience, product or solution area, GTM motion, timeline, and desired outcomes. Beyond summarization, AI can classify requests based on predefined taxonomies, flag duplicates, and identify related initiatives already in progress. This enables the GTM Enablement Services team to make data-driven prioritization decisions rather than relying on anecdotal pressure or stakeholder escalation. AI can also incorporate business signals such as revenue impact, launch criticality, regional readiness gaps, or deal-stage relevance to recommend priority levels. Over time, historical intake data can be used to forecast demand trends and proactively plan enablement capacity. The result is a faster, more transparent intake experience for stakeholders and a clearer operating rhythm for enablement leaders. Instead of spending time clarifying requests and negotiating scope, the team can focus on delivering high-impact enablement aligned to strategic GTM priorities. 
 Image source: Microsoft 365 content library</a:t>
            </a:r>
          </a:p>
        </p:txBody>
      </p:sp>
      <p:sp>
        <p:nvSpPr>
          <p:cNvPr id="4" name="Slide Number Placeholder 3"/>
          <p:cNvSpPr>
            <a:spLocks noGrp="1"/>
          </p:cNvSpPr>
          <p:nvPr>
            <p:ph type="sldNum" sz="quarter" idx="5"/>
          </p:nvPr>
        </p:nvSpPr>
        <p:spPr/>
        <p:txBody>
          <a:bodyPr/>
          <a:lstStyle/>
          <a:p>
            <a:fld id="{332C31F7-4F1A-4204-B893-E232802A28C4}" type="slidenum">
              <a:t>4</a:t>
            </a:fld>
            <a:endParaRPr lang="en-US"/>
          </a:p>
        </p:txBody>
      </p:sp>
    </p:spTree>
    <p:extLst>
      <p:ext uri="{BB962C8B-B14F-4D97-AF65-F5344CB8AC3E}">
        <p14:creationId xmlns:p14="http://schemas.microsoft.com/office/powerpoint/2010/main" val="1340474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Designing effective enablement curriculum requires aligning learning objectives to roles, skills, and business outcomes, a process that is often time-consuming and inconsistently applied. AI can accelerate curriculum design by generating role-based learning paths tailored to specific GTM audiences such as AEs, SEs, CSMs, partners, or frontline managers. Using input from intake briefs, product documentation, and existing enablement assets, AI can propose modular curricula mapped to skills, behaviors, and readiness milestones. It can also identify gaps and redundancies across current content libraries, helping teams rationalize assets and reduce duplication. For example, AI may surface that objection-handling content exists across multiple decks but lacks scenario-based practice, or that a new product launch lacks manager-specific coaching materials. Enablement leaders remain accountable for defining strategy and standards, but AI significantly reduces the manual effort required to translate strategy into executable learning plans. This approach improves consistency across regions and motions while still allowing for localization and customization. Ultimately, AI-assisted design enables faster time-to-launch and higher-quality learning experiences that are explicitly tied to GTM success metrics. 
 Image source: Microsoft 365 content library</a:t>
            </a:r>
          </a:p>
        </p:txBody>
      </p:sp>
      <p:sp>
        <p:nvSpPr>
          <p:cNvPr id="4" name="Slide Number Placeholder 3"/>
          <p:cNvSpPr>
            <a:spLocks noGrp="1"/>
          </p:cNvSpPr>
          <p:nvPr>
            <p:ph type="sldNum" sz="quarter" idx="5"/>
          </p:nvPr>
        </p:nvSpPr>
        <p:spPr/>
        <p:txBody>
          <a:bodyPr/>
          <a:lstStyle/>
          <a:p>
            <a:fld id="{332C31F7-4F1A-4204-B893-E232802A28C4}" type="slidenum">
              <a:t>5</a:t>
            </a:fld>
            <a:endParaRPr lang="en-US"/>
          </a:p>
        </p:txBody>
      </p:sp>
    </p:spTree>
    <p:extLst>
      <p:ext uri="{BB962C8B-B14F-4D97-AF65-F5344CB8AC3E}">
        <p14:creationId xmlns:p14="http://schemas.microsoft.com/office/powerpoint/2010/main" val="2277245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Static, one-size-fits-all training struggles to drive real behavior change in modern GTM teams. AI enables the creation of interactive, personalized learning experiences that adapt to each learner’s role, proficiency, and performance. Content can be transformed into microlearning modules, interactive scenarios, simulations, and AI-driven role plays that mirror real customer conversations. For example, sellers can practice discovery or objection handling with an AI role-play partner that provides immediate feedback and coaching prompts. AI can dynamically adjust content depth and difficulty based on learner progress, ensuring experienced sellers are not slowed down while new hires receive the reinforcement they need. Personalized recommendations help learners focus on the most relevant content, increasing engagement and reducing cognitive overload. From an enablement perspective, this approach improves skill application rather than just knowledge consumption. Interactive learning also generates richer data signals, such as where learners struggle, how they respond in simulated scenarios, and which skills improve over time. This shifts enablement from content delivery to capability building at scale. 
 Image source: Microsoft 365 content library</a:t>
            </a:r>
          </a:p>
        </p:txBody>
      </p:sp>
      <p:sp>
        <p:nvSpPr>
          <p:cNvPr id="4" name="Slide Number Placeholder 3"/>
          <p:cNvSpPr>
            <a:spLocks noGrp="1"/>
          </p:cNvSpPr>
          <p:nvPr>
            <p:ph type="sldNum" sz="quarter" idx="5"/>
          </p:nvPr>
        </p:nvSpPr>
        <p:spPr/>
        <p:txBody>
          <a:bodyPr/>
          <a:lstStyle/>
          <a:p>
            <a:fld id="{332C31F7-4F1A-4204-B893-E232802A28C4}" type="slidenum">
              <a:t>6</a:t>
            </a:fld>
            <a:endParaRPr lang="en-US"/>
          </a:p>
        </p:txBody>
      </p:sp>
    </p:spTree>
    <p:extLst>
      <p:ext uri="{BB962C8B-B14F-4D97-AF65-F5344CB8AC3E}">
        <p14:creationId xmlns:p14="http://schemas.microsoft.com/office/powerpoint/2010/main" val="2918313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Reporting is often one of the most manual and least scalable aspects of enablement. AI can automate end-to-end reporting by continuously aggregating data across learning platforms, assessments, CRM systems, and collaboration tools. Standard dashboards can track completion rates, engagement, and skill progression without manual intervention. More importantly, AI can surface insights that connect enablement activity to business outcomes such as pipeline creation, win rates, deal velocity, and time-to-productivity. For example, leaders can see how certification completion correlates with improved close rates or how targeted reinforcement impacts new product adoption. AI-generated summaries translate complex data into executive-ready insights, answering questions like what is working, for whom, and where to invest next. This reduces the reporting burden on enablement teams while increasing credibility with senior leadership. Always-on reporting also supports faster decision-making, allowing enablement programs to be adjusted in near real time rather than after quarterly reviews. 
 Image source: Microsoft 365 content library</a:t>
            </a:r>
          </a:p>
        </p:txBody>
      </p:sp>
      <p:sp>
        <p:nvSpPr>
          <p:cNvPr id="4" name="Slide Number Placeholder 3"/>
          <p:cNvSpPr>
            <a:spLocks noGrp="1"/>
          </p:cNvSpPr>
          <p:nvPr>
            <p:ph type="sldNum" sz="quarter" idx="5"/>
          </p:nvPr>
        </p:nvSpPr>
        <p:spPr/>
        <p:txBody>
          <a:bodyPr/>
          <a:lstStyle/>
          <a:p>
            <a:fld id="{332C31F7-4F1A-4204-B893-E232802A28C4}" type="slidenum">
              <a:t>7</a:t>
            </a:fld>
            <a:endParaRPr lang="en-US"/>
          </a:p>
        </p:txBody>
      </p:sp>
    </p:spTree>
    <p:extLst>
      <p:ext uri="{BB962C8B-B14F-4D97-AF65-F5344CB8AC3E}">
        <p14:creationId xmlns:p14="http://schemas.microsoft.com/office/powerpoint/2010/main" val="3599078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Traditional enablement feedback relies heavily on lagging surveys and anecdotal input, which often miss underlying sentiment and context. AI enables continuous sentiment analysis by evaluating open-text survey responses, chat interactions, session Q&amp;A, and qualitative feedback at scale. Natural language analysis can detect themes such as confidence, confusion, relevance, and perceived readiness across different audiences and regions. This allows enablement teams to understand not just what learners completed, but how they feel about the training and whether it is helping them succeed. AI can also track sentiment changes over time, identifying early warning signals when content is missing the mark or when reinforcement is needed. These insights can be automatically fed back into curriculum updates, intake prioritization, and learning recommendations. By closing the feedback loop, enablement becomes a living system that continuously improves based on real learner experience rather than periodic retrospectives. This capability is especially valuable during launches, transformation initiatives, and periods of rapid change. 
 Image source: Microsoft 365 content library</a:t>
            </a:r>
          </a:p>
        </p:txBody>
      </p:sp>
      <p:sp>
        <p:nvSpPr>
          <p:cNvPr id="4" name="Slide Number Placeholder 3"/>
          <p:cNvSpPr>
            <a:spLocks noGrp="1"/>
          </p:cNvSpPr>
          <p:nvPr>
            <p:ph type="sldNum" sz="quarter" idx="5"/>
          </p:nvPr>
        </p:nvSpPr>
        <p:spPr/>
        <p:txBody>
          <a:bodyPr/>
          <a:lstStyle/>
          <a:p>
            <a:fld id="{332C31F7-4F1A-4204-B893-E232802A28C4}" type="slidenum">
              <a:t>8</a:t>
            </a:fld>
            <a:endParaRPr lang="en-US"/>
          </a:p>
        </p:txBody>
      </p:sp>
    </p:spTree>
    <p:extLst>
      <p:ext uri="{BB962C8B-B14F-4D97-AF65-F5344CB8AC3E}">
        <p14:creationId xmlns:p14="http://schemas.microsoft.com/office/powerpoint/2010/main" val="2309603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AI-enabled operating model allows GTM Enablement Services teams to scale impact without increasing complexity. The model begins with AI-powered intake, where demand is captured, structured, and prioritized based on strategic and revenue signals. From there, AI supports curriculum design by generating modular learning paths aligned to roles, skills, and outcomes, while enablement leaders provide governance and quality control. Delivery is powered by interactive, personalized learning experiences that adapt to learner needs and generate rich performance data. Reporting and analytics run continuously in the background, providing enablement leaders and executives with real-time visibility into impact and ROI. Sentiment analysis closes the loop by identifying improvement opportunities and feeding insights back into intake and design. This operating model positions enablement as a system rather than a series of projects, with AI acting as a force multiplier across every stage. The result is a more agile, insight-driven enablement function that scales with the business and directly supports GTM execution.</a:t>
            </a:r>
          </a:p>
        </p:txBody>
      </p:sp>
      <p:sp>
        <p:nvSpPr>
          <p:cNvPr id="4" name="Slide Number Placeholder 3"/>
          <p:cNvSpPr>
            <a:spLocks noGrp="1"/>
          </p:cNvSpPr>
          <p:nvPr>
            <p:ph type="sldNum" sz="quarter" idx="5"/>
          </p:nvPr>
        </p:nvSpPr>
        <p:spPr/>
        <p:txBody>
          <a:bodyPr/>
          <a:lstStyle/>
          <a:p>
            <a:fld id="{332C31F7-4F1A-4204-B893-E232802A28C4}" type="slidenum">
              <a:t>9</a:t>
            </a:fld>
            <a:endParaRPr lang="en-US"/>
          </a:p>
        </p:txBody>
      </p:sp>
    </p:spTree>
    <p:extLst>
      <p:ext uri="{BB962C8B-B14F-4D97-AF65-F5344CB8AC3E}">
        <p14:creationId xmlns:p14="http://schemas.microsoft.com/office/powerpoint/2010/main" val="1912105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sv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sv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33B9F92-897F-4931-8A31-E403DE6E4E68}"/>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Black and White Triangles  against genes diagram on black background">
            <a:extLst>
              <a:ext uri="{FF2B5EF4-FFF2-40B4-BE49-F238E27FC236}">
                <a16:creationId xmlns:a16="http://schemas.microsoft.com/office/drawing/2014/main" id="{13626F3C-CB12-4A25-8D2B-10CE0DFF8032}"/>
              </a:ext>
            </a:extLst>
          </p:cNvPr>
          <p:cNvPicPr>
            <a:picLocks noGrp="1" noChangeAspect="1"/>
          </p:cNvPicPr>
          <p:nvPr>
            <p:ph sz="half" idx="2"/>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29299768-09A1-4994-A6E4-B3710FAFE284}"/>
              </a:ext>
            </a:extLst>
          </p:cNvPr>
          <p:cNvSpPr txBox="1"/>
          <p:nvPr/>
        </p:nvSpPr>
        <p:spPr>
          <a:xfrm>
            <a:off x="619125" y="1165919"/>
            <a:ext cx="4953000" cy="1200150"/>
          </a:xfrm>
          <a:prstGeom prst="rect">
            <a:avLst/>
          </a:prstGeom>
          <a:noFill/>
        </p:spPr>
        <p:txBody>
          <a:bodyPr wrap="square" rtlCol="0">
            <a:normAutofit/>
          </a:bodyPr>
          <a:lstStyle/>
          <a:p>
            <a:pPr marL="0" algn="l">
              <a:buNone/>
            </a:pPr>
            <a:r>
              <a:rPr sz="4500" b="1">
                <a:solidFill>
                  <a:srgbClr val="6D7BF7"/>
                </a:solidFill>
                <a:effectLst/>
                <a:latin typeface="Avenir Next LT Pro Bold" panose="020B0804020202020204" pitchFamily="34" charset="0"/>
              </a:rPr>
              <a:t>AI-SCALED GTM ENABLEMENT </a:t>
            </a:r>
            <a:endParaRPr lang="en-US"/>
          </a:p>
        </p:txBody>
      </p:sp>
      <p:sp>
        <p:nvSpPr>
          <p:cNvPr id="8" name="TextBox 7">
            <a:extLst>
              <a:ext uri="{FF2B5EF4-FFF2-40B4-BE49-F238E27FC236}">
                <a16:creationId xmlns:a16="http://schemas.microsoft.com/office/drawing/2014/main" id="{0E4262D4-DCEB-4023-8944-C21F047FBC80}"/>
              </a:ext>
            </a:extLst>
          </p:cNvPr>
          <p:cNvSpPr txBox="1"/>
          <p:nvPr/>
        </p:nvSpPr>
        <p:spPr>
          <a:xfrm>
            <a:off x="619125" y="5250358"/>
            <a:ext cx="4432833" cy="822721"/>
          </a:xfrm>
          <a:prstGeom prst="rect">
            <a:avLst/>
          </a:prstGeom>
          <a:noFill/>
        </p:spPr>
        <p:txBody>
          <a:bodyPr wrap="square" lIns="91440" tIns="45720" rIns="91440" bIns="45720" rtlCol="0" anchor="t">
            <a:normAutofit fontScale="92500" lnSpcReduction="10000"/>
          </a:bodyPr>
          <a:lstStyle/>
          <a:p>
            <a:r>
              <a:rPr sz="2700" b="1" dirty="0">
                <a:solidFill>
                  <a:srgbClr val="FFFFFF"/>
                </a:solidFill>
                <a:effectLst/>
                <a:latin typeface="Avenir Next LT Pro Bold"/>
              </a:rPr>
              <a:t>Scale </a:t>
            </a:r>
            <a:r>
              <a:rPr lang="en-US" sz="2700" b="1" dirty="0">
                <a:solidFill>
                  <a:srgbClr val="FFFFFF"/>
                </a:solidFill>
                <a:latin typeface="Avenir Next LT Pro Bold"/>
              </a:rPr>
              <a:t>Enablement</a:t>
            </a:r>
            <a:r>
              <a:rPr lang="en-US" sz="2700" b="1">
                <a:solidFill>
                  <a:srgbClr val="FFFFFF"/>
                </a:solidFill>
                <a:latin typeface="Avenir Next LT Pro Bold"/>
              </a:rPr>
              <a:t> Services</a:t>
            </a:r>
            <a:r>
              <a:rPr sz="2700" b="1" dirty="0">
                <a:solidFill>
                  <a:srgbClr val="FFFFFF"/>
                </a:solidFill>
                <a:effectLst/>
                <a:latin typeface="Avenir Next LT Pro Bold"/>
              </a:rPr>
              <a:t> with AI workflows </a:t>
            </a:r>
            <a:endParaRPr lang="en-US" dirty="0">
              <a:latin typeface="Avenir Next LT Pro Bold"/>
            </a:endParaRPr>
          </a:p>
        </p:txBody>
      </p:sp>
    </p:spTree>
    <p:extLst>
      <p:ext uri="{BB962C8B-B14F-4D97-AF65-F5344CB8AC3E}">
        <p14:creationId xmlns:p14="http://schemas.microsoft.com/office/powerpoint/2010/main" val="3540724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0ABDCA-FDEF-4734-8C92-E9784F1635D0}"/>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Electronic music concept abstract background. Clef key">
            <a:extLst>
              <a:ext uri="{FF2B5EF4-FFF2-40B4-BE49-F238E27FC236}">
                <a16:creationId xmlns:a16="http://schemas.microsoft.com/office/drawing/2014/main" id="{561115CB-943A-4220-A410-C23D9E8BC6DF}"/>
              </a:ext>
            </a:extLst>
          </p:cNvPr>
          <p:cNvPicPr>
            <a:picLocks noGrp="1" noChangeAspect="1"/>
          </p:cNvPicPr>
          <p:nvPr>
            <p:ph sz="half" idx="2"/>
          </p:nvPr>
        </p:nvPicPr>
        <p:blipFill>
          <a:blip r:embed="rId4"/>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D939F0F6-A7FE-4B04-9B5A-AAA7A1AA36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C88A3F72-25F7-49FB-B6F7-C96323B86C98}"/>
              </a:ext>
            </a:extLst>
          </p:cNvPr>
          <p:cNvSpPr txBox="1"/>
          <p:nvPr/>
        </p:nvSpPr>
        <p:spPr>
          <a:xfrm>
            <a:off x="762000" y="2771775"/>
            <a:ext cx="10668000" cy="1314450"/>
          </a:xfrm>
          <a:prstGeom prst="rect">
            <a:avLst/>
          </a:prstGeom>
          <a:noFill/>
        </p:spPr>
        <p:txBody>
          <a:bodyPr wrap="square" rtlCol="0">
            <a:normAutofit/>
          </a:bodyPr>
          <a:lstStyle/>
          <a:p>
            <a:pPr marL="0" marR="0" algn="ctr" fontAlgn="b">
              <a:buNone/>
            </a:pPr>
            <a:r>
              <a:rPr sz="4500" cap="all">
                <a:solidFill>
                  <a:srgbClr val="6D7BF7"/>
                </a:solidFill>
                <a:effectLst/>
                <a:latin typeface="Avenir Next LT Pro Bold" panose="020B0804020202020204" pitchFamily="34" charset="0"/>
              </a:rPr>
              <a:t>AI-DRIVEN GTM ENABLEMENT TRANSFORMATION </a:t>
            </a:r>
            <a:endParaRPr lang="en-US"/>
          </a:p>
        </p:txBody>
      </p:sp>
    </p:spTree>
    <p:extLst>
      <p:ext uri="{BB962C8B-B14F-4D97-AF65-F5344CB8AC3E}">
        <p14:creationId xmlns:p14="http://schemas.microsoft.com/office/powerpoint/2010/main" val="215640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95A7DD-3123-4313-AEB9-496172B068DF}"/>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bstract 3d rendering of flying cube. Sci fi shape in empty space. Futuristic background.">
            <a:extLst>
              <a:ext uri="{FF2B5EF4-FFF2-40B4-BE49-F238E27FC236}">
                <a16:creationId xmlns:a16="http://schemas.microsoft.com/office/drawing/2014/main" id="{BDB8E8F2-F6E4-4446-9A76-DABC3E02BD62}"/>
              </a:ext>
            </a:extLst>
          </p:cNvPr>
          <p:cNvPicPr>
            <a:picLocks noGrp="1" noChangeAspect="1"/>
          </p:cNvPicPr>
          <p:nvPr>
            <p:ph sz="half" idx="2"/>
          </p:nvPr>
        </p:nvPicPr>
        <p:blipFill>
          <a:blip r:embed="rId4"/>
          <a:stretch>
            <a:fillRect/>
          </a:stretch>
        </p:blipFill>
        <p:spPr>
          <a:xfrm>
            <a:off x="8165306" y="619125"/>
            <a:ext cx="3407419" cy="5638800"/>
          </a:xfrm>
          <a:prstGeom prst="rect">
            <a:avLst/>
          </a:prstGeom>
        </p:spPr>
      </p:pic>
      <p:sp>
        <p:nvSpPr>
          <p:cNvPr id="7" name="TextBox 6">
            <a:extLst>
              <a:ext uri="{FF2B5EF4-FFF2-40B4-BE49-F238E27FC236}">
                <a16:creationId xmlns:a16="http://schemas.microsoft.com/office/drawing/2014/main" id="{4FADB6BE-A368-44CB-B826-F536A6413661}"/>
              </a:ext>
            </a:extLst>
          </p:cNvPr>
          <p:cNvSpPr txBox="1"/>
          <p:nvPr/>
        </p:nvSpPr>
        <p:spPr>
          <a:xfrm>
            <a:off x="619125" y="1038225"/>
            <a:ext cx="6936581" cy="1200150"/>
          </a:xfrm>
          <a:prstGeom prst="rect">
            <a:avLst/>
          </a:prstGeom>
          <a:noFill/>
        </p:spPr>
        <p:txBody>
          <a:bodyPr wrap="square" rtlCol="0">
            <a:normAutofit/>
          </a:bodyPr>
          <a:lstStyle/>
          <a:p>
            <a:pPr marL="0" algn="l">
              <a:buNone/>
            </a:pPr>
            <a:r>
              <a:rPr sz="4500" b="1" cap="all">
                <a:solidFill>
                  <a:srgbClr val="6D7BF7"/>
                </a:solidFill>
                <a:effectLst/>
                <a:latin typeface="Avenir Next LT Pro Bold" panose="020B0804020202020204" pitchFamily="34" charset="0"/>
              </a:rPr>
              <a:t>AI SCALES GTM ENABLEMENT </a:t>
            </a:r>
            <a:endParaRPr lang="en-US"/>
          </a:p>
        </p:txBody>
      </p:sp>
      <p:sp>
        <p:nvSpPr>
          <p:cNvPr id="8" name="TextBox 7">
            <a:extLst>
              <a:ext uri="{FF2B5EF4-FFF2-40B4-BE49-F238E27FC236}">
                <a16:creationId xmlns:a16="http://schemas.microsoft.com/office/drawing/2014/main" id="{897CC1E8-B65D-406E-92EC-54F68BF8C804}"/>
              </a:ext>
            </a:extLst>
          </p:cNvPr>
          <p:cNvSpPr txBox="1"/>
          <p:nvPr/>
        </p:nvSpPr>
        <p:spPr>
          <a:xfrm>
            <a:off x="619125" y="2638425"/>
            <a:ext cx="6936581" cy="2152650"/>
          </a:xfrm>
          <a:prstGeom prst="rect">
            <a:avLst/>
          </a:prstGeom>
          <a:noFill/>
        </p:spPr>
        <p:txBody>
          <a:bodyPr wrap="square" rtlCol="0">
            <a:normAutofit/>
          </a:bodyPr>
          <a:lstStyle/>
          <a:p>
            <a:pPr marL="0" marR="0" algn="l">
              <a:spcBef>
                <a:spcPts val="1350"/>
              </a:spcBef>
              <a:buNone/>
            </a:pPr>
            <a:r>
              <a:rPr sz="1800" b="1">
                <a:solidFill>
                  <a:srgbClr val="FFFFFF"/>
                </a:solidFill>
                <a:effectLst/>
                <a:latin typeface="Avenir Next LT Pro Bold" panose="020B0804020202020204" pitchFamily="34" charset="0"/>
              </a:rPr>
              <a:t>Shift from reactive intake to proactive prioritization. </a:t>
            </a:r>
            <a:endParaRPr>
              <a:effectLst/>
            </a:endParaRPr>
          </a:p>
          <a:p>
            <a:pPr marL="0" marR="0" algn="l">
              <a:spcBef>
                <a:spcPts val="900"/>
              </a:spcBef>
              <a:buNone/>
            </a:pPr>
            <a:r>
              <a:rPr sz="1800" b="1">
                <a:solidFill>
                  <a:srgbClr val="FFFFFF"/>
                </a:solidFill>
                <a:effectLst/>
                <a:latin typeface="Avenir Next LT Pro Bold" panose="020B0804020202020204" pitchFamily="34" charset="0"/>
              </a:rPr>
              <a:t>Accelerate curriculum and content creation. </a:t>
            </a:r>
            <a:endParaRPr>
              <a:effectLst/>
            </a:endParaRPr>
          </a:p>
          <a:p>
            <a:pPr marL="0" marR="0" algn="l">
              <a:spcBef>
                <a:spcPts val="900"/>
              </a:spcBef>
              <a:buNone/>
            </a:pPr>
            <a:r>
              <a:rPr sz="1800" b="1">
                <a:solidFill>
                  <a:srgbClr val="FFFFFF"/>
                </a:solidFill>
                <a:effectLst/>
                <a:latin typeface="Avenir Next LT Pro Bold" panose="020B0804020202020204" pitchFamily="34" charset="0"/>
              </a:rPr>
              <a:t>Connect learning to performance in near real time. </a:t>
            </a:r>
            <a:endParaRPr>
              <a:effectLst/>
            </a:endParaRPr>
          </a:p>
          <a:p>
            <a:pPr marL="0" marR="0" algn="l">
              <a:spcBef>
                <a:spcPts val="900"/>
              </a:spcBef>
              <a:buNone/>
            </a:pPr>
            <a:r>
              <a:rPr sz="1800" b="1">
                <a:solidFill>
                  <a:srgbClr val="FFFFFF"/>
                </a:solidFill>
                <a:effectLst/>
                <a:latin typeface="Avenir Next LT Pro Bold" panose="020B0804020202020204" pitchFamily="34" charset="0"/>
              </a:rPr>
              <a:t>Adapt training dynamically to behavior and sentiment. </a:t>
            </a:r>
            <a:endParaRPr>
              <a:effectLst/>
            </a:endParaRPr>
          </a:p>
          <a:p>
            <a:pPr marL="0" marR="0" algn="l">
              <a:spcBef>
                <a:spcPts val="1650"/>
              </a:spcBef>
              <a:buNone/>
            </a:pPr>
            <a:r>
              <a:rPr sz="1200" b="0">
                <a:solidFill>
                  <a:srgbClr val="FFFFFF"/>
                </a:solidFill>
                <a:effectLst/>
                <a:latin typeface="Avenir Next LT Pro Regular"/>
              </a:rPr>
              <a:t>Result: enablement becomes a measurable growth lever aligned to readiness, productivity, and revenue impact. </a:t>
            </a:r>
            <a:endParaRPr lang="en-US"/>
          </a:p>
        </p:txBody>
      </p:sp>
    </p:spTree>
    <p:extLst>
      <p:ext uri="{BB962C8B-B14F-4D97-AF65-F5344CB8AC3E}">
        <p14:creationId xmlns:p14="http://schemas.microsoft.com/office/powerpoint/2010/main" val="3891770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59932C-7CE5-491F-8E00-49AD6D898FE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Concept of byod: productivity helped by laptop, tablet and smartphone on an hardwood desk. Screen graphics are made up.">
            <a:extLst>
              <a:ext uri="{FF2B5EF4-FFF2-40B4-BE49-F238E27FC236}">
                <a16:creationId xmlns:a16="http://schemas.microsoft.com/office/drawing/2014/main" id="{2B1A56A7-3906-46A8-8934-FD497D02E6D0}"/>
              </a:ext>
            </a:extLst>
          </p:cNvPr>
          <p:cNvPicPr>
            <a:picLocks noGrp="1" noChangeAspect="1"/>
          </p:cNvPicPr>
          <p:nvPr>
            <p:ph sz="half" idx="2"/>
          </p:nvPr>
        </p:nvPicPr>
        <p:blipFill>
          <a:blip r:embed="rId4"/>
          <a:stretch>
            <a:fillRect/>
          </a:stretch>
        </p:blipFill>
        <p:spPr>
          <a:xfrm>
            <a:off x="7270983" y="1063550"/>
            <a:ext cx="4810957" cy="4626756"/>
          </a:xfrm>
          <a:prstGeom prst="rect">
            <a:avLst/>
          </a:prstGeom>
        </p:spPr>
      </p:pic>
      <p:sp>
        <p:nvSpPr>
          <p:cNvPr id="7" name="TextBox 6">
            <a:extLst>
              <a:ext uri="{FF2B5EF4-FFF2-40B4-BE49-F238E27FC236}">
                <a16:creationId xmlns:a16="http://schemas.microsoft.com/office/drawing/2014/main" id="{D966EAE6-F203-42D9-8B54-64A337046D4B}"/>
              </a:ext>
            </a:extLst>
          </p:cNvPr>
          <p:cNvSpPr txBox="1"/>
          <p:nvPr/>
        </p:nvSpPr>
        <p:spPr>
          <a:xfrm>
            <a:off x="619125" y="885825"/>
            <a:ext cx="6936581" cy="1200150"/>
          </a:xfrm>
          <a:prstGeom prst="rect">
            <a:avLst/>
          </a:prstGeom>
          <a:noFill/>
        </p:spPr>
        <p:txBody>
          <a:bodyPr wrap="square" rtlCol="0">
            <a:normAutofit/>
          </a:bodyPr>
          <a:lstStyle/>
          <a:p>
            <a:pPr marL="0" marR="0" algn="l">
              <a:buNone/>
            </a:pPr>
            <a:r>
              <a:rPr sz="4500" b="1">
                <a:solidFill>
                  <a:srgbClr val="6D7BF7"/>
                </a:solidFill>
                <a:effectLst/>
                <a:latin typeface="Avenir Next LT Pro Bold" panose="020B0804020202020204" pitchFamily="34" charset="0"/>
              </a:rPr>
              <a:t>AUTOMATE INTAKE PRIORITIZATION </a:t>
            </a:r>
            <a:endParaRPr lang="en-US"/>
          </a:p>
        </p:txBody>
      </p:sp>
      <p:sp>
        <p:nvSpPr>
          <p:cNvPr id="8" name="TextBox 7">
            <a:extLst>
              <a:ext uri="{FF2B5EF4-FFF2-40B4-BE49-F238E27FC236}">
                <a16:creationId xmlns:a16="http://schemas.microsoft.com/office/drawing/2014/main" id="{9EB51D5B-81F5-41B3-89E0-C86A078094DC}"/>
              </a:ext>
            </a:extLst>
          </p:cNvPr>
          <p:cNvSpPr txBox="1"/>
          <p:nvPr/>
        </p:nvSpPr>
        <p:spPr>
          <a:xfrm>
            <a:off x="619125" y="2295525"/>
            <a:ext cx="6936581" cy="582810"/>
          </a:xfrm>
          <a:prstGeom prst="rect">
            <a:avLst/>
          </a:prstGeom>
          <a:noFill/>
        </p:spPr>
        <p:txBody>
          <a:bodyPr wrap="square" lIns="91440" tIns="45720" rIns="91440" bIns="45720" rtlCol="0" anchor="t">
            <a:normAutofit lnSpcReduction="10000"/>
          </a:bodyPr>
          <a:lstStyle/>
          <a:p>
            <a:pPr marL="0" marR="0" algn="l">
              <a:buNone/>
            </a:pPr>
            <a:r>
              <a:rPr sz="1800" b="1">
                <a:solidFill>
                  <a:srgbClr val="FFFFFF"/>
                </a:solidFill>
                <a:effectLst/>
                <a:latin typeface="Avenir Next LT Pro Bold" panose="020B0804020202020204" pitchFamily="34" charset="0"/>
              </a:rPr>
              <a:t>Unify multi-channel requests </a:t>
            </a:r>
            <a:endParaRPr>
              <a:effectLst/>
            </a:endParaRPr>
          </a:p>
          <a:p>
            <a:pPr>
              <a:spcBef>
                <a:spcPts val="600"/>
              </a:spcBef>
            </a:pPr>
            <a:r>
              <a:rPr sz="1200" b="0">
                <a:solidFill>
                  <a:srgbClr val="FFFFFF"/>
                </a:solidFill>
                <a:effectLst/>
                <a:latin typeface="Avenir Next LT Pro Regular"/>
              </a:rPr>
              <a:t>Ingest email, </a:t>
            </a:r>
            <a:r>
              <a:rPr lang="en-US" sz="1200">
                <a:solidFill>
                  <a:srgbClr val="FFFFFF"/>
                </a:solidFill>
                <a:latin typeface="Avenir Next LT Pro Regular"/>
              </a:rPr>
              <a:t>Teams chat</a:t>
            </a:r>
            <a:r>
              <a:rPr sz="1200" b="0">
                <a:solidFill>
                  <a:srgbClr val="FFFFFF"/>
                </a:solidFill>
                <a:effectLst/>
                <a:latin typeface="Avenir Next LT Pro Regular"/>
              </a:rPr>
              <a:t>, forms, and meetings into standardized briefs with key fields extracted. </a:t>
            </a:r>
            <a:endParaRPr lang="en-US"/>
          </a:p>
        </p:txBody>
      </p:sp>
      <p:sp>
        <p:nvSpPr>
          <p:cNvPr id="9" name="TextBox 8">
            <a:extLst>
              <a:ext uri="{FF2B5EF4-FFF2-40B4-BE49-F238E27FC236}">
                <a16:creationId xmlns:a16="http://schemas.microsoft.com/office/drawing/2014/main" id="{B9483117-D1E5-40BE-8D42-2007BBB90649}"/>
              </a:ext>
            </a:extLst>
          </p:cNvPr>
          <p:cNvSpPr txBox="1"/>
          <p:nvPr/>
        </p:nvSpPr>
        <p:spPr>
          <a:xfrm>
            <a:off x="619125" y="3087885"/>
            <a:ext cx="6936581" cy="582810"/>
          </a:xfrm>
          <a:prstGeom prst="rect">
            <a:avLst/>
          </a:prstGeom>
          <a:noFill/>
        </p:spPr>
        <p:txBody>
          <a:bodyPr wrap="square" rtlCol="0">
            <a:normAutofit/>
          </a:bodyPr>
          <a:lstStyle/>
          <a:p>
            <a:pPr marL="0" marR="0" algn="l">
              <a:spcBef>
                <a:spcPts val="1650"/>
              </a:spcBef>
              <a:buNone/>
            </a:pPr>
            <a:r>
              <a:rPr sz="1800" b="1">
                <a:solidFill>
                  <a:srgbClr val="FFFFFF"/>
                </a:solidFill>
                <a:effectLst/>
                <a:latin typeface="Avenir Next LT Pro Bold" panose="020B0804020202020204" pitchFamily="34" charset="0"/>
              </a:rPr>
              <a:t>Classify, de-duplicate, connect </a:t>
            </a:r>
            <a:endParaRPr>
              <a:effectLst/>
            </a:endParaRPr>
          </a:p>
          <a:p>
            <a:pPr marL="0" marR="0" algn="l">
              <a:spcBef>
                <a:spcPts val="600"/>
              </a:spcBef>
              <a:buNone/>
            </a:pPr>
            <a:r>
              <a:rPr sz="1200" b="0">
                <a:solidFill>
                  <a:srgbClr val="FFFFFF"/>
                </a:solidFill>
                <a:effectLst/>
                <a:latin typeface="Avenir Next LT Pro Regular"/>
              </a:rPr>
              <a:t>Apply taxonomies, flag duplicates, and surface related initiatives already in progress. </a:t>
            </a:r>
            <a:endParaRPr lang="en-US"/>
          </a:p>
        </p:txBody>
      </p:sp>
      <p:sp>
        <p:nvSpPr>
          <p:cNvPr id="10" name="TextBox 9">
            <a:extLst>
              <a:ext uri="{FF2B5EF4-FFF2-40B4-BE49-F238E27FC236}">
                <a16:creationId xmlns:a16="http://schemas.microsoft.com/office/drawing/2014/main" id="{8F5C9869-B292-476A-BE1F-3017DAC210CD}"/>
              </a:ext>
            </a:extLst>
          </p:cNvPr>
          <p:cNvSpPr txBox="1"/>
          <p:nvPr/>
        </p:nvSpPr>
        <p:spPr>
          <a:xfrm>
            <a:off x="619125" y="3880246"/>
            <a:ext cx="6936581" cy="803671"/>
          </a:xfrm>
          <a:prstGeom prst="rect">
            <a:avLst/>
          </a:prstGeom>
          <a:noFill/>
        </p:spPr>
        <p:txBody>
          <a:bodyPr wrap="square" rtlCol="0">
            <a:normAutofit/>
          </a:bodyPr>
          <a:lstStyle/>
          <a:p>
            <a:pPr marL="0" marR="0" algn="l">
              <a:spcBef>
                <a:spcPts val="1650"/>
              </a:spcBef>
              <a:buNone/>
            </a:pPr>
            <a:r>
              <a:rPr sz="1800" b="1">
                <a:solidFill>
                  <a:srgbClr val="FFFFFF"/>
                </a:solidFill>
                <a:effectLst/>
                <a:latin typeface="Avenir Next LT Pro Bold" panose="020B0804020202020204" pitchFamily="34" charset="0"/>
              </a:rPr>
              <a:t>Prioritize with business signals </a:t>
            </a:r>
            <a:endParaRPr>
              <a:effectLst/>
            </a:endParaRPr>
          </a:p>
          <a:p>
            <a:pPr marL="0" marR="0" algn="l">
              <a:spcBef>
                <a:spcPts val="600"/>
              </a:spcBef>
              <a:buNone/>
            </a:pPr>
            <a:r>
              <a:rPr sz="1200" b="0">
                <a:solidFill>
                  <a:srgbClr val="FFFFFF"/>
                </a:solidFill>
                <a:effectLst/>
                <a:latin typeface="Avenir Next LT Pro Regular"/>
              </a:rPr>
              <a:t>Recommend priority by revenue impact, launch criticality, readiness gaps, and deal-stage relevance—then forecast demand. </a:t>
            </a:r>
            <a:endParaRPr lang="en-US"/>
          </a:p>
        </p:txBody>
      </p:sp>
    </p:spTree>
    <p:extLst>
      <p:ext uri="{BB962C8B-B14F-4D97-AF65-F5344CB8AC3E}">
        <p14:creationId xmlns:p14="http://schemas.microsoft.com/office/powerpoint/2010/main" val="1109047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05A34F-7C4D-4F9C-B063-9080576BAA00}"/>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ux developer and ui designer presenting  and testing mobile app interface design on whiteboard in meeting at modern office.Creative digital development mobile app agency">
            <a:extLst>
              <a:ext uri="{FF2B5EF4-FFF2-40B4-BE49-F238E27FC236}">
                <a16:creationId xmlns:a16="http://schemas.microsoft.com/office/drawing/2014/main" id="{AA555B83-2407-461E-9379-2FA41ED1257E}"/>
              </a:ext>
            </a:extLst>
          </p:cNvPr>
          <p:cNvPicPr>
            <a:picLocks noGrp="1" noChangeAspect="1"/>
          </p:cNvPicPr>
          <p:nvPr>
            <p:ph sz="half" idx="2"/>
          </p:nvPr>
        </p:nvPicPr>
        <p:blipFill>
          <a:blip r:embed="rId4"/>
          <a:stretch>
            <a:fillRect/>
          </a:stretch>
        </p:blipFill>
        <p:spPr>
          <a:xfrm>
            <a:off x="7636013" y="619125"/>
            <a:ext cx="4123789" cy="3695016"/>
          </a:xfrm>
          <a:prstGeom prst="rect">
            <a:avLst/>
          </a:prstGeom>
        </p:spPr>
      </p:pic>
      <p:sp>
        <p:nvSpPr>
          <p:cNvPr id="7" name="TextBox 6">
            <a:extLst>
              <a:ext uri="{FF2B5EF4-FFF2-40B4-BE49-F238E27FC236}">
                <a16:creationId xmlns:a16="http://schemas.microsoft.com/office/drawing/2014/main" id="{CEB5C91F-B8D4-47B0-8639-E128EAB2ECA2}"/>
              </a:ext>
            </a:extLst>
          </p:cNvPr>
          <p:cNvSpPr txBox="1"/>
          <p:nvPr/>
        </p:nvSpPr>
        <p:spPr>
          <a:xfrm>
            <a:off x="609600" y="914400"/>
            <a:ext cx="6943725" cy="1200150"/>
          </a:xfrm>
          <a:prstGeom prst="rect">
            <a:avLst/>
          </a:prstGeom>
          <a:noFill/>
        </p:spPr>
        <p:txBody>
          <a:bodyPr wrap="square" rtlCol="0">
            <a:normAutofit/>
          </a:bodyPr>
          <a:lstStyle/>
          <a:p>
            <a:pPr marL="0" algn="l">
              <a:buNone/>
            </a:pPr>
            <a:r>
              <a:rPr sz="4500" b="1">
                <a:solidFill>
                  <a:srgbClr val="6D7BF7"/>
                </a:solidFill>
                <a:effectLst/>
                <a:latin typeface="Avenir Next LT Pro" panose="020B0504020202020204" pitchFamily="34" charset="0"/>
              </a:rPr>
              <a:t>AI-ASSISTED CURRICULUM DESIGN </a:t>
            </a:r>
            <a:endParaRPr lang="en-US"/>
          </a:p>
        </p:txBody>
      </p:sp>
      <p:sp>
        <p:nvSpPr>
          <p:cNvPr id="8" name="TextBox 7">
            <a:extLst>
              <a:ext uri="{FF2B5EF4-FFF2-40B4-BE49-F238E27FC236}">
                <a16:creationId xmlns:a16="http://schemas.microsoft.com/office/drawing/2014/main" id="{CB2779E3-E897-4219-8D96-C0D613FC4A10}"/>
              </a:ext>
            </a:extLst>
          </p:cNvPr>
          <p:cNvSpPr txBox="1"/>
          <p:nvPr/>
        </p:nvSpPr>
        <p:spPr>
          <a:xfrm>
            <a:off x="619125" y="2497432"/>
            <a:ext cx="6936581" cy="1981200"/>
          </a:xfrm>
          <a:prstGeom prst="rect">
            <a:avLst/>
          </a:prstGeom>
          <a:noFill/>
        </p:spPr>
        <p:txBody>
          <a:bodyPr wrap="square" lIns="91440" tIns="45720" rIns="91440" bIns="45720" rtlCol="0" anchor="t">
            <a:normAutofit/>
          </a:bodyPr>
          <a:lstStyle/>
          <a:p>
            <a:pPr marL="0" marR="0" algn="l">
              <a:buNone/>
            </a:pPr>
            <a:r>
              <a:rPr sz="1800" b="1">
                <a:solidFill>
                  <a:srgbClr val="FFFFFF"/>
                </a:solidFill>
                <a:effectLst/>
                <a:latin typeface="Avenir Next LT Pro" panose="020B0504020202020204" pitchFamily="34" charset="0"/>
              </a:rPr>
              <a:t>ROLE-BASED LEARNING PATHS, FASTER </a:t>
            </a:r>
            <a:endParaRPr>
              <a:effectLst/>
            </a:endParaRPr>
          </a:p>
          <a:p>
            <a:pPr marL="0" marR="0" algn="l">
              <a:spcBef>
                <a:spcPts val="1050"/>
              </a:spcBef>
              <a:buNone/>
            </a:pPr>
            <a:r>
              <a:rPr sz="1200" b="0">
                <a:solidFill>
                  <a:srgbClr val="FFFFFF"/>
                </a:solidFill>
                <a:effectLst/>
                <a:latin typeface="Avenir Next LT Pro" panose="020B0504020202020204" pitchFamily="34" charset="0"/>
              </a:rPr>
              <a:t>AI turns briefs, docs, and existing assets into modular curricula mapped to skills, behaviors, and readiness milestones. </a:t>
            </a:r>
            <a:endParaRPr>
              <a:effectLst/>
            </a:endParaRPr>
          </a:p>
          <a:p>
            <a:pPr marL="0" marR="0" algn="l">
              <a:spcBef>
                <a:spcPts val="750"/>
              </a:spcBef>
              <a:buNone/>
            </a:pPr>
            <a:r>
              <a:rPr sz="1200" b="0">
                <a:solidFill>
                  <a:srgbClr val="FFFFFF"/>
                </a:solidFill>
                <a:effectLst/>
                <a:latin typeface="Avenir Next LT Pro" panose="020B0504020202020204" pitchFamily="34" charset="0"/>
              </a:rPr>
              <a:t>It flags gaps and duplication (e.g., repeated objection content without scenario practice, missing manager coaching for launches). </a:t>
            </a:r>
            <a:endParaRPr>
              <a:effectLst/>
            </a:endParaRPr>
          </a:p>
          <a:p>
            <a:pPr marL="0" marR="0" algn="l">
              <a:spcBef>
                <a:spcPts val="750"/>
              </a:spcBef>
              <a:buNone/>
            </a:pPr>
            <a:r>
              <a:rPr sz="1200" b="0">
                <a:solidFill>
                  <a:srgbClr val="FFFFFF"/>
                </a:solidFill>
                <a:effectLst/>
                <a:latin typeface="Avenir Next LT Pro" panose="020B0504020202020204" pitchFamily="34" charset="0"/>
              </a:rPr>
              <a:t>Leaders set standards; AI reduces manual work—improving consistency, localization, and time-to-launch tied to GTM metrics. </a:t>
            </a:r>
            <a:endParaRPr lang="en-US"/>
          </a:p>
        </p:txBody>
      </p:sp>
    </p:spTree>
    <p:extLst>
      <p:ext uri="{BB962C8B-B14F-4D97-AF65-F5344CB8AC3E}">
        <p14:creationId xmlns:p14="http://schemas.microsoft.com/office/powerpoint/2010/main" val="484422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1E92209-B6E1-4F72-8F54-78D62E65F71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Business network concept. Human Resources. Group of businesspeople. Success of business.">
            <a:extLst>
              <a:ext uri="{FF2B5EF4-FFF2-40B4-BE49-F238E27FC236}">
                <a16:creationId xmlns:a16="http://schemas.microsoft.com/office/drawing/2014/main" id="{E99BD0E3-21DD-44C8-9957-1A360B3FE489}"/>
              </a:ext>
            </a:extLst>
          </p:cNvPr>
          <p:cNvPicPr>
            <a:picLocks noGrp="1" noChangeAspect="1"/>
          </p:cNvPicPr>
          <p:nvPr>
            <p:ph sz="half" idx="2"/>
          </p:nvPr>
        </p:nvPicPr>
        <p:blipFill>
          <a:blip r:embed="rId4"/>
          <a:stretch>
            <a:fillRect/>
          </a:stretch>
        </p:blipFill>
        <p:spPr>
          <a:xfrm>
            <a:off x="0" y="657053"/>
            <a:ext cx="6858000" cy="4676947"/>
          </a:xfrm>
          <a:prstGeom prst="rect">
            <a:avLst/>
          </a:prstGeom>
        </p:spPr>
      </p:pic>
      <p:sp>
        <p:nvSpPr>
          <p:cNvPr id="7" name="TextBox 6">
            <a:extLst>
              <a:ext uri="{FF2B5EF4-FFF2-40B4-BE49-F238E27FC236}">
                <a16:creationId xmlns:a16="http://schemas.microsoft.com/office/drawing/2014/main" id="{3828D4EB-8740-4769-A3EC-AF548EDA99CB}"/>
              </a:ext>
            </a:extLst>
          </p:cNvPr>
          <p:cNvSpPr txBox="1"/>
          <p:nvPr/>
        </p:nvSpPr>
        <p:spPr>
          <a:xfrm>
            <a:off x="7200900" y="581025"/>
            <a:ext cx="4391025" cy="1200150"/>
          </a:xfrm>
          <a:prstGeom prst="rect">
            <a:avLst/>
          </a:prstGeom>
          <a:noFill/>
        </p:spPr>
        <p:txBody>
          <a:bodyPr wrap="square" rtlCol="0">
            <a:normAutofit/>
          </a:bodyPr>
          <a:lstStyle/>
          <a:p>
            <a:pPr marL="0" algn="l">
              <a:buNone/>
            </a:pPr>
            <a:r>
              <a:rPr sz="4500" b="1">
                <a:solidFill>
                  <a:srgbClr val="6D7BF7"/>
                </a:solidFill>
                <a:effectLst/>
                <a:latin typeface="Avenir Next LT Pro Bold" panose="020B0804020202020204" pitchFamily="34" charset="0"/>
              </a:rPr>
              <a:t>INTERACTIVE ENABLEMENT</a:t>
            </a:r>
            <a:r>
              <a:rPr>
                <a:effectLst/>
              </a:rPr>
              <a:t> </a:t>
            </a:r>
            <a:endParaRPr lang="en-US"/>
          </a:p>
        </p:txBody>
      </p:sp>
      <p:sp>
        <p:nvSpPr>
          <p:cNvPr id="8" name="TextBox 7">
            <a:extLst>
              <a:ext uri="{FF2B5EF4-FFF2-40B4-BE49-F238E27FC236}">
                <a16:creationId xmlns:a16="http://schemas.microsoft.com/office/drawing/2014/main" id="{A9CC22BD-4A0E-48D3-8FAB-C777D35E188A}"/>
              </a:ext>
            </a:extLst>
          </p:cNvPr>
          <p:cNvSpPr txBox="1"/>
          <p:nvPr/>
        </p:nvSpPr>
        <p:spPr>
          <a:xfrm>
            <a:off x="7200900" y="2047875"/>
            <a:ext cx="4391025" cy="274290"/>
          </a:xfrm>
          <a:prstGeom prst="rect">
            <a:avLst/>
          </a:prstGeom>
          <a:noFill/>
        </p:spPr>
        <p:txBody>
          <a:bodyPr wrap="square" rtlCol="0">
            <a:normAutofit/>
          </a:bodyPr>
          <a:lstStyle/>
          <a:p>
            <a:pPr marL="0" algn="l">
              <a:buNone/>
            </a:pPr>
            <a:r>
              <a:rPr sz="1800" b="1">
                <a:solidFill>
                  <a:srgbClr val="FFFFFF"/>
                </a:solidFill>
                <a:effectLst/>
                <a:latin typeface="Avenir Next LT Pro Bold" panose="020B0804020202020204" pitchFamily="34" charset="0"/>
              </a:rPr>
              <a:t>Why static training fails</a:t>
            </a:r>
            <a:r>
              <a:rPr>
                <a:effectLst/>
              </a:rPr>
              <a:t> </a:t>
            </a:r>
            <a:endParaRPr lang="en-US"/>
          </a:p>
        </p:txBody>
      </p:sp>
      <p:sp>
        <p:nvSpPr>
          <p:cNvPr id="9" name="TextBox 8">
            <a:extLst>
              <a:ext uri="{FF2B5EF4-FFF2-40B4-BE49-F238E27FC236}">
                <a16:creationId xmlns:a16="http://schemas.microsoft.com/office/drawing/2014/main" id="{18FF0ED6-C114-473C-BD58-0110A8811FD9}"/>
              </a:ext>
            </a:extLst>
          </p:cNvPr>
          <p:cNvSpPr txBox="1"/>
          <p:nvPr/>
        </p:nvSpPr>
        <p:spPr>
          <a:xfrm>
            <a:off x="7200900" y="2417415"/>
            <a:ext cx="4391025" cy="411360"/>
          </a:xfrm>
          <a:prstGeom prst="rect">
            <a:avLst/>
          </a:prstGeom>
          <a:noFill/>
        </p:spPr>
        <p:txBody>
          <a:bodyPr wrap="square" rtlCol="0">
            <a:normAutofit/>
          </a:bodyPr>
          <a:lstStyle/>
          <a:p>
            <a:pPr marL="0" marR="0" algn="l">
              <a:spcBef>
                <a:spcPts val="750"/>
              </a:spcBef>
              <a:buNone/>
            </a:pPr>
            <a:r>
              <a:rPr sz="1200" b="0">
                <a:solidFill>
                  <a:srgbClr val="FFFFFF"/>
                </a:solidFill>
                <a:effectLst/>
                <a:latin typeface="Avenir Next LT Pro Regular"/>
              </a:rPr>
              <a:t>One-size content rarely translates to behavior change across roles, skill levels, and real deal contexts.</a:t>
            </a:r>
            <a:r>
              <a:rPr>
                <a:effectLst/>
              </a:rPr>
              <a:t> </a:t>
            </a:r>
            <a:endParaRPr lang="en-US"/>
          </a:p>
        </p:txBody>
      </p:sp>
      <p:sp>
        <p:nvSpPr>
          <p:cNvPr id="10" name="TextBox 9">
            <a:extLst>
              <a:ext uri="{FF2B5EF4-FFF2-40B4-BE49-F238E27FC236}">
                <a16:creationId xmlns:a16="http://schemas.microsoft.com/office/drawing/2014/main" id="{7B91F147-1911-44DC-B896-3348B6A0A10F}"/>
              </a:ext>
            </a:extLst>
          </p:cNvPr>
          <p:cNvSpPr txBox="1"/>
          <p:nvPr/>
        </p:nvSpPr>
        <p:spPr>
          <a:xfrm>
            <a:off x="7200900" y="3000226"/>
            <a:ext cx="4391025" cy="274290"/>
          </a:xfrm>
          <a:prstGeom prst="rect">
            <a:avLst/>
          </a:prstGeom>
          <a:noFill/>
        </p:spPr>
        <p:txBody>
          <a:bodyPr wrap="square" rtlCol="0">
            <a:normAutofit/>
          </a:bodyPr>
          <a:lstStyle/>
          <a:p>
            <a:pPr marL="0" marR="0" algn="l">
              <a:spcBef>
                <a:spcPts val="1350"/>
              </a:spcBef>
              <a:buNone/>
            </a:pPr>
            <a:r>
              <a:rPr sz="1800" b="1">
                <a:solidFill>
                  <a:srgbClr val="FFFFFF"/>
                </a:solidFill>
                <a:effectLst/>
                <a:latin typeface="Avenir Next LT Pro Bold" panose="020B0804020202020204" pitchFamily="34" charset="0"/>
              </a:rPr>
              <a:t>What AI makes possible</a:t>
            </a:r>
            <a:r>
              <a:rPr>
                <a:effectLst/>
              </a:rPr>
              <a:t> </a:t>
            </a:r>
            <a:endParaRPr lang="en-US"/>
          </a:p>
        </p:txBody>
      </p:sp>
      <p:sp>
        <p:nvSpPr>
          <p:cNvPr id="11" name="TextBox 10">
            <a:extLst>
              <a:ext uri="{FF2B5EF4-FFF2-40B4-BE49-F238E27FC236}">
                <a16:creationId xmlns:a16="http://schemas.microsoft.com/office/drawing/2014/main" id="{84B2C31B-F48F-4AA1-BDFB-D6B7674596E6}"/>
              </a:ext>
            </a:extLst>
          </p:cNvPr>
          <p:cNvSpPr txBox="1"/>
          <p:nvPr/>
        </p:nvSpPr>
        <p:spPr>
          <a:xfrm>
            <a:off x="7200900" y="3369766"/>
            <a:ext cx="4391025" cy="617041"/>
          </a:xfrm>
          <a:prstGeom prst="rect">
            <a:avLst/>
          </a:prstGeom>
          <a:noFill/>
        </p:spPr>
        <p:txBody>
          <a:bodyPr wrap="square" rtlCol="0">
            <a:normAutofit/>
          </a:bodyPr>
          <a:lstStyle/>
          <a:p>
            <a:pPr marL="0" marR="0" algn="l">
              <a:spcBef>
                <a:spcPts val="750"/>
              </a:spcBef>
              <a:buNone/>
            </a:pPr>
            <a:r>
              <a:rPr sz="1200" b="0">
                <a:solidFill>
                  <a:srgbClr val="FFFFFF"/>
                </a:solidFill>
                <a:effectLst/>
                <a:latin typeface="Avenir Next LT Pro Regular"/>
              </a:rPr>
              <a:t>Turn content into microlearning, scenarios, simulations, and role-plays with instant feedback; adapt depth and difficulty to learner progress.</a:t>
            </a:r>
            <a:r>
              <a:rPr>
                <a:effectLst/>
              </a:rPr>
              <a:t> </a:t>
            </a:r>
            <a:endParaRPr lang="en-US"/>
          </a:p>
        </p:txBody>
      </p:sp>
      <p:sp>
        <p:nvSpPr>
          <p:cNvPr id="12" name="TextBox 11">
            <a:extLst>
              <a:ext uri="{FF2B5EF4-FFF2-40B4-BE49-F238E27FC236}">
                <a16:creationId xmlns:a16="http://schemas.microsoft.com/office/drawing/2014/main" id="{7BE9C660-728F-4CED-9CE0-650052626D34}"/>
              </a:ext>
            </a:extLst>
          </p:cNvPr>
          <p:cNvSpPr txBox="1"/>
          <p:nvPr/>
        </p:nvSpPr>
        <p:spPr>
          <a:xfrm>
            <a:off x="7200900" y="4158257"/>
            <a:ext cx="4391025" cy="274290"/>
          </a:xfrm>
          <a:prstGeom prst="rect">
            <a:avLst/>
          </a:prstGeom>
          <a:noFill/>
        </p:spPr>
        <p:txBody>
          <a:bodyPr wrap="square" rtlCol="0">
            <a:normAutofit/>
          </a:bodyPr>
          <a:lstStyle/>
          <a:p>
            <a:pPr marL="0" marR="0" algn="l">
              <a:spcBef>
                <a:spcPts val="1350"/>
              </a:spcBef>
              <a:buNone/>
            </a:pPr>
            <a:r>
              <a:rPr sz="1800" b="1">
                <a:solidFill>
                  <a:srgbClr val="FFFFFF"/>
                </a:solidFill>
                <a:effectLst/>
                <a:latin typeface="Avenir Next LT Pro Bold" panose="020B0804020202020204" pitchFamily="34" charset="0"/>
              </a:rPr>
              <a:t>Enablement outcomes</a:t>
            </a:r>
            <a:r>
              <a:rPr>
                <a:effectLst/>
              </a:rPr>
              <a:t> </a:t>
            </a:r>
            <a:endParaRPr lang="en-US"/>
          </a:p>
        </p:txBody>
      </p:sp>
      <p:sp>
        <p:nvSpPr>
          <p:cNvPr id="13" name="TextBox 12">
            <a:extLst>
              <a:ext uri="{FF2B5EF4-FFF2-40B4-BE49-F238E27FC236}">
                <a16:creationId xmlns:a16="http://schemas.microsoft.com/office/drawing/2014/main" id="{92459BF2-21F9-483C-A9C4-F904731344AF}"/>
              </a:ext>
            </a:extLst>
          </p:cNvPr>
          <p:cNvSpPr txBox="1"/>
          <p:nvPr/>
        </p:nvSpPr>
        <p:spPr>
          <a:xfrm>
            <a:off x="7200900" y="4527798"/>
            <a:ext cx="4391025" cy="617041"/>
          </a:xfrm>
          <a:prstGeom prst="rect">
            <a:avLst/>
          </a:prstGeom>
          <a:noFill/>
        </p:spPr>
        <p:txBody>
          <a:bodyPr wrap="square" rtlCol="0">
            <a:normAutofit/>
          </a:bodyPr>
          <a:lstStyle/>
          <a:p>
            <a:pPr marL="0" marR="0" algn="l">
              <a:spcBef>
                <a:spcPts val="750"/>
              </a:spcBef>
              <a:buNone/>
            </a:pPr>
            <a:r>
              <a:rPr sz="1200" b="0">
                <a:solidFill>
                  <a:srgbClr val="FFFFFF"/>
                </a:solidFill>
                <a:effectLst/>
                <a:latin typeface="Avenir Next LT Pro Regular"/>
              </a:rPr>
              <a:t>Shift from content delivery to capability building—plus richer signals on struggles, responses, and skill improvement over time.</a:t>
            </a:r>
            <a:r>
              <a:rPr>
                <a:effectLst/>
              </a:rPr>
              <a:t> </a:t>
            </a:r>
            <a:endParaRPr lang="en-US"/>
          </a:p>
        </p:txBody>
      </p:sp>
    </p:spTree>
    <p:extLst>
      <p:ext uri="{BB962C8B-B14F-4D97-AF65-F5344CB8AC3E}">
        <p14:creationId xmlns:p14="http://schemas.microsoft.com/office/powerpoint/2010/main" val="290157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F9608E3-4DD4-4A50-8F19-94C702CF5BF6}"/>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Businesspeople touching on screen to target customer. Target customer, buyer persona, customer behavior concept. Marketing plan and strategies. Personalization marketing, customer centric strategies.">
            <a:extLst>
              <a:ext uri="{FF2B5EF4-FFF2-40B4-BE49-F238E27FC236}">
                <a16:creationId xmlns:a16="http://schemas.microsoft.com/office/drawing/2014/main" id="{714B0010-80DB-4E30-9ADA-8C494CF1651B}"/>
              </a:ext>
            </a:extLst>
          </p:cNvPr>
          <p:cNvPicPr>
            <a:picLocks noGrp="1" noChangeAspect="1"/>
          </p:cNvPicPr>
          <p:nvPr>
            <p:ph sz="half" idx="2"/>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68DCF154-A645-4919-8B97-A24EB4B79080}"/>
              </a:ext>
            </a:extLst>
          </p:cNvPr>
          <p:cNvSpPr txBox="1"/>
          <p:nvPr/>
        </p:nvSpPr>
        <p:spPr>
          <a:xfrm>
            <a:off x="619125" y="581025"/>
            <a:ext cx="4391025" cy="1800225"/>
          </a:xfrm>
          <a:prstGeom prst="rect">
            <a:avLst/>
          </a:prstGeom>
          <a:noFill/>
        </p:spPr>
        <p:txBody>
          <a:bodyPr wrap="square" rtlCol="0">
            <a:normAutofit/>
          </a:bodyPr>
          <a:lstStyle/>
          <a:p>
            <a:pPr marL="0" algn="l">
              <a:buNone/>
            </a:pPr>
            <a:r>
              <a:rPr sz="4500" b="1">
                <a:solidFill>
                  <a:srgbClr val="6D7BF7"/>
                </a:solidFill>
                <a:effectLst/>
                <a:latin typeface="Avenir Next LT Pro Bold" panose="020B0804020202020204" pitchFamily="34" charset="0"/>
              </a:rPr>
              <a:t>AUTOMATED IMPACT REPORTING </a:t>
            </a:r>
            <a:endParaRPr lang="en-US"/>
          </a:p>
        </p:txBody>
      </p:sp>
      <p:sp>
        <p:nvSpPr>
          <p:cNvPr id="8" name="TextBox 7">
            <a:extLst>
              <a:ext uri="{FF2B5EF4-FFF2-40B4-BE49-F238E27FC236}">
                <a16:creationId xmlns:a16="http://schemas.microsoft.com/office/drawing/2014/main" id="{0A1B3058-6CA0-4C72-A46C-FA1CD10047FA}"/>
              </a:ext>
            </a:extLst>
          </p:cNvPr>
          <p:cNvSpPr txBox="1"/>
          <p:nvPr/>
        </p:nvSpPr>
        <p:spPr>
          <a:xfrm>
            <a:off x="619125" y="2724150"/>
            <a:ext cx="4391025" cy="274290"/>
          </a:xfrm>
          <a:prstGeom prst="rect">
            <a:avLst/>
          </a:prstGeom>
          <a:noFill/>
        </p:spPr>
        <p:txBody>
          <a:bodyPr wrap="square" rtlCol="0">
            <a:normAutofit/>
          </a:bodyPr>
          <a:lstStyle/>
          <a:p>
            <a:pPr marL="0" algn="l">
              <a:buNone/>
            </a:pPr>
            <a:r>
              <a:rPr sz="1800" b="1">
                <a:solidFill>
                  <a:srgbClr val="FFFFFF"/>
                </a:solidFill>
                <a:effectLst/>
                <a:latin typeface="Avenir Next LT Pro Bold" panose="020B0804020202020204" pitchFamily="34" charset="0"/>
              </a:rPr>
              <a:t>Always-on dashboards </a:t>
            </a:r>
            <a:endParaRPr lang="en-US"/>
          </a:p>
        </p:txBody>
      </p:sp>
      <p:sp>
        <p:nvSpPr>
          <p:cNvPr id="9" name="TextBox 8">
            <a:extLst>
              <a:ext uri="{FF2B5EF4-FFF2-40B4-BE49-F238E27FC236}">
                <a16:creationId xmlns:a16="http://schemas.microsoft.com/office/drawing/2014/main" id="{B58971D6-6E73-45CE-8482-88C25CDA519A}"/>
              </a:ext>
            </a:extLst>
          </p:cNvPr>
          <p:cNvSpPr txBox="1"/>
          <p:nvPr/>
        </p:nvSpPr>
        <p:spPr>
          <a:xfrm>
            <a:off x="619125" y="3093690"/>
            <a:ext cx="4391025" cy="411360"/>
          </a:xfrm>
          <a:prstGeom prst="rect">
            <a:avLst/>
          </a:prstGeom>
          <a:noFill/>
        </p:spPr>
        <p:txBody>
          <a:bodyPr wrap="square" rtlCol="0">
            <a:normAutofit/>
          </a:bodyPr>
          <a:lstStyle/>
          <a:p>
            <a:pPr marL="0" marR="0" algn="l">
              <a:spcBef>
                <a:spcPts val="750"/>
              </a:spcBef>
              <a:buNone/>
            </a:pPr>
            <a:r>
              <a:rPr sz="1200" b="0">
                <a:solidFill>
                  <a:srgbClr val="FFFFFF"/>
                </a:solidFill>
                <a:effectLst/>
                <a:latin typeface="Avenir Next LT Pro Regular"/>
              </a:rPr>
              <a:t>AI continuously aggregates LMS, assessments, CRM, and collaboration data—no manual reporting cycles. </a:t>
            </a:r>
            <a:endParaRPr lang="en-US"/>
          </a:p>
        </p:txBody>
      </p:sp>
      <p:sp>
        <p:nvSpPr>
          <p:cNvPr id="10" name="TextBox 9">
            <a:extLst>
              <a:ext uri="{FF2B5EF4-FFF2-40B4-BE49-F238E27FC236}">
                <a16:creationId xmlns:a16="http://schemas.microsoft.com/office/drawing/2014/main" id="{264ED203-718F-4421-A839-475E102B3BD4}"/>
              </a:ext>
            </a:extLst>
          </p:cNvPr>
          <p:cNvSpPr txBox="1"/>
          <p:nvPr/>
        </p:nvSpPr>
        <p:spPr>
          <a:xfrm>
            <a:off x="619125" y="3657451"/>
            <a:ext cx="4391025" cy="274290"/>
          </a:xfrm>
          <a:prstGeom prst="rect">
            <a:avLst/>
          </a:prstGeom>
          <a:noFill/>
        </p:spPr>
        <p:txBody>
          <a:bodyPr wrap="square" rtlCol="0">
            <a:normAutofit/>
          </a:bodyPr>
          <a:lstStyle/>
          <a:p>
            <a:pPr marL="0" marR="0" algn="l">
              <a:spcBef>
                <a:spcPts val="1200"/>
              </a:spcBef>
              <a:buNone/>
            </a:pPr>
            <a:r>
              <a:rPr sz="1800" b="1">
                <a:solidFill>
                  <a:srgbClr val="FFFFFF"/>
                </a:solidFill>
                <a:effectLst/>
                <a:latin typeface="Avenir Next LT Pro Bold" panose="020B0804020202020204" pitchFamily="34" charset="0"/>
              </a:rPr>
              <a:t>Tie activity to outcomes </a:t>
            </a:r>
            <a:endParaRPr lang="en-US"/>
          </a:p>
        </p:txBody>
      </p:sp>
      <p:sp>
        <p:nvSpPr>
          <p:cNvPr id="11" name="TextBox 10">
            <a:extLst>
              <a:ext uri="{FF2B5EF4-FFF2-40B4-BE49-F238E27FC236}">
                <a16:creationId xmlns:a16="http://schemas.microsoft.com/office/drawing/2014/main" id="{FB88197D-3522-443D-B8E4-BA99CA075149}"/>
              </a:ext>
            </a:extLst>
          </p:cNvPr>
          <p:cNvSpPr txBox="1"/>
          <p:nvPr/>
        </p:nvSpPr>
        <p:spPr>
          <a:xfrm>
            <a:off x="619125" y="4026991"/>
            <a:ext cx="4391025" cy="411360"/>
          </a:xfrm>
          <a:prstGeom prst="rect">
            <a:avLst/>
          </a:prstGeom>
          <a:noFill/>
        </p:spPr>
        <p:txBody>
          <a:bodyPr wrap="square" rtlCol="0">
            <a:normAutofit/>
          </a:bodyPr>
          <a:lstStyle/>
          <a:p>
            <a:pPr marL="0" marR="0" algn="l">
              <a:spcBef>
                <a:spcPts val="750"/>
              </a:spcBef>
              <a:buNone/>
            </a:pPr>
            <a:r>
              <a:rPr sz="1200" b="0">
                <a:solidFill>
                  <a:srgbClr val="FFFFFF"/>
                </a:solidFill>
                <a:effectLst/>
                <a:latin typeface="Avenir Next LT Pro Regular"/>
              </a:rPr>
              <a:t>Surface links to pipeline creation, win rate, deal velocity, and time-to-productivity. </a:t>
            </a:r>
            <a:endParaRPr lang="en-US"/>
          </a:p>
        </p:txBody>
      </p:sp>
      <p:sp>
        <p:nvSpPr>
          <p:cNvPr id="12" name="TextBox 11">
            <a:extLst>
              <a:ext uri="{FF2B5EF4-FFF2-40B4-BE49-F238E27FC236}">
                <a16:creationId xmlns:a16="http://schemas.microsoft.com/office/drawing/2014/main" id="{672F6B5B-98B3-49BF-AAD7-F50F70A7A7A9}"/>
              </a:ext>
            </a:extLst>
          </p:cNvPr>
          <p:cNvSpPr txBox="1"/>
          <p:nvPr/>
        </p:nvSpPr>
        <p:spPr>
          <a:xfrm>
            <a:off x="619125" y="4590752"/>
            <a:ext cx="4391025" cy="274290"/>
          </a:xfrm>
          <a:prstGeom prst="rect">
            <a:avLst/>
          </a:prstGeom>
          <a:noFill/>
        </p:spPr>
        <p:txBody>
          <a:bodyPr wrap="square" rtlCol="0">
            <a:normAutofit/>
          </a:bodyPr>
          <a:lstStyle/>
          <a:p>
            <a:pPr marL="0" marR="0" algn="l">
              <a:spcBef>
                <a:spcPts val="1200"/>
              </a:spcBef>
              <a:buNone/>
            </a:pPr>
            <a:r>
              <a:rPr sz="1800" b="1">
                <a:solidFill>
                  <a:srgbClr val="FFFFFF"/>
                </a:solidFill>
                <a:effectLst/>
                <a:latin typeface="Avenir Next LT Pro Bold" panose="020B0804020202020204" pitchFamily="34" charset="0"/>
              </a:rPr>
              <a:t>Executive-ready insights </a:t>
            </a:r>
            <a:endParaRPr lang="en-US"/>
          </a:p>
        </p:txBody>
      </p:sp>
      <p:sp>
        <p:nvSpPr>
          <p:cNvPr id="13" name="TextBox 12">
            <a:extLst>
              <a:ext uri="{FF2B5EF4-FFF2-40B4-BE49-F238E27FC236}">
                <a16:creationId xmlns:a16="http://schemas.microsoft.com/office/drawing/2014/main" id="{5E219C70-F585-40F7-8C69-8A8BEDFA6240}"/>
              </a:ext>
            </a:extLst>
          </p:cNvPr>
          <p:cNvSpPr txBox="1"/>
          <p:nvPr/>
        </p:nvSpPr>
        <p:spPr>
          <a:xfrm>
            <a:off x="619125" y="4960292"/>
            <a:ext cx="4391025" cy="411360"/>
          </a:xfrm>
          <a:prstGeom prst="rect">
            <a:avLst/>
          </a:prstGeom>
          <a:noFill/>
        </p:spPr>
        <p:txBody>
          <a:bodyPr wrap="square" rtlCol="0">
            <a:normAutofit/>
          </a:bodyPr>
          <a:lstStyle/>
          <a:p>
            <a:pPr marL="0" marR="0" algn="l">
              <a:spcBef>
                <a:spcPts val="750"/>
              </a:spcBef>
              <a:buNone/>
            </a:pPr>
            <a:r>
              <a:rPr sz="1200" b="0">
                <a:solidFill>
                  <a:srgbClr val="FFFFFF"/>
                </a:solidFill>
                <a:effectLst/>
                <a:latin typeface="Avenir Next LT Pro Regular"/>
              </a:rPr>
              <a:t>Auto-summaries answer what works, for whom, and where to invest—enabling near real-time adjustments. </a:t>
            </a:r>
            <a:endParaRPr lang="en-US"/>
          </a:p>
        </p:txBody>
      </p:sp>
    </p:spTree>
    <p:extLst>
      <p:ext uri="{BB962C8B-B14F-4D97-AF65-F5344CB8AC3E}">
        <p14:creationId xmlns:p14="http://schemas.microsoft.com/office/powerpoint/2010/main" val="2400633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FE8E5E-B824-4B9F-8E93-866D31DA3D79}"/>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Project Manager Does Motivational Presentation or Team of Electronics Development Engineers, he Uses Digital Whiteboard with Neural Network, AI and Machine Learning.">
            <a:extLst>
              <a:ext uri="{FF2B5EF4-FFF2-40B4-BE49-F238E27FC236}">
                <a16:creationId xmlns:a16="http://schemas.microsoft.com/office/drawing/2014/main" id="{3AAA6F9D-3F94-4319-9382-CACAB9771FFE}"/>
              </a:ext>
            </a:extLst>
          </p:cNvPr>
          <p:cNvPicPr>
            <a:picLocks noGrp="1" noChangeAspect="1"/>
          </p:cNvPicPr>
          <p:nvPr>
            <p:ph sz="half" idx="2"/>
          </p:nvPr>
        </p:nvPicPr>
        <p:blipFill>
          <a:blip r:embed="rId4"/>
          <a:stretch>
            <a:fillRect/>
          </a:stretch>
        </p:blipFill>
        <p:spPr>
          <a:xfrm>
            <a:off x="7289235" y="922100"/>
            <a:ext cx="4902214" cy="4289103"/>
          </a:xfrm>
          <a:prstGeom prst="rect">
            <a:avLst/>
          </a:prstGeom>
        </p:spPr>
      </p:pic>
      <p:sp>
        <p:nvSpPr>
          <p:cNvPr id="7" name="TextBox 6">
            <a:extLst>
              <a:ext uri="{FF2B5EF4-FFF2-40B4-BE49-F238E27FC236}">
                <a16:creationId xmlns:a16="http://schemas.microsoft.com/office/drawing/2014/main" id="{21F6B428-7397-4B4E-9898-A0C56C2DC643}"/>
              </a:ext>
            </a:extLst>
          </p:cNvPr>
          <p:cNvSpPr txBox="1"/>
          <p:nvPr/>
        </p:nvSpPr>
        <p:spPr>
          <a:xfrm>
            <a:off x="695325" y="923925"/>
            <a:ext cx="6784181" cy="1200150"/>
          </a:xfrm>
          <a:prstGeom prst="rect">
            <a:avLst/>
          </a:prstGeom>
          <a:noFill/>
        </p:spPr>
        <p:txBody>
          <a:bodyPr wrap="square" rtlCol="0">
            <a:normAutofit/>
          </a:bodyPr>
          <a:lstStyle/>
          <a:p>
            <a:pPr marL="0" marR="0" algn="l">
              <a:buNone/>
            </a:pPr>
            <a:r>
              <a:rPr sz="4500" b="1">
                <a:solidFill>
                  <a:srgbClr val="6D7BF7"/>
                </a:solidFill>
                <a:effectLst/>
                <a:latin typeface="Avenir Next LT Pro Bold" panose="020B0804020202020204" pitchFamily="34" charset="0"/>
              </a:rPr>
              <a:t>SENTIMENT-DRIVEN ENABLEMENT </a:t>
            </a:r>
            <a:endParaRPr lang="en-US"/>
          </a:p>
        </p:txBody>
      </p:sp>
      <p:sp>
        <p:nvSpPr>
          <p:cNvPr id="8" name="TextBox 7">
            <a:extLst>
              <a:ext uri="{FF2B5EF4-FFF2-40B4-BE49-F238E27FC236}">
                <a16:creationId xmlns:a16="http://schemas.microsoft.com/office/drawing/2014/main" id="{5A207CD9-DEFD-44BD-8B2F-D024F44F3482}"/>
              </a:ext>
            </a:extLst>
          </p:cNvPr>
          <p:cNvSpPr txBox="1"/>
          <p:nvPr/>
        </p:nvSpPr>
        <p:spPr>
          <a:xfrm>
            <a:off x="695325" y="2219325"/>
            <a:ext cx="6784181" cy="788491"/>
          </a:xfrm>
          <a:prstGeom prst="rect">
            <a:avLst/>
          </a:prstGeom>
          <a:noFill/>
        </p:spPr>
        <p:txBody>
          <a:bodyPr wrap="square" rtlCol="0">
            <a:normAutofit/>
          </a:bodyPr>
          <a:lstStyle/>
          <a:p>
            <a:pPr marL="0" marR="0" algn="l">
              <a:buNone/>
            </a:pPr>
            <a:r>
              <a:rPr sz="2700" b="1">
                <a:solidFill>
                  <a:srgbClr val="FFFFFF"/>
                </a:solidFill>
                <a:effectLst/>
                <a:latin typeface="Avenir Next LT Pro Bold" panose="020B0804020202020204" pitchFamily="34" charset="0"/>
              </a:rPr>
              <a:t>Continuous insight from learner feedback </a:t>
            </a:r>
            <a:endParaRPr lang="en-US"/>
          </a:p>
        </p:txBody>
      </p:sp>
      <p:sp>
        <p:nvSpPr>
          <p:cNvPr id="9" name="TextBox 8">
            <a:extLst>
              <a:ext uri="{FF2B5EF4-FFF2-40B4-BE49-F238E27FC236}">
                <a16:creationId xmlns:a16="http://schemas.microsoft.com/office/drawing/2014/main" id="{05216C53-93F9-4B7B-871B-BB9968065453}"/>
              </a:ext>
            </a:extLst>
          </p:cNvPr>
          <p:cNvSpPr txBox="1"/>
          <p:nvPr/>
        </p:nvSpPr>
        <p:spPr>
          <a:xfrm>
            <a:off x="695325" y="3255466"/>
            <a:ext cx="6784181" cy="2079724"/>
          </a:xfrm>
          <a:prstGeom prst="rect">
            <a:avLst/>
          </a:prstGeom>
          <a:noFill/>
        </p:spPr>
        <p:txBody>
          <a:bodyPr wrap="square" rtlCol="0">
            <a:normAutofit/>
          </a:bodyPr>
          <a:lstStyle/>
          <a:p>
            <a:pPr marL="0" marR="0" algn="l">
              <a:buNone/>
            </a:pPr>
            <a:r>
              <a:rPr sz="1800" b="0">
                <a:solidFill>
                  <a:srgbClr val="FFFFFF"/>
                </a:solidFill>
                <a:effectLst/>
                <a:latin typeface="Avenir Next LT Pro Regular"/>
              </a:rPr>
              <a:t>AI analyzes open text, chats, and Q&amp;A to detect confidence, confusion, and readiness. </a:t>
            </a:r>
            <a:endParaRPr>
              <a:effectLst/>
            </a:endParaRPr>
          </a:p>
          <a:p>
            <a:pPr marL="0" marR="0" algn="l">
              <a:spcBef>
                <a:spcPts val="900"/>
              </a:spcBef>
              <a:buNone/>
            </a:pPr>
            <a:r>
              <a:rPr sz="1800" b="0">
                <a:solidFill>
                  <a:srgbClr val="FFFFFF"/>
                </a:solidFill>
                <a:effectLst/>
                <a:latin typeface="Avenir Next LT Pro Regular"/>
              </a:rPr>
              <a:t>Tracks sentiment shifts over time to surface early warnings and reinforcement needs. </a:t>
            </a:r>
            <a:endParaRPr>
              <a:effectLst/>
            </a:endParaRPr>
          </a:p>
          <a:p>
            <a:pPr marL="0" marR="0" algn="l">
              <a:spcBef>
                <a:spcPts val="900"/>
              </a:spcBef>
              <a:buNone/>
            </a:pPr>
            <a:r>
              <a:rPr sz="1800" b="0">
                <a:solidFill>
                  <a:srgbClr val="FFFFFF"/>
                </a:solidFill>
                <a:effectLst/>
                <a:latin typeface="Avenir Next LT Pro Regular"/>
              </a:rPr>
              <a:t>Feeds insights into curriculum updates, intake priority, and recommendations—closing the loop. </a:t>
            </a:r>
            <a:endParaRPr lang="en-US"/>
          </a:p>
        </p:txBody>
      </p:sp>
      <p:sp>
        <p:nvSpPr>
          <p:cNvPr id="10" name="TextBox 9">
            <a:extLst>
              <a:ext uri="{FF2B5EF4-FFF2-40B4-BE49-F238E27FC236}">
                <a16:creationId xmlns:a16="http://schemas.microsoft.com/office/drawing/2014/main" id="{DD478BBD-7033-4771-937E-D2D7055ED56F}"/>
              </a:ext>
            </a:extLst>
          </p:cNvPr>
          <p:cNvSpPr txBox="1"/>
          <p:nvPr/>
        </p:nvSpPr>
        <p:spPr>
          <a:xfrm>
            <a:off x="695325" y="5876925"/>
            <a:ext cx="6784181" cy="213270"/>
          </a:xfrm>
          <a:prstGeom prst="rect">
            <a:avLst/>
          </a:prstGeom>
          <a:noFill/>
        </p:spPr>
        <p:txBody>
          <a:bodyPr wrap="square" rtlCol="0">
            <a:normAutofit/>
          </a:bodyPr>
          <a:lstStyle/>
          <a:p>
            <a:pPr marL="0" marR="0" algn="l">
              <a:buNone/>
            </a:pPr>
            <a:r>
              <a:rPr sz="1200" b="0">
                <a:solidFill>
                  <a:srgbClr val="FFFFFF"/>
                </a:solidFill>
                <a:effectLst/>
                <a:latin typeface="Avenir Next LT Pro Regular"/>
              </a:rPr>
              <a:t>Especially valuable during launches, transformation initiatives, and rapid change. </a:t>
            </a:r>
            <a:endParaRPr lang="en-US"/>
          </a:p>
        </p:txBody>
      </p:sp>
    </p:spTree>
    <p:extLst>
      <p:ext uri="{BB962C8B-B14F-4D97-AF65-F5344CB8AC3E}">
        <p14:creationId xmlns:p14="http://schemas.microsoft.com/office/powerpoint/2010/main" val="168962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2B6CC38-AD36-4CB8-B81D-C2DC9DF83425}"/>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A9D0453B-BBC1-6BB4-8142-A3F72AE3626A}"/>
              </a:ext>
            </a:extLst>
          </p:cNvPr>
          <p:cNvSpPr>
            <a:spLocks noGrp="1"/>
          </p:cNvSpPr>
          <p:nvPr>
            <p:ph sz="half" idx="2"/>
          </p:nvPr>
        </p:nvSpPr>
        <p:spPr>
          <a:xfrm>
            <a:off x="619125" y="619125"/>
            <a:ext cx="12172950" cy="600075"/>
          </a:xfrm>
        </p:spPr>
        <p:txBody>
          <a:bodyPr/>
          <a:lstStyle/>
          <a:p>
            <a:pPr marL="0" marR="0" indent="0" algn="l">
              <a:buNone/>
            </a:pPr>
            <a:r>
              <a:rPr sz="4500" b="1">
                <a:solidFill>
                  <a:srgbClr val="6D7BF7"/>
                </a:solidFill>
                <a:effectLst/>
                <a:latin typeface="Avenir Next LT Pro" panose="020B0504020202020204" pitchFamily="34" charset="0"/>
              </a:rPr>
              <a:t>AI ENABLED ENABLEMENT MODEL </a:t>
            </a:r>
            <a:endParaRPr lang="en-US"/>
          </a:p>
        </p:txBody>
      </p:sp>
      <p:sp>
        <p:nvSpPr>
          <p:cNvPr id="6" name="TextBox 5">
            <a:extLst>
              <a:ext uri="{FF2B5EF4-FFF2-40B4-BE49-F238E27FC236}">
                <a16:creationId xmlns:a16="http://schemas.microsoft.com/office/drawing/2014/main" id="{BF642DEC-88C5-4E54-8200-109A0DDCEF6D}"/>
              </a:ext>
            </a:extLst>
          </p:cNvPr>
          <p:cNvSpPr txBox="1"/>
          <p:nvPr/>
        </p:nvSpPr>
        <p:spPr>
          <a:xfrm>
            <a:off x="619125" y="1838325"/>
            <a:ext cx="12172950" cy="394245"/>
          </a:xfrm>
          <a:prstGeom prst="rect">
            <a:avLst/>
          </a:prstGeom>
          <a:noFill/>
        </p:spPr>
        <p:txBody>
          <a:bodyPr wrap="square" rtlCol="0">
            <a:normAutofit/>
          </a:bodyPr>
          <a:lstStyle/>
          <a:p>
            <a:pPr marL="0" marR="0" algn="l">
              <a:buNone/>
            </a:pPr>
            <a:r>
              <a:rPr sz="2700" b="1">
                <a:solidFill>
                  <a:srgbClr val="FFFFFF"/>
                </a:solidFill>
                <a:effectLst/>
                <a:latin typeface="Avenir Next LT Pro" panose="020B0504020202020204" pitchFamily="34" charset="0"/>
              </a:rPr>
              <a:t>Scale GTM impact with AI </a:t>
            </a:r>
            <a:endParaRPr lang="en-US"/>
          </a:p>
        </p:txBody>
      </p:sp>
      <p:graphicFrame>
        <p:nvGraphicFramePr>
          <p:cNvPr id="9" name="TextBox 6">
            <a:extLst>
              <a:ext uri="{FF2B5EF4-FFF2-40B4-BE49-F238E27FC236}">
                <a16:creationId xmlns:a16="http://schemas.microsoft.com/office/drawing/2014/main" id="{FC510A18-B26F-179C-F623-C0A5EBD86A7D}"/>
              </a:ext>
            </a:extLst>
          </p:cNvPr>
          <p:cNvGraphicFramePr/>
          <p:nvPr/>
        </p:nvGraphicFramePr>
        <p:xfrm>
          <a:off x="619125" y="2790825"/>
          <a:ext cx="10836028" cy="21178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083772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75B9CB64CD7C47B41F746646547B33" ma:contentTypeVersion="12" ma:contentTypeDescription="Create a new document." ma:contentTypeScope="" ma:versionID="51354516d3b672ae0d8b9a3f2710c302">
  <xsd:schema xmlns:xsd="http://www.w3.org/2001/XMLSchema" xmlns:xs="http://www.w3.org/2001/XMLSchema" xmlns:p="http://schemas.microsoft.com/office/2006/metadata/properties" xmlns:ns2="69c7e17f-4e9e-430d-90e0-3ef93dcbdb44" xmlns:ns3="17d28f16-eb5e-4587-81e0-682ed581eef1" targetNamespace="http://schemas.microsoft.com/office/2006/metadata/properties" ma:root="true" ma:fieldsID="cf335e2618e06b79f2f12a08e2dd74ae" ns2:_="" ns3:_="">
    <xsd:import namespace="69c7e17f-4e9e-430d-90e0-3ef93dcbdb44"/>
    <xsd:import namespace="17d28f16-eb5e-4587-81e0-682ed581ee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7e17f-4e9e-430d-90e0-3ef93dcbd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d28f16-eb5e-4587-81e0-682ed581ee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57522ba-6265-4042-bbfc-6e697f6f1b5b}" ma:internalName="TaxCatchAll" ma:showField="CatchAllData" ma:web="17d28f16-eb5e-4587-81e0-682ed581ee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7d28f16-eb5e-4587-81e0-682ed581eef1" xsi:nil="true"/>
    <lcf76f155ced4ddcb4097134ff3c332f xmlns="69c7e17f-4e9e-430d-90e0-3ef93dcbdb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6102D36-F72E-4556-892E-573F1DB2AA51}"/>
</file>

<file path=customXml/itemProps2.xml><?xml version="1.0" encoding="utf-8"?>
<ds:datastoreItem xmlns:ds="http://schemas.openxmlformats.org/officeDocument/2006/customXml" ds:itemID="{EA89AAA3-AAF3-4A76-A93F-223319923029}"/>
</file>

<file path=customXml/itemProps3.xml><?xml version="1.0" encoding="utf-8"?>
<ds:datastoreItem xmlns:ds="http://schemas.openxmlformats.org/officeDocument/2006/customXml" ds:itemID="{9E230209-F8E2-48C7-AE53-93D185A67ED9}"/>
</file>

<file path=docMetadata/LabelInfo.xml><?xml version="1.0" encoding="utf-8"?>
<clbl:labelList xmlns:clbl="http://schemas.microsoft.com/office/2020/mipLabelMetadata">
  <clbl:label id="{20bd2185-7f4f-483c-8403-3480aaa4171f}" enabled="1" method="Standard" siteId="{72adb271-2fc7-4afe-a5ee-9de6a59f6bfb}"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kgrover@equinix.com</dc:creator>
  <cp:lastModifiedBy>kgrover@equinix.com</cp:lastModifiedBy>
  <cp:revision>41</cp:revision>
  <dcterms:modified xsi:type="dcterms:W3CDTF">2026-04-03T17:23:47Z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0x0101001275B9CB64CD7C47B41F746646547B33</vt:lpwstr>
  </property>
</Properties>
</file>