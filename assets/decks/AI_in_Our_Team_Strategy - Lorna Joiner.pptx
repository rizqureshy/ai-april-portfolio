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1" r:id="rId2"/>
    <p:sldId id="2563" r:id="rId3"/>
    <p:sldId id="2564" r:id="rId4"/>
    <p:sldId id="2569" r:id="rId5"/>
    <p:sldId id="2566" r:id="rId6"/>
    <p:sldId id="2567" r:id="rId7"/>
    <p:sldId id="25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in Our Team – Strategy Deck" id="{BB1077CF-A733-4A33-97D2-242AEC07B6B8}">
          <p14:sldIdLst>
            <p14:sldId id="2561"/>
          </p14:sldIdLst>
        </p14:section>
        <p14:section name="AI in Our Team Strategy" id="{ED6CA1EF-FBA1-43D0-A0FA-59F106194A1E}">
          <p14:sldIdLst>
            <p14:sldId id="2563"/>
            <p14:sldId id="2564"/>
            <p14:sldId id="2569"/>
            <p14:sldId id="2566"/>
            <p14:sldId id="2567"/>
            <p14:sldId id="25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258AB7-940E-42AE-B96A-BA94F938867C}" v="148" dt="2026-04-03T16:36:36.477"/>
    <p1510:client id="{093CA3DE-2E34-0CB9-F479-F8ADD9D480F7}" v="11" dt="2026-04-03T15:44:48.415"/>
    <p1510:client id="{58B475B2-3C3A-6BA4-FBB8-BA7B3B4D4C5E}" v="1" dt="2026-04-03T15:11:42.3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3163" y="3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rna Joiner" userId="S::ljoiner@equinix.com::63ddbc1f-5ab2-4cdb-8325-c1551a1070c3" providerId="AD" clId="Web-{093CA3DE-2E34-0CB9-F479-F8ADD9D480F7}"/>
    <pc:docChg chg="addSld modSld modSection">
      <pc:chgData name="Lorna Joiner" userId="S::ljoiner@equinix.com::63ddbc1f-5ab2-4cdb-8325-c1551a1070c3" providerId="AD" clId="Web-{093CA3DE-2E34-0CB9-F479-F8ADD9D480F7}" dt="2026-04-03T15:44:48.415" v="26" actId="1076"/>
      <pc:docMkLst>
        <pc:docMk/>
      </pc:docMkLst>
      <pc:sldChg chg="addSp delSp modSp new mod modClrScheme chgLayout">
        <pc:chgData name="Lorna Joiner" userId="S::ljoiner@equinix.com::63ddbc1f-5ab2-4cdb-8325-c1551a1070c3" providerId="AD" clId="Web-{093CA3DE-2E34-0CB9-F479-F8ADD9D480F7}" dt="2026-04-03T15:44:48.415" v="26" actId="1076"/>
        <pc:sldMkLst>
          <pc:docMk/>
          <pc:sldMk cId="1039229578" sldId="2569"/>
        </pc:sldMkLst>
        <pc:spChg chg="add del">
          <ac:chgData name="Lorna Joiner" userId="S::ljoiner@equinix.com::63ddbc1f-5ab2-4cdb-8325-c1551a1070c3" providerId="AD" clId="Web-{093CA3DE-2E34-0CB9-F479-F8ADD9D480F7}" dt="2026-04-03T15:44:12.806" v="24"/>
          <ac:spMkLst>
            <pc:docMk/>
            <pc:sldMk cId="1039229578" sldId="2569"/>
            <ac:spMk id="2" creationId="{74B86D39-354C-B6EB-40A0-8993EC9F8AAB}"/>
          </ac:spMkLst>
        </pc:spChg>
        <pc:spChg chg="mod">
          <ac:chgData name="Lorna Joiner" userId="S::ljoiner@equinix.com::63ddbc1f-5ab2-4cdb-8325-c1551a1070c3" providerId="AD" clId="Web-{093CA3DE-2E34-0CB9-F479-F8ADD9D480F7}" dt="2026-04-03T15:43:53.884" v="23"/>
          <ac:spMkLst>
            <pc:docMk/>
            <pc:sldMk cId="1039229578" sldId="2569"/>
            <ac:spMk id="3" creationId="{CCF862CF-63B3-55DC-749A-32ECC927B1F0}"/>
          </ac:spMkLst>
        </pc:spChg>
        <pc:spChg chg="mod">
          <ac:chgData name="Lorna Joiner" userId="S::ljoiner@equinix.com::63ddbc1f-5ab2-4cdb-8325-c1551a1070c3" providerId="AD" clId="Web-{093CA3DE-2E34-0CB9-F479-F8ADD9D480F7}" dt="2026-04-03T15:43:53.884" v="23"/>
          <ac:spMkLst>
            <pc:docMk/>
            <pc:sldMk cId="1039229578" sldId="2569"/>
            <ac:spMk id="4" creationId="{84886AE5-B780-FCCE-ED82-7FEAAD34E368}"/>
          </ac:spMkLst>
        </pc:spChg>
        <pc:spChg chg="mod">
          <ac:chgData name="Lorna Joiner" userId="S::ljoiner@equinix.com::63ddbc1f-5ab2-4cdb-8325-c1551a1070c3" providerId="AD" clId="Web-{093CA3DE-2E34-0CB9-F479-F8ADD9D480F7}" dt="2026-04-03T15:43:53.884" v="23"/>
          <ac:spMkLst>
            <pc:docMk/>
            <pc:sldMk cId="1039229578" sldId="2569"/>
            <ac:spMk id="5" creationId="{55F65978-41D3-EB92-9038-C35AC209E81D}"/>
          </ac:spMkLst>
        </pc:spChg>
        <pc:spChg chg="del">
          <ac:chgData name="Lorna Joiner" userId="S::ljoiner@equinix.com::63ddbc1f-5ab2-4cdb-8325-c1551a1070c3" providerId="AD" clId="Web-{093CA3DE-2E34-0CB9-F479-F8ADD9D480F7}" dt="2026-04-03T15:42:17.305" v="1"/>
          <ac:spMkLst>
            <pc:docMk/>
            <pc:sldMk cId="1039229578" sldId="2569"/>
            <ac:spMk id="6" creationId="{23D5D54D-D620-2B34-3B05-5545D09EF57B}"/>
          </ac:spMkLst>
        </pc:spChg>
        <pc:spChg chg="add del">
          <ac:chgData name="Lorna Joiner" userId="S::ljoiner@equinix.com::63ddbc1f-5ab2-4cdb-8325-c1551a1070c3" providerId="AD" clId="Web-{093CA3DE-2E34-0CB9-F479-F8ADD9D480F7}" dt="2026-04-03T15:44:16.243" v="25"/>
          <ac:spMkLst>
            <pc:docMk/>
            <pc:sldMk cId="1039229578" sldId="2569"/>
            <ac:spMk id="7" creationId="{2AF1DCCA-779E-EEEA-B4C8-2CB3E94D25CA}"/>
          </ac:spMkLst>
        </pc:spChg>
        <pc:spChg chg="add del mod">
          <ac:chgData name="Lorna Joiner" userId="S::ljoiner@equinix.com::63ddbc1f-5ab2-4cdb-8325-c1551a1070c3" providerId="AD" clId="Web-{093CA3DE-2E34-0CB9-F479-F8ADD9D480F7}" dt="2026-04-03T15:44:48.415" v="26" actId="1076"/>
          <ac:spMkLst>
            <pc:docMk/>
            <pc:sldMk cId="1039229578" sldId="2569"/>
            <ac:spMk id="8" creationId="{92A6245C-0C17-4331-C3A2-FA3613E8FD55}"/>
          </ac:spMkLst>
        </pc:spChg>
        <pc:spChg chg="add del mod">
          <ac:chgData name="Lorna Joiner" userId="S::ljoiner@equinix.com::63ddbc1f-5ab2-4cdb-8325-c1551a1070c3" providerId="AD" clId="Web-{093CA3DE-2E34-0CB9-F479-F8ADD9D480F7}" dt="2026-04-03T15:43:39.946" v="17"/>
          <ac:spMkLst>
            <pc:docMk/>
            <pc:sldMk cId="1039229578" sldId="2569"/>
            <ac:spMk id="13" creationId="{83BFBF55-0235-2FBE-2451-0BCAD388415B}"/>
          </ac:spMkLst>
        </pc:spChg>
        <pc:spChg chg="add del mod">
          <ac:chgData name="Lorna Joiner" userId="S::ljoiner@equinix.com::63ddbc1f-5ab2-4cdb-8325-c1551a1070c3" providerId="AD" clId="Web-{093CA3DE-2E34-0CB9-F479-F8ADD9D480F7}" dt="2026-04-03T15:42:58.384" v="7"/>
          <ac:spMkLst>
            <pc:docMk/>
            <pc:sldMk cId="1039229578" sldId="2569"/>
            <ac:spMk id="14" creationId="{66155D93-DD6C-97E9-6280-37DA119B3932}"/>
          </ac:spMkLst>
        </pc:spChg>
        <pc:spChg chg="add del mod">
          <ac:chgData name="Lorna Joiner" userId="S::ljoiner@equinix.com::63ddbc1f-5ab2-4cdb-8325-c1551a1070c3" providerId="AD" clId="Web-{093CA3DE-2E34-0CB9-F479-F8ADD9D480F7}" dt="2026-04-03T15:42:58.384" v="7"/>
          <ac:spMkLst>
            <pc:docMk/>
            <pc:sldMk cId="1039229578" sldId="2569"/>
            <ac:spMk id="16" creationId="{F748189F-8E33-D2F1-9FAE-AA9DF5A785E4}"/>
          </ac:spMkLst>
        </pc:spChg>
        <pc:spChg chg="add del mod">
          <ac:chgData name="Lorna Joiner" userId="S::ljoiner@equinix.com::63ddbc1f-5ab2-4cdb-8325-c1551a1070c3" providerId="AD" clId="Web-{093CA3DE-2E34-0CB9-F479-F8ADD9D480F7}" dt="2026-04-03T15:43:04.899" v="9"/>
          <ac:spMkLst>
            <pc:docMk/>
            <pc:sldMk cId="1039229578" sldId="2569"/>
            <ac:spMk id="18" creationId="{873E69EC-0743-8B36-A1A0-C8794D48197F}"/>
          </ac:spMkLst>
        </pc:spChg>
        <pc:spChg chg="add del mod">
          <ac:chgData name="Lorna Joiner" userId="S::ljoiner@equinix.com::63ddbc1f-5ab2-4cdb-8325-c1551a1070c3" providerId="AD" clId="Web-{093CA3DE-2E34-0CB9-F479-F8ADD9D480F7}" dt="2026-04-03T15:43:04.899" v="9"/>
          <ac:spMkLst>
            <pc:docMk/>
            <pc:sldMk cId="1039229578" sldId="2569"/>
            <ac:spMk id="19" creationId="{8C2BA9D1-5CD2-4FE6-3361-C293710FACD9}"/>
          </ac:spMkLst>
        </pc:spChg>
        <pc:spChg chg="add del mod">
          <ac:chgData name="Lorna Joiner" userId="S::ljoiner@equinix.com::63ddbc1f-5ab2-4cdb-8325-c1551a1070c3" providerId="AD" clId="Web-{093CA3DE-2E34-0CB9-F479-F8ADD9D480F7}" dt="2026-04-03T15:43:37.728" v="15"/>
          <ac:spMkLst>
            <pc:docMk/>
            <pc:sldMk cId="1039229578" sldId="2569"/>
            <ac:spMk id="26" creationId="{66155D93-DD6C-97E9-6280-37DA119B3932}"/>
          </ac:spMkLst>
        </pc:spChg>
        <pc:spChg chg="add del mod">
          <ac:chgData name="Lorna Joiner" userId="S::ljoiner@equinix.com::63ddbc1f-5ab2-4cdb-8325-c1551a1070c3" providerId="AD" clId="Web-{093CA3DE-2E34-0CB9-F479-F8ADD9D480F7}" dt="2026-04-03T15:43:37.728" v="15"/>
          <ac:spMkLst>
            <pc:docMk/>
            <pc:sldMk cId="1039229578" sldId="2569"/>
            <ac:spMk id="27" creationId="{F748189F-8E33-D2F1-9FAE-AA9DF5A785E4}"/>
          </ac:spMkLst>
        </pc:spChg>
        <pc:spChg chg="add del">
          <ac:chgData name="Lorna Joiner" userId="S::ljoiner@equinix.com::63ddbc1f-5ab2-4cdb-8325-c1551a1070c3" providerId="AD" clId="Web-{093CA3DE-2E34-0CB9-F479-F8ADD9D480F7}" dt="2026-04-03T15:43:39.946" v="17"/>
          <ac:spMkLst>
            <pc:docMk/>
            <pc:sldMk cId="1039229578" sldId="2569"/>
            <ac:spMk id="30" creationId="{92A6245C-0C17-4331-C3A2-FA3613E8FD55}"/>
          </ac:spMkLst>
        </pc:spChg>
        <pc:spChg chg="add del mod">
          <ac:chgData name="Lorna Joiner" userId="S::ljoiner@equinix.com::63ddbc1f-5ab2-4cdb-8325-c1551a1070c3" providerId="AD" clId="Web-{093CA3DE-2E34-0CB9-F479-F8ADD9D480F7}" dt="2026-04-03T15:43:43.571" v="19"/>
          <ac:spMkLst>
            <pc:docMk/>
            <pc:sldMk cId="1039229578" sldId="2569"/>
            <ac:spMk id="32" creationId="{5B07A19C-AC53-322A-4010-F4836736389A}"/>
          </ac:spMkLst>
        </pc:spChg>
        <pc:spChg chg="add del">
          <ac:chgData name="Lorna Joiner" userId="S::ljoiner@equinix.com::63ddbc1f-5ab2-4cdb-8325-c1551a1070c3" providerId="AD" clId="Web-{093CA3DE-2E34-0CB9-F479-F8ADD9D480F7}" dt="2026-04-03T15:43:43.571" v="19"/>
          <ac:spMkLst>
            <pc:docMk/>
            <pc:sldMk cId="1039229578" sldId="2569"/>
            <ac:spMk id="33" creationId="{92A6245C-0C17-4331-C3A2-FA3613E8FD55}"/>
          </ac:spMkLst>
        </pc:spChg>
        <pc:spChg chg="add del mod">
          <ac:chgData name="Lorna Joiner" userId="S::ljoiner@equinix.com::63ddbc1f-5ab2-4cdb-8325-c1551a1070c3" providerId="AD" clId="Web-{093CA3DE-2E34-0CB9-F479-F8ADD9D480F7}" dt="2026-04-03T15:43:45.931" v="21"/>
          <ac:spMkLst>
            <pc:docMk/>
            <pc:sldMk cId="1039229578" sldId="2569"/>
            <ac:spMk id="35" creationId="{B509E54D-52A3-B0A3-F751-371C69FC6D75}"/>
          </ac:spMkLst>
        </pc:spChg>
        <pc:spChg chg="add del">
          <ac:chgData name="Lorna Joiner" userId="S::ljoiner@equinix.com::63ddbc1f-5ab2-4cdb-8325-c1551a1070c3" providerId="AD" clId="Web-{093CA3DE-2E34-0CB9-F479-F8ADD9D480F7}" dt="2026-04-03T15:43:45.931" v="21"/>
          <ac:spMkLst>
            <pc:docMk/>
            <pc:sldMk cId="1039229578" sldId="2569"/>
            <ac:spMk id="36" creationId="{92A6245C-0C17-4331-C3A2-FA3613E8FD55}"/>
          </ac:spMkLst>
        </pc:spChg>
        <pc:graphicFrameChg chg="add del">
          <ac:chgData name="Lorna Joiner" userId="S::ljoiner@equinix.com::63ddbc1f-5ab2-4cdb-8325-c1551a1070c3" providerId="AD" clId="Web-{093CA3DE-2E34-0CB9-F479-F8ADD9D480F7}" dt="2026-04-03T15:42:58.384" v="7"/>
          <ac:graphicFrameMkLst>
            <pc:docMk/>
            <pc:sldMk cId="1039229578" sldId="2569"/>
            <ac:graphicFrameMk id="10" creationId="{FE4F49D1-3692-163E-8C1B-10EFC3C3DFCD}"/>
          </ac:graphicFrameMkLst>
        </pc:graphicFrameChg>
        <pc:graphicFrameChg chg="add del">
          <ac:chgData name="Lorna Joiner" userId="S::ljoiner@equinix.com::63ddbc1f-5ab2-4cdb-8325-c1551a1070c3" providerId="AD" clId="Web-{093CA3DE-2E34-0CB9-F479-F8ADD9D480F7}" dt="2026-04-03T15:43:04.899" v="9"/>
          <ac:graphicFrameMkLst>
            <pc:docMk/>
            <pc:sldMk cId="1039229578" sldId="2569"/>
            <ac:graphicFrameMk id="20" creationId="{53725C5B-2B11-C193-CD66-719BD26ACF42}"/>
          </ac:graphicFrameMkLst>
        </pc:graphicFrameChg>
        <pc:graphicFrameChg chg="add del">
          <ac:chgData name="Lorna Joiner" userId="S::ljoiner@equinix.com::63ddbc1f-5ab2-4cdb-8325-c1551a1070c3" providerId="AD" clId="Web-{093CA3DE-2E34-0CB9-F479-F8ADD9D480F7}" dt="2026-04-03T15:43:12.384" v="11"/>
          <ac:graphicFrameMkLst>
            <pc:docMk/>
            <pc:sldMk cId="1039229578" sldId="2569"/>
            <ac:graphicFrameMk id="22" creationId="{E3631C54-A88A-A63C-F6C8-BA3BCC5F5ED6}"/>
          </ac:graphicFrameMkLst>
        </pc:graphicFrameChg>
        <pc:graphicFrameChg chg="add del">
          <ac:chgData name="Lorna Joiner" userId="S::ljoiner@equinix.com::63ddbc1f-5ab2-4cdb-8325-c1551a1070c3" providerId="AD" clId="Web-{093CA3DE-2E34-0CB9-F479-F8ADD9D480F7}" dt="2026-04-03T15:43:24.915" v="13"/>
          <ac:graphicFrameMkLst>
            <pc:docMk/>
            <pc:sldMk cId="1039229578" sldId="2569"/>
            <ac:graphicFrameMk id="24" creationId="{6A2897B8-6C8A-E752-005C-601F4D853C77}"/>
          </ac:graphicFrameMkLst>
        </pc:graphicFrameChg>
        <pc:graphicFrameChg chg="add del">
          <ac:chgData name="Lorna Joiner" userId="S::ljoiner@equinix.com::63ddbc1f-5ab2-4cdb-8325-c1551a1070c3" providerId="AD" clId="Web-{093CA3DE-2E34-0CB9-F479-F8ADD9D480F7}" dt="2026-04-03T15:43:37.728" v="15"/>
          <ac:graphicFrameMkLst>
            <pc:docMk/>
            <pc:sldMk cId="1039229578" sldId="2569"/>
            <ac:graphicFrameMk id="28" creationId="{FE4F49D1-3692-163E-8C1B-10EFC3C3DFCD}"/>
          </ac:graphicFrameMkLst>
        </pc:graphicFrameChg>
        <pc:graphicFrameChg chg="add del">
          <ac:chgData name="Lorna Joiner" userId="S::ljoiner@equinix.com::63ddbc1f-5ab2-4cdb-8325-c1551a1070c3" providerId="AD" clId="Web-{093CA3DE-2E34-0CB9-F479-F8ADD9D480F7}" dt="2026-04-03T15:43:53.884" v="23"/>
          <ac:graphicFrameMkLst>
            <pc:docMk/>
            <pc:sldMk cId="1039229578" sldId="2569"/>
            <ac:graphicFrameMk id="38" creationId="{6A2897B8-6C8A-E752-005C-601F4D853C77}"/>
          </ac:graphicFrameMkLst>
        </pc:graphicFrameChg>
      </pc:sldChg>
    </pc:docChg>
  </pc:docChgLst>
  <pc:docChgLst>
    <pc:chgData name="Lorna Joiner" userId="63ddbc1f-5ab2-4cdb-8325-c1551a1070c3" providerId="ADAL" clId="{9A8053B1-BF08-4067-AE76-2737ED277ABB}"/>
    <pc:docChg chg="custSel delSld modSld sldOrd modSection">
      <pc:chgData name="Lorna Joiner" userId="63ddbc1f-5ab2-4cdb-8325-c1551a1070c3" providerId="ADAL" clId="{9A8053B1-BF08-4067-AE76-2737ED277ABB}" dt="2026-04-03T16:37:55.888" v="332"/>
      <pc:docMkLst>
        <pc:docMk/>
      </pc:docMkLst>
      <pc:sldChg chg="del">
        <pc:chgData name="Lorna Joiner" userId="63ddbc1f-5ab2-4cdb-8325-c1551a1070c3" providerId="ADAL" clId="{9A8053B1-BF08-4067-AE76-2737ED277ABB}" dt="2026-04-03T16:08:55.694" v="190" actId="2696"/>
        <pc:sldMkLst>
          <pc:docMk/>
          <pc:sldMk cId="1218350418" sldId="2562"/>
        </pc:sldMkLst>
      </pc:sldChg>
      <pc:sldChg chg="del">
        <pc:chgData name="Lorna Joiner" userId="63ddbc1f-5ab2-4cdb-8325-c1551a1070c3" providerId="ADAL" clId="{9A8053B1-BF08-4067-AE76-2737ED277ABB}" dt="2026-04-03T16:08:37.703" v="189" actId="2696"/>
        <pc:sldMkLst>
          <pc:docMk/>
          <pc:sldMk cId="3440960949" sldId="2565"/>
        </pc:sldMkLst>
      </pc:sldChg>
      <pc:sldChg chg="modSp">
        <pc:chgData name="Lorna Joiner" userId="63ddbc1f-5ab2-4cdb-8325-c1551a1070c3" providerId="ADAL" clId="{9A8053B1-BF08-4067-AE76-2737ED277ABB}" dt="2026-04-03T16:32:16.174" v="215" actId="6549"/>
        <pc:sldMkLst>
          <pc:docMk/>
          <pc:sldMk cId="4251532021" sldId="2566"/>
        </pc:sldMkLst>
        <pc:spChg chg="mod">
          <ac:chgData name="Lorna Joiner" userId="63ddbc1f-5ab2-4cdb-8325-c1551a1070c3" providerId="ADAL" clId="{9A8053B1-BF08-4067-AE76-2737ED277ABB}" dt="2026-04-03T16:32:16.174" v="215" actId="6549"/>
          <ac:spMkLst>
            <pc:docMk/>
            <pc:sldMk cId="4251532021" sldId="2566"/>
            <ac:spMk id="7" creationId="{93E08776-7727-BA55-661B-DD7759C3FA4B}"/>
          </ac:spMkLst>
        </pc:spChg>
      </pc:sldChg>
      <pc:sldChg chg="modSp ord">
        <pc:chgData name="Lorna Joiner" userId="63ddbc1f-5ab2-4cdb-8325-c1551a1070c3" providerId="ADAL" clId="{9A8053B1-BF08-4067-AE76-2737ED277ABB}" dt="2026-04-03T16:37:55.888" v="332"/>
        <pc:sldMkLst>
          <pc:docMk/>
          <pc:sldMk cId="3173396249" sldId="2567"/>
        </pc:sldMkLst>
        <pc:spChg chg="mod">
          <ac:chgData name="Lorna Joiner" userId="63ddbc1f-5ab2-4cdb-8325-c1551a1070c3" providerId="ADAL" clId="{9A8053B1-BF08-4067-AE76-2737ED277ABB}" dt="2026-04-03T16:36:36.477" v="328" actId="20577"/>
          <ac:spMkLst>
            <pc:docMk/>
            <pc:sldMk cId="3173396249" sldId="2567"/>
            <ac:spMk id="7" creationId="{002E307E-6EEE-651A-1E80-75ECAD104526}"/>
          </ac:spMkLst>
        </pc:spChg>
      </pc:sldChg>
      <pc:sldChg chg="addSp delSp modSp mod modClrScheme chgLayout">
        <pc:chgData name="Lorna Joiner" userId="63ddbc1f-5ab2-4cdb-8325-c1551a1070c3" providerId="ADAL" clId="{9A8053B1-BF08-4067-AE76-2737ED277ABB}" dt="2026-04-03T16:07:22.947" v="188" actId="6549"/>
        <pc:sldMkLst>
          <pc:docMk/>
          <pc:sldMk cId="1039229578" sldId="2569"/>
        </pc:sldMkLst>
        <pc:spChg chg="mod ord">
          <ac:chgData name="Lorna Joiner" userId="63ddbc1f-5ab2-4cdb-8325-c1551a1070c3" providerId="ADAL" clId="{9A8053B1-BF08-4067-AE76-2737ED277ABB}" dt="2026-04-03T15:46:36.978" v="0" actId="700"/>
          <ac:spMkLst>
            <pc:docMk/>
            <pc:sldMk cId="1039229578" sldId="2569"/>
            <ac:spMk id="3" creationId="{CCF862CF-63B3-55DC-749A-32ECC927B1F0}"/>
          </ac:spMkLst>
        </pc:spChg>
        <pc:spChg chg="mod ord">
          <ac:chgData name="Lorna Joiner" userId="63ddbc1f-5ab2-4cdb-8325-c1551a1070c3" providerId="ADAL" clId="{9A8053B1-BF08-4067-AE76-2737ED277ABB}" dt="2026-04-03T15:46:36.978" v="0" actId="700"/>
          <ac:spMkLst>
            <pc:docMk/>
            <pc:sldMk cId="1039229578" sldId="2569"/>
            <ac:spMk id="4" creationId="{84886AE5-B780-FCCE-ED82-7FEAAD34E368}"/>
          </ac:spMkLst>
        </pc:spChg>
        <pc:spChg chg="mod ord">
          <ac:chgData name="Lorna Joiner" userId="63ddbc1f-5ab2-4cdb-8325-c1551a1070c3" providerId="ADAL" clId="{9A8053B1-BF08-4067-AE76-2737ED277ABB}" dt="2026-04-03T15:46:36.978" v="0" actId="700"/>
          <ac:spMkLst>
            <pc:docMk/>
            <pc:sldMk cId="1039229578" sldId="2569"/>
            <ac:spMk id="5" creationId="{55F65978-41D3-EB92-9038-C35AC209E81D}"/>
          </ac:spMkLst>
        </pc:spChg>
        <pc:spChg chg="add mod ord">
          <ac:chgData name="Lorna Joiner" userId="63ddbc1f-5ab2-4cdb-8325-c1551a1070c3" providerId="ADAL" clId="{9A8053B1-BF08-4067-AE76-2737ED277ABB}" dt="2026-04-03T16:07:22.947" v="188" actId="6549"/>
          <ac:spMkLst>
            <pc:docMk/>
            <pc:sldMk cId="1039229578" sldId="2569"/>
            <ac:spMk id="6" creationId="{0E23CC6A-5A9E-4CBB-F381-8AB74FFB9924}"/>
          </ac:spMkLst>
        </pc:spChg>
        <pc:spChg chg="del">
          <ac:chgData name="Lorna Joiner" userId="63ddbc1f-5ab2-4cdb-8325-c1551a1070c3" providerId="ADAL" clId="{9A8053B1-BF08-4067-AE76-2737ED277ABB}" dt="2026-04-03T15:46:43.144" v="1" actId="478"/>
          <ac:spMkLst>
            <pc:docMk/>
            <pc:sldMk cId="1039229578" sldId="2569"/>
            <ac:spMk id="8" creationId="{92A6245C-0C17-4331-C3A2-FA3613E8FD55}"/>
          </ac:spMkLst>
        </pc:spChg>
        <pc:spChg chg="add mod ord">
          <ac:chgData name="Lorna Joiner" userId="63ddbc1f-5ab2-4cdb-8325-c1551a1070c3" providerId="ADAL" clId="{9A8053B1-BF08-4067-AE76-2737ED277ABB}" dt="2026-04-03T16:05:48.552" v="151" actId="255"/>
          <ac:spMkLst>
            <pc:docMk/>
            <pc:sldMk cId="1039229578" sldId="2569"/>
            <ac:spMk id="9" creationId="{B3FC1910-9353-0671-792E-03C15F48105C}"/>
          </ac:spMkLst>
        </pc:spChg>
        <pc:spChg chg="add mod ord">
          <ac:chgData name="Lorna Joiner" userId="63ddbc1f-5ab2-4cdb-8325-c1551a1070c3" providerId="ADAL" clId="{9A8053B1-BF08-4067-AE76-2737ED277ABB}" dt="2026-04-03T16:05:38.308" v="150" actId="255"/>
          <ac:spMkLst>
            <pc:docMk/>
            <pc:sldMk cId="1039229578" sldId="2569"/>
            <ac:spMk id="10" creationId="{B4613C12-7ED1-F8C7-6D7E-FB4C0CDB1B03}"/>
          </ac:spMkLst>
        </pc:spChg>
        <pc:spChg chg="add del mod ord">
          <ac:chgData name="Lorna Joiner" userId="63ddbc1f-5ab2-4cdb-8325-c1551a1070c3" providerId="ADAL" clId="{9A8053B1-BF08-4067-AE76-2737ED277ABB}" dt="2026-04-03T16:03:19.513" v="135" actId="14100"/>
          <ac:spMkLst>
            <pc:docMk/>
            <pc:sldMk cId="1039229578" sldId="2569"/>
            <ac:spMk id="11" creationId="{F56D2C56-7475-E046-0909-CB8B50C7B178}"/>
          </ac:spMkLst>
        </pc:spChg>
        <pc:spChg chg="add mod ord">
          <ac:chgData name="Lorna Joiner" userId="63ddbc1f-5ab2-4cdb-8325-c1551a1070c3" providerId="ADAL" clId="{9A8053B1-BF08-4067-AE76-2737ED277ABB}" dt="2026-04-03T16:03:45.732" v="136" actId="14100"/>
          <ac:spMkLst>
            <pc:docMk/>
            <pc:sldMk cId="1039229578" sldId="2569"/>
            <ac:spMk id="12" creationId="{53670E5A-8BC7-4A25-D781-6AF0532C465F}"/>
          </ac:spMkLst>
        </pc:spChg>
        <pc:spChg chg="add del mod">
          <ac:chgData name="Lorna Joiner" userId="63ddbc1f-5ab2-4cdb-8325-c1551a1070c3" providerId="ADAL" clId="{9A8053B1-BF08-4067-AE76-2737ED277ABB}" dt="2026-04-03T15:49:16.824" v="19"/>
          <ac:spMkLst>
            <pc:docMk/>
            <pc:sldMk cId="1039229578" sldId="2569"/>
            <ac:spMk id="13" creationId="{B8FFFE0F-4F06-EE60-1500-E93420A2F9CE}"/>
          </ac:spMkLst>
        </pc:spChg>
        <pc:spChg chg="add del mod">
          <ac:chgData name="Lorna Joiner" userId="63ddbc1f-5ab2-4cdb-8325-c1551a1070c3" providerId="ADAL" clId="{9A8053B1-BF08-4067-AE76-2737ED277ABB}" dt="2026-04-03T15:50:44.037" v="27" actId="478"/>
          <ac:spMkLst>
            <pc:docMk/>
            <pc:sldMk cId="1039229578" sldId="2569"/>
            <ac:spMk id="14" creationId="{2329AFB6-576C-22FE-93AC-D72E472A624F}"/>
          </ac:spMkLst>
        </pc:spChg>
        <pc:spChg chg="add del mod">
          <ac:chgData name="Lorna Joiner" userId="63ddbc1f-5ab2-4cdb-8325-c1551a1070c3" providerId="ADAL" clId="{9A8053B1-BF08-4067-AE76-2737ED277ABB}" dt="2026-04-03T15:50:44.860" v="28" actId="478"/>
          <ac:spMkLst>
            <pc:docMk/>
            <pc:sldMk cId="1039229578" sldId="2569"/>
            <ac:spMk id="15" creationId="{54250E4D-7DF9-A2CE-B78B-A5E19B71EAC2}"/>
          </ac:spMkLst>
        </pc:spChg>
        <pc:spChg chg="add mod">
          <ac:chgData name="Lorna Joiner" userId="63ddbc1f-5ab2-4cdb-8325-c1551a1070c3" providerId="ADAL" clId="{9A8053B1-BF08-4067-AE76-2737ED277ABB}" dt="2026-04-03T16:06:09.641" v="152" actId="14100"/>
          <ac:spMkLst>
            <pc:docMk/>
            <pc:sldMk cId="1039229578" sldId="2569"/>
            <ac:spMk id="19" creationId="{F371024B-2BE2-F358-D9A2-F86F3C2ECB3D}"/>
          </ac:spMkLst>
        </pc:spChg>
        <pc:spChg chg="add mod">
          <ac:chgData name="Lorna Joiner" userId="63ddbc1f-5ab2-4cdb-8325-c1551a1070c3" providerId="ADAL" clId="{9A8053B1-BF08-4067-AE76-2737ED277ABB}" dt="2026-04-03T16:06:21.137" v="154" actId="1076"/>
          <ac:spMkLst>
            <pc:docMk/>
            <pc:sldMk cId="1039229578" sldId="2569"/>
            <ac:spMk id="21" creationId="{9C5DBBE4-28EF-7C1D-DE47-513CB091DA0A}"/>
          </ac:spMkLst>
        </pc:spChg>
        <pc:graphicFrameChg chg="add mod">
          <ac:chgData name="Lorna Joiner" userId="63ddbc1f-5ab2-4cdb-8325-c1551a1070c3" providerId="ADAL" clId="{9A8053B1-BF08-4067-AE76-2737ED277ABB}" dt="2026-04-03T15:53:32.987" v="65"/>
          <ac:graphicFrameMkLst>
            <pc:docMk/>
            <pc:sldMk cId="1039229578" sldId="2569"/>
            <ac:graphicFrameMk id="16" creationId="{10EB5B7B-9561-D901-5CED-ED617489A94C}"/>
          </ac:graphicFrameMkLst>
        </pc:graphicFrameChg>
        <pc:graphicFrameChg chg="add mod">
          <ac:chgData name="Lorna Joiner" userId="63ddbc1f-5ab2-4cdb-8325-c1551a1070c3" providerId="ADAL" clId="{9A8053B1-BF08-4067-AE76-2737ED277ABB}" dt="2026-04-03T15:54:43.176" v="74"/>
          <ac:graphicFrameMkLst>
            <pc:docMk/>
            <pc:sldMk cId="1039229578" sldId="2569"/>
            <ac:graphicFrameMk id="17" creationId="{681451FC-F487-64C0-1936-4C931CC20312}"/>
          </ac:graphicFrameMkLst>
        </pc:graphicFrameChg>
      </pc:sldChg>
    </pc:docChg>
  </pc:docChgLst>
  <pc:docChgLst>
    <pc:chgData name="Lorna Joiner" userId="S::ljoiner@equinix.com::63ddbc1f-5ab2-4cdb-8325-c1551a1070c3" providerId="AD" clId="Web-{58B475B2-3C3A-6BA4-FBB8-BA7B3B4D4C5E}"/>
    <pc:docChg chg="modSld">
      <pc:chgData name="Lorna Joiner" userId="S::ljoiner@equinix.com::63ddbc1f-5ab2-4cdb-8325-c1551a1070c3" providerId="AD" clId="Web-{58B475B2-3C3A-6BA4-FBB8-BA7B3B4D4C5E}" dt="2026-04-03T15:11:42.338" v="0"/>
      <pc:docMkLst>
        <pc:docMk/>
      </pc:docMkLst>
      <pc:sldChg chg="addSp delSp modSp">
        <pc:chgData name="Lorna Joiner" userId="S::ljoiner@equinix.com::63ddbc1f-5ab2-4cdb-8325-c1551a1070c3" providerId="AD" clId="Web-{58B475B2-3C3A-6BA4-FBB8-BA7B3B4D4C5E}" dt="2026-04-03T15:11:42.338" v="0"/>
        <pc:sldMkLst>
          <pc:docMk/>
          <pc:sldMk cId="3440960949" sldId="2565"/>
        </pc:sldMkLst>
        <pc:spChg chg="add mod">
          <ac:chgData name="Lorna Joiner" userId="S::ljoiner@equinix.com::63ddbc1f-5ab2-4cdb-8325-c1551a1070c3" providerId="AD" clId="Web-{58B475B2-3C3A-6BA4-FBB8-BA7B3B4D4C5E}" dt="2026-04-03T15:11:42.338" v="0"/>
          <ac:spMkLst>
            <pc:docMk/>
            <pc:sldMk cId="3440960949" sldId="2565"/>
            <ac:spMk id="9" creationId="{AE927129-AD08-CA0C-8DD0-60F353EAF4EA}"/>
          </ac:spMkLst>
        </pc:spChg>
        <pc:picChg chg="del">
          <ac:chgData name="Lorna Joiner" userId="S::ljoiner@equinix.com::63ddbc1f-5ab2-4cdb-8325-c1551a1070c3" providerId="AD" clId="Web-{58B475B2-3C3A-6BA4-FBB8-BA7B3B4D4C5E}" dt="2026-04-03T15:11:42.338" v="0"/>
          <ac:picMkLst>
            <pc:docMk/>
            <pc:sldMk cId="3440960949" sldId="2565"/>
            <ac:picMk id="8" creationId="{69E17326-A6DA-4D2B-9194-C7704D9FF35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24716F-70AA-406F-8884-25D629252D0D}" type="datetimeFigureOut">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C32045-1C4E-49DE-B5F4-D5159502A1DC}" type="slidenum">
              <a:t>‹#›</a:t>
            </a:fld>
            <a:endParaRPr lang="en-US"/>
          </a:p>
        </p:txBody>
      </p:sp>
    </p:spTree>
    <p:extLst>
      <p:ext uri="{BB962C8B-B14F-4D97-AF65-F5344CB8AC3E}">
        <p14:creationId xmlns:p14="http://schemas.microsoft.com/office/powerpoint/2010/main" val="2810882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370A960-B4E4-4900-8770-80ACAC0CF8F1}" type="slidenum">
              <a:t>1</a:t>
            </a:fld>
            <a:endParaRPr lang="en-US"/>
          </a:p>
        </p:txBody>
      </p:sp>
    </p:spTree>
    <p:extLst>
      <p:ext uri="{BB962C8B-B14F-4D97-AF65-F5344CB8AC3E}">
        <p14:creationId xmlns:p14="http://schemas.microsoft.com/office/powerpoint/2010/main" val="3175767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Our current state with AI across the team is highly variable, reflecting a wide spectrum of comfort levels, skills, and adoption patterns. On one end of the spectrum, we have team members who use AI daily as a core part of how they think, create, and execute their work. Some of these advanced users are already designing workflows, building lightweight bots, automating repetitive tasks, and significantly increasing both their speed and quality of output. For them, AI is no longer a novelty but a productivity multiplier and creative partner. However, this level of usage is not consistent across the team.
On the other end, we have team members who feel uncertain, uncomfortable, or even resistant to AI tools. Common barriers include a lack of clarity on how AI applies to their role, fear of getting started incorrectly, concerns about time required to learn something new, or skepticism about the value AI can deliver. Between these extremes sits a large middle group that uses AI occasionally but without clear standards, shared practices, or alignment on what “good” looks like. As a result, AI usage today is largely fragmented, ad hoc, and dependent on individual initiative rather than designed team capability.
This uneven adoption creates several challenges. First, it leads to inconsistent outputs in terms of quality, structure, and clarity. Second, there is a real risk of knowledge silos, where those who have discovered effective prompts, workflows, or tools unintentionally hoard information rather than sharing it. Third, without shared expectations or guardrails, AI is underutilized as a mechanism for auditing work, improving standards, or aligning around end-user needs. Finally, this fragmentation can exacerbate existing collaboration challenges, reinforcing individual ways of working instead of strengthening the team as a cohesive unit. Understanding this current state is critical, because it highlights both the urgency and the opportunity for a more intentional, inclusive AI strategy.</a:t>
            </a:r>
          </a:p>
        </p:txBody>
      </p:sp>
      <p:sp>
        <p:nvSpPr>
          <p:cNvPr id="4" name="Slide Number Placeholder 3"/>
          <p:cNvSpPr>
            <a:spLocks noGrp="1"/>
          </p:cNvSpPr>
          <p:nvPr>
            <p:ph type="sldNum" sz="quarter" idx="5"/>
          </p:nvPr>
        </p:nvSpPr>
        <p:spPr/>
        <p:txBody>
          <a:bodyPr/>
          <a:lstStyle/>
          <a:p>
            <a:fld id="{C370A960-B4E4-4900-8770-80ACAC0CF8F1}" type="slidenum">
              <a:t>2</a:t>
            </a:fld>
            <a:endParaRPr lang="en-US"/>
          </a:p>
        </p:txBody>
      </p:sp>
    </p:spTree>
    <p:extLst>
      <p:ext uri="{BB962C8B-B14F-4D97-AF65-F5344CB8AC3E}">
        <p14:creationId xmlns:p14="http://schemas.microsoft.com/office/powerpoint/2010/main" val="853111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opportunity in front of us is not simply to increase AI usage, but to use AI deliberately to elevate how we work together, the standards we uphold, and the value we deliver to end users. At its best, AI can act as a force multiplier that helps close skill gaps, reduce friction, and bring clarity to complex work. One of the most immediate opportunities is establishing better shared standards. AI can help us define, document, and reinforce what “good” looks like by generating examples, templates, checklists, and quality bars that everyone can reference and build from.
AI also presents a powerful opportunity to ease workflows and reduce unnecessary cognitive load. Many tasks the team performs are repetitive, administrative, or require reworking content multiple times. These are ideal candidates for AI assistance, freeing up time and energy for higher-value thinking, collaboration, and problem solving. In addition, AI can be used as a built-in audit and quality assurance layer. By reviewing drafts, checking for clarity or alignment with objectives, and highlighting gaps, AI can help us improve outputs before they ever reach stakeholders or end users.
Another critical opportunity lies in designing more end-user–focused programs. AI can help us step out of internal assumptions and more consistently view our work through the lens of the people we serve. By simulating user perspectives, summarizing feedback, and stress-testing messaging or program design against user needs, AI becomes a practical tool for empathy and clarity, not just efficiency. Finally, AI can be a unifying capability for the team if positioned correctly. When shared tools, language, and practices are adopted, AI becomes a collaboration enabler rather than a divider, helping us move from individual excellence to collective impact.</a:t>
            </a:r>
          </a:p>
        </p:txBody>
      </p:sp>
      <p:sp>
        <p:nvSpPr>
          <p:cNvPr id="4" name="Slide Number Placeholder 3"/>
          <p:cNvSpPr>
            <a:spLocks noGrp="1"/>
          </p:cNvSpPr>
          <p:nvPr>
            <p:ph type="sldNum" sz="quarter" idx="5"/>
          </p:nvPr>
        </p:nvSpPr>
        <p:spPr/>
        <p:txBody>
          <a:bodyPr/>
          <a:lstStyle/>
          <a:p>
            <a:fld id="{C370A960-B4E4-4900-8770-80ACAC0CF8F1}" type="slidenum">
              <a:t>3</a:t>
            </a:fld>
            <a:endParaRPr lang="en-US"/>
          </a:p>
        </p:txBody>
      </p:sp>
    </p:spTree>
    <p:extLst>
      <p:ext uri="{BB962C8B-B14F-4D97-AF65-F5344CB8AC3E}">
        <p14:creationId xmlns:p14="http://schemas.microsoft.com/office/powerpoint/2010/main" val="714659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Successfully implementing AI across the team requires a phased, human-centered approach that meets people where they are while creating momentum toward more advanced use. Phase one focuses on baseline alignment and psychological safety. This includes clear guidance on approved tools, responsible use, and simple, role-relevant examples that demonstrate immediate value. The goal is not mastery, but comfort and clarity. Shared norms should be established, such as when to use AI, how to reference it in work, and how outputs should be reviewed.
Phase two emphasizes shared use cases and standardization. During this phase, the team collaboratively defines priority workflows and deliverables where AI can make a meaningful difference. Templates, example prompts, and “before and after” artifacts are introduced to show what good looks like. Importantly, this phase encourages knowledge sharing through short demos, peer examples, and lightweight communities of practice, directly addressing the risk of information hoarding.
Phase three unlocks advanced capability and sustained adoption. Advanced users are encouraged to build more sophisticated workflows and act as peer coaches, not gatekeepers. AI becomes embedded into the team’s operating rhythm, supporting planning, execution, review, and iteration. Throughout all phases, communication reinforces that change is expected, learning is supported, and improvement is continuous. This roadmap balances speed with inclusivity, ensuring that AI adoption strengthens the team rather than fragmenting it.</a:t>
            </a:r>
          </a:p>
        </p:txBody>
      </p:sp>
      <p:sp>
        <p:nvSpPr>
          <p:cNvPr id="4" name="Slide Number Placeholder 3"/>
          <p:cNvSpPr>
            <a:spLocks noGrp="1"/>
          </p:cNvSpPr>
          <p:nvPr>
            <p:ph type="sldNum" sz="quarter" idx="5"/>
          </p:nvPr>
        </p:nvSpPr>
        <p:spPr/>
        <p:txBody>
          <a:bodyPr/>
          <a:lstStyle/>
          <a:p>
            <a:fld id="{C370A960-B4E4-4900-8770-80ACAC0CF8F1}" type="slidenum">
              <a:t>5</a:t>
            </a:fld>
            <a:endParaRPr lang="en-US"/>
          </a:p>
        </p:txBody>
      </p:sp>
    </p:spTree>
    <p:extLst>
      <p:ext uri="{BB962C8B-B14F-4D97-AF65-F5344CB8AC3E}">
        <p14:creationId xmlns:p14="http://schemas.microsoft.com/office/powerpoint/2010/main" val="3025223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While the benefits of AI adoption are significant, there are real and human risks that must be acknowledged and proactively mitigated. One major risk is resistance to change, particularly from individuals who are comfortable with existing ways of working or who perceive AI as a threat rather than a support. This can be mitigated through clear messaging that positions AI as an assistant, not a replacement, and by emphasizing practical, time-saving use cases.
Another risk is information hoarding, where advanced users accumulate knowledge and advantage without sharing it. To counter this, the team must intentionally reward knowledge sharing through recognition, visibility, and expectations that learning is communal. Similarly, there is a risk of uneven adoption creating new silos, where some work becomes AI-enabled and other work does not. Standardized workflows, shared templates, and minimum expectations help reduce this fragmentation.
There is also a collaboration risk if AI is used to optimize individual output at the expense of shared understanding. This is mitigated by designing AI practices that explicitly support team alignment, such as shared reviews, collective planning prompts, and common quality checks. By openly addressing these risks and embedding mitigations into the strategy, AI adoption becomes a stabilizing force rather than a destabilizing one.</a:t>
            </a:r>
          </a:p>
        </p:txBody>
      </p:sp>
      <p:sp>
        <p:nvSpPr>
          <p:cNvPr id="4" name="Slide Number Placeholder 3"/>
          <p:cNvSpPr>
            <a:spLocks noGrp="1"/>
          </p:cNvSpPr>
          <p:nvPr>
            <p:ph type="sldNum" sz="quarter" idx="5"/>
          </p:nvPr>
        </p:nvSpPr>
        <p:spPr/>
        <p:txBody>
          <a:bodyPr/>
          <a:lstStyle/>
          <a:p>
            <a:fld id="{C370A960-B4E4-4900-8770-80ACAC0CF8F1}" type="slidenum">
              <a:t>6</a:t>
            </a:fld>
            <a:endParaRPr lang="en-US"/>
          </a:p>
        </p:txBody>
      </p:sp>
    </p:spTree>
    <p:extLst>
      <p:ext uri="{BB962C8B-B14F-4D97-AF65-F5344CB8AC3E}">
        <p14:creationId xmlns:p14="http://schemas.microsoft.com/office/powerpoint/2010/main" val="904087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Measuring success is essential to ensuring that AI adoption delivers real value rather than superficial activity. Success metrics should balance adoption, efficiency, quality, and collaboration. At a foundational level, adoption metrics track how many team members are actively using approved AI tools and for which core use cases. This provides visibility into reach and highlights where additional support may be needed.
Efficiency metrics focus on time saved or effort reduced in key workflows. Examples include faster turnaround times, fewer revision cycles, or reduced manual handoffs. These metrics help demonstrate tangible value, particularly to those who may be skeptical. Quality and clarity metrics are equally important and can include improved stakeholder feedback, fewer errors, clearer documentation, or better alignment to objectives as assessed through AI-assisted reviews.
Finally, collaboration and culture metrics assess whether AI is strengthening the team rather than isolating individuals. Signals include increased sharing of prompts and templates, more consistent outputs across contributors, and improved cross-team alignment. Qualitative feedback, such as confidence in outputs or perceived clarity of expectations, rounds out the picture. Together, these metrics ensure that AI success is defined not just by usage, but by improved outcomes and a stronger, more unified team.</a:t>
            </a:r>
          </a:p>
        </p:txBody>
      </p:sp>
      <p:sp>
        <p:nvSpPr>
          <p:cNvPr id="4" name="Slide Number Placeholder 3"/>
          <p:cNvSpPr>
            <a:spLocks noGrp="1"/>
          </p:cNvSpPr>
          <p:nvPr>
            <p:ph type="sldNum" sz="quarter" idx="5"/>
          </p:nvPr>
        </p:nvSpPr>
        <p:spPr/>
        <p:txBody>
          <a:bodyPr/>
          <a:lstStyle/>
          <a:p>
            <a:fld id="{C370A960-B4E4-4900-8770-80ACAC0CF8F1}" type="slidenum">
              <a:t>7</a:t>
            </a:fld>
            <a:endParaRPr lang="en-US"/>
          </a:p>
        </p:txBody>
      </p:sp>
    </p:spTree>
    <p:extLst>
      <p:ext uri="{BB962C8B-B14F-4D97-AF65-F5344CB8AC3E}">
        <p14:creationId xmlns:p14="http://schemas.microsoft.com/office/powerpoint/2010/main" val="4244279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782327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765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036569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104844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4972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029634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789749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4/3/2026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27043280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4/3/2026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121143536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4/3/2026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1178838838"/>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056137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673226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4/3/2026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309132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4/3/2026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6613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4/3/2026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697617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4/3/2026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1221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4/3/2026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45147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4/3/2026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Tree>
    <p:extLst>
      <p:ext uri="{BB962C8B-B14F-4D97-AF65-F5344CB8AC3E}">
        <p14:creationId xmlns:p14="http://schemas.microsoft.com/office/powerpoint/2010/main" val="12367600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40682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5950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70707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1727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98687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154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93671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3992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5431386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669393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0966789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17362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0846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370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3312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3847283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31358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3860386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273977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655969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9142814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92871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7896376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52295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1950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4/3/2026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a:t>XX%</a:t>
            </a:r>
          </a:p>
        </p:txBody>
      </p:sp>
    </p:spTree>
    <p:extLst>
      <p:ext uri="{BB962C8B-B14F-4D97-AF65-F5344CB8AC3E}">
        <p14:creationId xmlns:p14="http://schemas.microsoft.com/office/powerpoint/2010/main" val="29245151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4/3/2026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a:t>##%</a:t>
            </a:r>
          </a:p>
        </p:txBody>
      </p:sp>
    </p:spTree>
    <p:extLst>
      <p:ext uri="{BB962C8B-B14F-4D97-AF65-F5344CB8AC3E}">
        <p14:creationId xmlns:p14="http://schemas.microsoft.com/office/powerpoint/2010/main" val="16708300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4/3/2026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a:t>##%</a:t>
            </a:r>
          </a:p>
        </p:txBody>
      </p:sp>
    </p:spTree>
    <p:extLst>
      <p:ext uri="{BB962C8B-B14F-4D97-AF65-F5344CB8AC3E}">
        <p14:creationId xmlns:p14="http://schemas.microsoft.com/office/powerpoint/2010/main" val="40019848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4/3/2026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38380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4/3/2026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22581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4/3/2026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07608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4/3/2026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67693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4/3/2026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2077533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4/3/2026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42333714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4/3/2026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932919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4/3/2026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4247976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4/3/2026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7678464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4/3/2026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78733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4/3/2026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39934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4/3/2026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09396474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4/3/2026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57916039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4/3/2026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470784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4/3/2026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14903961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687613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4/3/2026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336984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4/3/2026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069781782"/>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4C6AA-1DA7-0CE2-0067-3C3BA3E760BA}"/>
              </a:ext>
            </a:extLst>
          </p:cNvPr>
          <p:cNvSpPr>
            <a:spLocks noGrp="1"/>
          </p:cNvSpPr>
          <p:nvPr>
            <p:ph type="ctrTitle"/>
          </p:nvPr>
        </p:nvSpPr>
        <p:spPr>
          <a:xfrm>
            <a:off x="1776903" y="4822407"/>
            <a:ext cx="6925432" cy="1351342"/>
          </a:xfrm>
        </p:spPr>
        <p:txBody>
          <a:bodyPr anchor="t">
            <a:normAutofit/>
          </a:bodyPr>
          <a:lstStyle/>
          <a:p>
            <a:r>
              <a:rPr lang="en-US"/>
              <a:t>AI in Our Team – Strategy Deck</a:t>
            </a:r>
          </a:p>
        </p:txBody>
      </p:sp>
      <p:sp>
        <p:nvSpPr>
          <p:cNvPr id="3" name="Subtitle 2">
            <a:extLst>
              <a:ext uri="{FF2B5EF4-FFF2-40B4-BE49-F238E27FC236}">
                <a16:creationId xmlns:a16="http://schemas.microsoft.com/office/drawing/2014/main" id="{6DCF89D5-C165-1B50-A77C-36BA97AC50FD}"/>
              </a:ext>
            </a:extLst>
          </p:cNvPr>
          <p:cNvSpPr>
            <a:spLocks noGrp="1"/>
          </p:cNvSpPr>
          <p:nvPr>
            <p:ph type="subTitle" idx="1"/>
          </p:nvPr>
        </p:nvSpPr>
        <p:spPr>
          <a:xfrm>
            <a:off x="9235224" y="4822406"/>
            <a:ext cx="2724238" cy="1351342"/>
          </a:xfrm>
        </p:spPr>
        <p:txBody>
          <a:bodyPr anchor="t">
            <a:normAutofit/>
          </a:bodyPr>
          <a:lstStyle/>
          <a:p>
            <a:r>
              <a:rPr lang="en-US"/>
              <a:t>Innovative approaches to integrating artificial intelligence</a:t>
            </a:r>
          </a:p>
        </p:txBody>
      </p:sp>
      <p:pic>
        <p:nvPicPr>
          <p:cNvPr id="7" name="Picture 6" descr="A network of lines and dots background">
            <a:extLst>
              <a:ext uri="{FF2B5EF4-FFF2-40B4-BE49-F238E27FC236}">
                <a16:creationId xmlns:a16="http://schemas.microsoft.com/office/drawing/2014/main" id="{4C67CEFE-D9C5-457E-8BF3-D337D948BB70}"/>
              </a:ext>
            </a:extLst>
          </p:cNvPr>
          <p:cNvPicPr>
            <a:picLocks noChangeAspect="1"/>
          </p:cNvPicPr>
          <p:nvPr/>
        </p:nvPicPr>
        <p:blipFill>
          <a:blip r:embed="rId3"/>
          <a:srcRect t="15996" r="1" b="23909"/>
          <a:stretch>
            <a:fillRect/>
          </a:stretch>
        </p:blipFill>
        <p:spPr>
          <a:xfrm>
            <a:off x="1866900" y="10"/>
            <a:ext cx="10325100" cy="4653639"/>
          </a:xfrm>
          <a:prstGeom prst="rect">
            <a:avLst/>
          </a:prstGeom>
        </p:spPr>
      </p:pic>
      <p:sp>
        <p:nvSpPr>
          <p:cNvPr id="4" name="Footer Placeholder 3">
            <a:extLst>
              <a:ext uri="{FF2B5EF4-FFF2-40B4-BE49-F238E27FC236}">
                <a16:creationId xmlns:a16="http://schemas.microsoft.com/office/drawing/2014/main" id="{88621C66-68DD-35C1-5C81-AAAFC44E0292}"/>
              </a:ext>
            </a:extLst>
          </p:cNvPr>
          <p:cNvSpPr>
            <a:spLocks noGrp="1"/>
          </p:cNvSpPr>
          <p:nvPr>
            <p:ph type="ftr" sz="quarter" idx="11"/>
          </p:nvPr>
        </p:nvSpPr>
        <p:spPr>
          <a:xfrm>
            <a:off x="1776903" y="6447496"/>
            <a:ext cx="2140360"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5301F177-A33C-5516-9470-7A816F75E765}"/>
              </a:ext>
            </a:extLst>
          </p:cNvPr>
          <p:cNvSpPr>
            <a:spLocks noGrp="1"/>
          </p:cNvSpPr>
          <p:nvPr>
            <p:ph type="dt" sz="half" idx="10"/>
          </p:nvPr>
        </p:nvSpPr>
        <p:spPr>
          <a:xfrm>
            <a:off x="9235224" y="6451888"/>
            <a:ext cx="1581238" cy="338328"/>
          </a:xfrm>
        </p:spPr>
        <p:txBody>
          <a:bodyPr anchor="ctr">
            <a:normAutofit/>
          </a:bodyPr>
          <a:lstStyle/>
          <a:p>
            <a:pPr>
              <a:spcAft>
                <a:spcPts val="600"/>
              </a:spcAft>
            </a:pPr>
            <a:fld id="{21359139-99F8-4B6E-8834-95F2B9D91EE4}" type="datetime1">
              <a:rPr lang="en-US" smtClean="0"/>
              <a:pPr>
                <a:spcAft>
                  <a:spcPts val="600"/>
                </a:spcAft>
              </a:pPr>
              <a:t>4/3/2026</a:t>
            </a:fld>
            <a:endParaRPr lang="en-US"/>
          </a:p>
        </p:txBody>
      </p:sp>
      <p:sp>
        <p:nvSpPr>
          <p:cNvPr id="6" name="Slide Number Placeholder 5">
            <a:extLst>
              <a:ext uri="{FF2B5EF4-FFF2-40B4-BE49-F238E27FC236}">
                <a16:creationId xmlns:a16="http://schemas.microsoft.com/office/drawing/2014/main" id="{01255F11-55A9-F965-FA75-5EE0CD15F4F6}"/>
              </a:ext>
            </a:extLst>
          </p:cNvPr>
          <p:cNvSpPr>
            <a:spLocks noGrp="1"/>
          </p:cNvSpPr>
          <p:nvPr>
            <p:ph type="sldNum" sz="quarter" idx="12"/>
          </p:nvPr>
        </p:nvSpPr>
        <p:spPr>
          <a:xfrm>
            <a:off x="11480357" y="6451888"/>
            <a:ext cx="457200" cy="338328"/>
          </a:xfrm>
        </p:spPr>
        <p:txBody>
          <a:bodyPr anchor="ctr">
            <a:normAutofit/>
          </a:bodyPr>
          <a:lstStyle/>
          <a:p>
            <a:pPr>
              <a:spcAft>
                <a:spcPts val="600"/>
              </a:spcAft>
            </a:pPr>
            <a:fld id="{8E274F5D-21DC-40EF-8DBA-AB9BB119E939}" type="slidenum">
              <a:rPr lang="en-US" smtClean="0"/>
              <a:pPr>
                <a:spcAft>
                  <a:spcPts val="600"/>
                </a:spcAft>
              </a:pPr>
              <a:t>1</a:t>
            </a:fld>
            <a:endParaRPr lang="en-US"/>
          </a:p>
        </p:txBody>
      </p:sp>
    </p:spTree>
    <p:extLst>
      <p:ext uri="{BB962C8B-B14F-4D97-AF65-F5344CB8AC3E}">
        <p14:creationId xmlns:p14="http://schemas.microsoft.com/office/powerpoint/2010/main" val="349755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D5237-BA01-0E1F-A14F-F0916D8DBE39}"/>
              </a:ext>
            </a:extLst>
          </p:cNvPr>
          <p:cNvSpPr>
            <a:spLocks noGrp="1"/>
          </p:cNvSpPr>
          <p:nvPr>
            <p:ph type="title"/>
          </p:nvPr>
        </p:nvSpPr>
        <p:spPr>
          <a:xfrm>
            <a:off x="419100" y="4607626"/>
            <a:ext cx="4419600" cy="1640774"/>
          </a:xfrm>
        </p:spPr>
        <p:txBody>
          <a:bodyPr anchor="t">
            <a:normAutofit/>
          </a:bodyPr>
          <a:lstStyle/>
          <a:p>
            <a:r>
              <a:rPr lang="en-US"/>
              <a:t>Current State</a:t>
            </a:r>
          </a:p>
        </p:txBody>
      </p:sp>
      <p:pic>
        <p:nvPicPr>
          <p:cNvPr id="8" name="Content Placeholder 7" descr="instant team going to work together as  perfect machine they could be unkown to each other but the know their role and their job and work together like a well oiled machine. in which each member is a essential gear">
            <a:extLst>
              <a:ext uri="{FF2B5EF4-FFF2-40B4-BE49-F238E27FC236}">
                <a16:creationId xmlns:a16="http://schemas.microsoft.com/office/drawing/2014/main" id="{9C1D0F1E-7B0F-4237-A2A1-57E86BE55EF5}"/>
              </a:ext>
            </a:extLst>
          </p:cNvPr>
          <p:cNvPicPr>
            <a:picLocks noGrp="1" noChangeAspect="1"/>
          </p:cNvPicPr>
          <p:nvPr>
            <p:ph type="pic" sz="quarter" idx="15"/>
          </p:nvPr>
        </p:nvPicPr>
        <p:blipFill>
          <a:blip r:embed="rId3"/>
          <a:stretch/>
        </p:blipFill>
        <p:spPr>
          <a:xfrm>
            <a:off x="376424" y="0"/>
            <a:ext cx="4087765" cy="4214191"/>
          </a:xfrm>
        </p:spPr>
      </p:pic>
      <p:sp>
        <p:nvSpPr>
          <p:cNvPr id="3" name="Footer Placeholder 2">
            <a:extLst>
              <a:ext uri="{FF2B5EF4-FFF2-40B4-BE49-F238E27FC236}">
                <a16:creationId xmlns:a16="http://schemas.microsoft.com/office/drawing/2014/main" id="{73F7BFE9-FE3A-FB5B-81E1-A6641D84354C}"/>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A8D31E2C-853F-CF24-262A-1CC8EA26CEFC}"/>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7B00D539-5ACE-62AF-2D80-9567E093B696}"/>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2</a:t>
            </a:fld>
            <a:endParaRPr lang="en-US"/>
          </a:p>
        </p:txBody>
      </p:sp>
      <p:sp>
        <p:nvSpPr>
          <p:cNvPr id="7" name="Content Placeholder 6">
            <a:extLst>
              <a:ext uri="{FF2B5EF4-FFF2-40B4-BE49-F238E27FC236}">
                <a16:creationId xmlns:a16="http://schemas.microsoft.com/office/drawing/2014/main" id="{7733DA79-5D37-C677-D09E-EA0944FE71D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Varied AI Adoption Levels</a:t>
            </a:r>
          </a:p>
          <a:p>
            <a:pPr marL="0" lvl="1" indent="0">
              <a:buFont typeface="Arial" panose="020B0604020202020204" pitchFamily="34" charset="0"/>
              <a:buNone/>
            </a:pPr>
            <a:r>
              <a:t>Team members exhibit wide-ranging AI usage, from advanced daily use to uncertainty and resistance.</a:t>
            </a:r>
            <a:endParaRPr lang="en-US"/>
          </a:p>
          <a:p>
            <a:pPr marL="0" indent="0">
              <a:spcBef>
                <a:spcPts val="2500"/>
              </a:spcBef>
              <a:buFont typeface="Arial" panose="020B0604020202020204" pitchFamily="34" charset="0"/>
              <a:buNone/>
            </a:pPr>
            <a:r>
              <a:rPr lang="en-US" b="1"/>
              <a:t>Fragmented Usage Patterns</a:t>
            </a:r>
          </a:p>
          <a:p>
            <a:pPr marL="0" lvl="1" indent="0">
              <a:buFont typeface="Arial" panose="020B0604020202020204" pitchFamily="34" charset="0"/>
              <a:buNone/>
            </a:pPr>
            <a:r>
              <a:t>AI use is inconsistent and dependent on individual initiative without shared standards or alignment.</a:t>
            </a:r>
            <a:endParaRPr lang="en-US"/>
          </a:p>
          <a:p>
            <a:pPr marL="0" indent="0">
              <a:spcBef>
                <a:spcPts val="2500"/>
              </a:spcBef>
              <a:buFont typeface="Arial" panose="020B0604020202020204" pitchFamily="34" charset="0"/>
              <a:buNone/>
            </a:pPr>
            <a:r>
              <a:rPr lang="en-US" b="1"/>
              <a:t>Challenges from Uneven Adoption</a:t>
            </a:r>
          </a:p>
          <a:p>
            <a:pPr marL="0" lvl="1" indent="0">
              <a:buFont typeface="Arial" panose="020B0604020202020204" pitchFamily="34" charset="0"/>
              <a:buNone/>
            </a:pPr>
            <a:r>
              <a:t>Uneven AI adoption causes inconsistent outputs, knowledge silos, and collaboration difficulties.</a:t>
            </a:r>
            <a:endParaRPr lang="en-US"/>
          </a:p>
          <a:p>
            <a:pPr marL="0" indent="0">
              <a:spcBef>
                <a:spcPts val="2500"/>
              </a:spcBef>
              <a:buFont typeface="Arial" panose="020B0604020202020204" pitchFamily="34" charset="0"/>
              <a:buNone/>
            </a:pPr>
            <a:r>
              <a:rPr lang="en-US" b="1"/>
              <a:t>Opportunity for Inclusive Strategy</a:t>
            </a:r>
          </a:p>
          <a:p>
            <a:pPr marL="0" lvl="1" indent="0">
              <a:buFont typeface="Arial" panose="020B0604020202020204" pitchFamily="34" charset="0"/>
              <a:buNone/>
            </a:pPr>
            <a:r>
              <a:t>Recognizing current gaps highlights the need for a unified, intentional AI adoption strategy.</a:t>
            </a:r>
            <a:endParaRPr lang="en-US"/>
          </a:p>
        </p:txBody>
      </p:sp>
    </p:spTree>
    <p:extLst>
      <p:ext uri="{BB962C8B-B14F-4D97-AF65-F5344CB8AC3E}">
        <p14:creationId xmlns:p14="http://schemas.microsoft.com/office/powerpoint/2010/main" val="15606855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CC3D6-D576-C7FA-84A2-354B9C0E7105}"/>
              </a:ext>
            </a:extLst>
          </p:cNvPr>
          <p:cNvSpPr>
            <a:spLocks noGrp="1"/>
          </p:cNvSpPr>
          <p:nvPr>
            <p:ph type="title"/>
          </p:nvPr>
        </p:nvSpPr>
        <p:spPr>
          <a:xfrm>
            <a:off x="419100" y="4607626"/>
            <a:ext cx="4419600" cy="1640774"/>
          </a:xfrm>
        </p:spPr>
        <p:txBody>
          <a:bodyPr anchor="t">
            <a:normAutofit/>
          </a:bodyPr>
          <a:lstStyle/>
          <a:p>
            <a:r>
              <a:rPr lang="en-US"/>
              <a:t>AI Opportunity</a:t>
            </a:r>
          </a:p>
        </p:txBody>
      </p:sp>
      <p:pic>
        <p:nvPicPr>
          <p:cNvPr id="8" name="Content Placeholder 7" descr="Shot of employees during a brainstorming session in a creative officehttp://195.154.178.81/DATA/i_collage/pu/shoots/785471.jpg">
            <a:extLst>
              <a:ext uri="{FF2B5EF4-FFF2-40B4-BE49-F238E27FC236}">
                <a16:creationId xmlns:a16="http://schemas.microsoft.com/office/drawing/2014/main" id="{E8234FA8-96B3-4B9E-8F8D-8BBB5E145CEB}"/>
              </a:ext>
            </a:extLst>
          </p:cNvPr>
          <p:cNvPicPr>
            <a:picLocks noGrp="1" noChangeAspect="1"/>
          </p:cNvPicPr>
          <p:nvPr>
            <p:ph type="pic" sz="quarter" idx="15"/>
          </p:nvPr>
        </p:nvPicPr>
        <p:blipFill>
          <a:blip r:embed="rId3"/>
          <a:srcRect l="14112" r="14156" b="2"/>
          <a:stretch>
            <a:fillRect/>
          </a:stretch>
        </p:blipFill>
        <p:spPr>
          <a:xfrm>
            <a:off x="1914" y="10"/>
            <a:ext cx="4836786" cy="4214181"/>
          </a:xfrm>
        </p:spPr>
      </p:pic>
      <p:sp>
        <p:nvSpPr>
          <p:cNvPr id="3" name="Footer Placeholder 2">
            <a:extLst>
              <a:ext uri="{FF2B5EF4-FFF2-40B4-BE49-F238E27FC236}">
                <a16:creationId xmlns:a16="http://schemas.microsoft.com/office/drawing/2014/main" id="{43931314-931B-3B6A-7ED6-445BBE2B25B3}"/>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9893D82B-269C-99B5-5C27-86B1E7C27BAB}"/>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679FF482-78FF-3EC7-25CC-0F72DFB0E9EE}"/>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3</a:t>
            </a:fld>
            <a:endParaRPr lang="en-US"/>
          </a:p>
        </p:txBody>
      </p:sp>
      <p:sp>
        <p:nvSpPr>
          <p:cNvPr id="7" name="Content Placeholder 6">
            <a:extLst>
              <a:ext uri="{FF2B5EF4-FFF2-40B4-BE49-F238E27FC236}">
                <a16:creationId xmlns:a16="http://schemas.microsoft.com/office/drawing/2014/main" id="{A17333FA-5A0D-7A7E-E644-001A4276213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Elevating Collaboration Standards</a:t>
            </a:r>
          </a:p>
          <a:p>
            <a:pPr marL="0" lvl="1" indent="0">
              <a:buFont typeface="Arial" panose="020B0604020202020204" pitchFamily="34" charset="0"/>
              <a:buNone/>
            </a:pPr>
            <a:r>
              <a:t>AI helps define and reinforce shared standards through templates, checklists, and quality benchmarks.</a:t>
            </a:r>
            <a:endParaRPr lang="en-US"/>
          </a:p>
          <a:p>
            <a:pPr marL="0" indent="0">
              <a:spcBef>
                <a:spcPts val="2500"/>
              </a:spcBef>
              <a:buFont typeface="Arial" panose="020B0604020202020204" pitchFamily="34" charset="0"/>
              <a:buNone/>
            </a:pPr>
            <a:r>
              <a:rPr lang="en-US" b="1"/>
              <a:t>Reducing Cognitive Load</a:t>
            </a:r>
          </a:p>
          <a:p>
            <a:pPr marL="0" lvl="1" indent="0">
              <a:buFont typeface="Arial" panose="020B0604020202020204" pitchFamily="34" charset="0"/>
              <a:buNone/>
            </a:pPr>
            <a:r>
              <a:t>AI automates repetitive tasks, freeing up time for higher-value thinking and problem solving.</a:t>
            </a:r>
            <a:endParaRPr lang="en-US"/>
          </a:p>
          <a:p>
            <a:pPr marL="0" indent="0">
              <a:spcBef>
                <a:spcPts val="2500"/>
              </a:spcBef>
              <a:buFont typeface="Arial" panose="020B0604020202020204" pitchFamily="34" charset="0"/>
              <a:buNone/>
            </a:pPr>
            <a:r>
              <a:rPr lang="en-US" b="1"/>
              <a:t>User-Centered Program Design</a:t>
            </a:r>
          </a:p>
          <a:p>
            <a:pPr marL="0" lvl="1" indent="0">
              <a:buFont typeface="Arial" panose="020B0604020202020204" pitchFamily="34" charset="0"/>
              <a:buNone/>
            </a:pPr>
            <a:r>
              <a:t>AI simulates user perspectives to improve empathy, feedback analysis, and program clarity.</a:t>
            </a:r>
            <a:endParaRPr lang="en-US"/>
          </a:p>
          <a:p>
            <a:pPr marL="0" indent="0">
              <a:spcBef>
                <a:spcPts val="2500"/>
              </a:spcBef>
              <a:buFont typeface="Arial" panose="020B0604020202020204" pitchFamily="34" charset="0"/>
              <a:buNone/>
            </a:pPr>
            <a:r>
              <a:rPr lang="en-US" b="1"/>
              <a:t>Unifying Team Collaboration</a:t>
            </a:r>
          </a:p>
          <a:p>
            <a:pPr marL="0" lvl="1" indent="0">
              <a:buFont typeface="Arial" panose="020B0604020202020204" pitchFamily="34" charset="0"/>
              <a:buNone/>
            </a:pPr>
            <a:r>
              <a:t>Shared AI tools and practices enable collective impact, transforming individual efforts into team success.</a:t>
            </a:r>
            <a:endParaRPr lang="en-US"/>
          </a:p>
        </p:txBody>
      </p:sp>
    </p:spTree>
    <p:extLst>
      <p:ext uri="{BB962C8B-B14F-4D97-AF65-F5344CB8AC3E}">
        <p14:creationId xmlns:p14="http://schemas.microsoft.com/office/powerpoint/2010/main" val="12616260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23CC6A-5A9E-4CBB-F381-8AB74FFB9924}"/>
              </a:ext>
            </a:extLst>
          </p:cNvPr>
          <p:cNvSpPr>
            <a:spLocks noGrp="1"/>
          </p:cNvSpPr>
          <p:nvPr>
            <p:ph type="title"/>
          </p:nvPr>
        </p:nvSpPr>
        <p:spPr/>
        <p:txBody>
          <a:bodyPr/>
          <a:lstStyle/>
          <a:p>
            <a:r>
              <a:rPr lang="en-US" dirty="0"/>
              <a:t>Recommended Tools &amp; Use Cases</a:t>
            </a:r>
          </a:p>
        </p:txBody>
      </p:sp>
      <p:sp>
        <p:nvSpPr>
          <p:cNvPr id="3" name="Footer Placeholder 2">
            <a:extLst>
              <a:ext uri="{FF2B5EF4-FFF2-40B4-BE49-F238E27FC236}">
                <a16:creationId xmlns:a16="http://schemas.microsoft.com/office/drawing/2014/main" id="{CCF862CF-63B3-55DC-749A-32ECC927B1F0}"/>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4886AE5-B780-FCCE-ED82-7FEAAD34E368}"/>
              </a:ext>
            </a:extLst>
          </p:cNvPr>
          <p:cNvSpPr>
            <a:spLocks noGrp="1"/>
          </p:cNvSpPr>
          <p:nvPr>
            <p:ph type="dt" sz="half" idx="10"/>
          </p:nvPr>
        </p:nvSpPr>
        <p:spPr/>
        <p:txBody>
          <a:bodyPr/>
          <a:lstStyle/>
          <a:p>
            <a:fld id="{990D2F5B-FA0B-4BE5-A43F-B1BC737359C6}" type="datetime1">
              <a:rPr lang="en-US" smtClean="0"/>
              <a:t>4/3/2026</a:t>
            </a:fld>
            <a:endParaRPr lang="en-US"/>
          </a:p>
        </p:txBody>
      </p:sp>
      <p:sp>
        <p:nvSpPr>
          <p:cNvPr id="5" name="Slide Number Placeholder 4">
            <a:extLst>
              <a:ext uri="{FF2B5EF4-FFF2-40B4-BE49-F238E27FC236}">
                <a16:creationId xmlns:a16="http://schemas.microsoft.com/office/drawing/2014/main" id="{55F65978-41D3-EB92-9038-C35AC209E81D}"/>
              </a:ext>
            </a:extLst>
          </p:cNvPr>
          <p:cNvSpPr>
            <a:spLocks noGrp="1"/>
          </p:cNvSpPr>
          <p:nvPr>
            <p:ph type="sldNum" sz="quarter" idx="12"/>
          </p:nvPr>
        </p:nvSpPr>
        <p:spPr/>
        <p:txBody>
          <a:bodyPr/>
          <a:lstStyle/>
          <a:p>
            <a:fld id="{8E274F5D-21DC-40EF-8DBA-AB9BB119E939}" type="slidenum">
              <a:rPr lang="en-US" smtClean="0"/>
              <a:t>4</a:t>
            </a:fld>
            <a:endParaRPr lang="en-US"/>
          </a:p>
        </p:txBody>
      </p:sp>
      <p:sp>
        <p:nvSpPr>
          <p:cNvPr id="9" name="Text Placeholder 8">
            <a:extLst>
              <a:ext uri="{FF2B5EF4-FFF2-40B4-BE49-F238E27FC236}">
                <a16:creationId xmlns:a16="http://schemas.microsoft.com/office/drawing/2014/main" id="{B3FC1910-9353-0671-792E-03C15F48105C}"/>
              </a:ext>
            </a:extLst>
          </p:cNvPr>
          <p:cNvSpPr>
            <a:spLocks noGrp="1"/>
          </p:cNvSpPr>
          <p:nvPr>
            <p:ph type="body" idx="1"/>
          </p:nvPr>
        </p:nvSpPr>
        <p:spPr>
          <a:xfrm>
            <a:off x="418655" y="1675614"/>
            <a:ext cx="3741454" cy="559834"/>
          </a:xfrm>
        </p:spPr>
        <p:txBody>
          <a:bodyPr anchor="t">
            <a:noAutofit/>
          </a:bodyPr>
          <a:lstStyle/>
          <a:p>
            <a:pPr algn="ctr"/>
            <a:r>
              <a:rPr lang="it-IT" sz="1500" dirty="0"/>
              <a:t>Generative AI Assistants</a:t>
            </a:r>
          </a:p>
          <a:p>
            <a:pPr algn="ctr"/>
            <a:r>
              <a:rPr lang="it-IT" sz="1500" dirty="0"/>
              <a:t>Think • Draft • Improve</a:t>
            </a:r>
            <a:endParaRPr lang="en-US" sz="1500" dirty="0"/>
          </a:p>
        </p:txBody>
      </p:sp>
      <p:sp>
        <p:nvSpPr>
          <p:cNvPr id="11" name="Content Placeholder 10">
            <a:extLst>
              <a:ext uri="{FF2B5EF4-FFF2-40B4-BE49-F238E27FC236}">
                <a16:creationId xmlns:a16="http://schemas.microsoft.com/office/drawing/2014/main" id="{F56D2C56-7475-E046-0909-CB8B50C7B178}"/>
              </a:ext>
            </a:extLst>
          </p:cNvPr>
          <p:cNvSpPr>
            <a:spLocks noGrp="1"/>
          </p:cNvSpPr>
          <p:nvPr>
            <p:ph sz="quarter" idx="15"/>
          </p:nvPr>
        </p:nvSpPr>
        <p:spPr>
          <a:xfrm>
            <a:off x="431801" y="2429276"/>
            <a:ext cx="3741454" cy="3819124"/>
          </a:xfrm>
        </p:spPr>
        <p:txBody>
          <a:bodyPr>
            <a:normAutofit/>
          </a:bodyPr>
          <a:lstStyle/>
          <a:p>
            <a:pPr marL="285750" indent="-285750">
              <a:buFont typeface="Arial" panose="020B0604020202020204" pitchFamily="34" charset="0"/>
              <a:buChar char="•"/>
            </a:pPr>
            <a:r>
              <a:rPr lang="en-US" sz="1600" dirty="0"/>
              <a:t>M365 Copilot / Copilot Chat / ChatGPT (approved)</a:t>
            </a:r>
          </a:p>
          <a:p>
            <a:pPr marL="285750" indent="-285750">
              <a:buFont typeface="Arial" panose="020B0604020202020204" pitchFamily="34" charset="0"/>
              <a:buChar char="•"/>
            </a:pPr>
            <a:r>
              <a:rPr lang="en-US" sz="1600" dirty="0"/>
              <a:t>Draft first versions, summarize content, improve clarity and tone</a:t>
            </a:r>
          </a:p>
          <a:p>
            <a:pPr marL="285750" indent="-285750">
              <a:buFont typeface="Arial" panose="020B0604020202020204" pitchFamily="34" charset="0"/>
              <a:buChar char="•"/>
            </a:pPr>
            <a:r>
              <a:rPr lang="en-US" sz="1600" dirty="0"/>
              <a:t>Use iteratively; human review is always required</a:t>
            </a:r>
          </a:p>
        </p:txBody>
      </p:sp>
      <p:sp>
        <p:nvSpPr>
          <p:cNvPr id="10" name="Text Placeholder 9">
            <a:extLst>
              <a:ext uri="{FF2B5EF4-FFF2-40B4-BE49-F238E27FC236}">
                <a16:creationId xmlns:a16="http://schemas.microsoft.com/office/drawing/2014/main" id="{B4613C12-7ED1-F8C7-6D7E-FB4C0CDB1B03}"/>
              </a:ext>
            </a:extLst>
          </p:cNvPr>
          <p:cNvSpPr>
            <a:spLocks noGrp="1"/>
          </p:cNvSpPr>
          <p:nvPr>
            <p:ph type="body" sz="quarter" idx="3"/>
          </p:nvPr>
        </p:nvSpPr>
        <p:spPr>
          <a:xfrm>
            <a:off x="4224850" y="1675614"/>
            <a:ext cx="3741453" cy="704088"/>
          </a:xfrm>
        </p:spPr>
        <p:txBody>
          <a:bodyPr anchor="t">
            <a:noAutofit/>
          </a:bodyPr>
          <a:lstStyle/>
          <a:p>
            <a:pPr algn="ctr"/>
            <a:r>
              <a:rPr lang="en-US" sz="1500" dirty="0"/>
              <a:t>Workflow Automation &amp; AI</a:t>
            </a:r>
          </a:p>
          <a:p>
            <a:pPr algn="ctr"/>
            <a:r>
              <a:rPr lang="en-US" sz="1500" dirty="0"/>
              <a:t>Standardize • Scale • Reduce Friction</a:t>
            </a:r>
          </a:p>
        </p:txBody>
      </p:sp>
      <p:sp>
        <p:nvSpPr>
          <p:cNvPr id="12" name="Content Placeholder 11">
            <a:extLst>
              <a:ext uri="{FF2B5EF4-FFF2-40B4-BE49-F238E27FC236}">
                <a16:creationId xmlns:a16="http://schemas.microsoft.com/office/drawing/2014/main" id="{53670E5A-8BC7-4A25-D781-6AF0532C465F}"/>
              </a:ext>
            </a:extLst>
          </p:cNvPr>
          <p:cNvSpPr>
            <a:spLocks noGrp="1"/>
          </p:cNvSpPr>
          <p:nvPr>
            <p:ph sz="quarter" idx="16"/>
          </p:nvPr>
        </p:nvSpPr>
        <p:spPr>
          <a:xfrm>
            <a:off x="4224850" y="2429276"/>
            <a:ext cx="3325353" cy="2897733"/>
          </a:xfrm>
        </p:spPr>
        <p:txBody>
          <a:bodyPr>
            <a:normAutofit/>
          </a:bodyPr>
          <a:lstStyle/>
          <a:p>
            <a:pPr marL="285750" indent="-285750">
              <a:buFont typeface="Arial" panose="020B0604020202020204" pitchFamily="34" charset="0"/>
              <a:buChar char="•"/>
            </a:pPr>
            <a:r>
              <a:rPr lang="en-US" sz="1600" dirty="0"/>
              <a:t>Power Automate (with Copilot), SharePoint, Loop</a:t>
            </a:r>
          </a:p>
          <a:p>
            <a:pPr marL="285750" indent="-285750">
              <a:buFont typeface="Arial" panose="020B0604020202020204" pitchFamily="34" charset="0"/>
              <a:buChar char="•"/>
            </a:pPr>
            <a:r>
              <a:rPr lang="en-US" sz="1600" dirty="0"/>
              <a:t>Automate repeatable tasks, intake flows, reviews, and reporting</a:t>
            </a:r>
          </a:p>
          <a:p>
            <a:pPr marL="285750" indent="-285750">
              <a:buFont typeface="Arial" panose="020B0604020202020204" pitchFamily="34" charset="0"/>
              <a:buChar char="•"/>
            </a:pPr>
            <a:r>
              <a:rPr lang="en-US" sz="1600" dirty="0"/>
              <a:t>Enable consistent processes without manual overhead</a:t>
            </a:r>
          </a:p>
        </p:txBody>
      </p:sp>
      <p:sp>
        <p:nvSpPr>
          <p:cNvPr id="19" name="TextBox 18">
            <a:extLst>
              <a:ext uri="{FF2B5EF4-FFF2-40B4-BE49-F238E27FC236}">
                <a16:creationId xmlns:a16="http://schemas.microsoft.com/office/drawing/2014/main" id="{F371024B-2BE2-F358-D9A2-F86F3C2ECB3D}"/>
              </a:ext>
            </a:extLst>
          </p:cNvPr>
          <p:cNvSpPr txBox="1"/>
          <p:nvPr/>
        </p:nvSpPr>
        <p:spPr>
          <a:xfrm>
            <a:off x="7966303" y="1685760"/>
            <a:ext cx="3325353" cy="784830"/>
          </a:xfrm>
          <a:prstGeom prst="rect">
            <a:avLst/>
          </a:prstGeom>
          <a:noFill/>
        </p:spPr>
        <p:txBody>
          <a:bodyPr wrap="square">
            <a:spAutoFit/>
          </a:bodyPr>
          <a:lstStyle/>
          <a:p>
            <a:pPr algn="ctr"/>
            <a:r>
              <a:rPr lang="en-US" sz="1500" b="1" cap="all" dirty="0"/>
              <a:t>AI Review &amp; Quality Checks </a:t>
            </a:r>
          </a:p>
          <a:p>
            <a:pPr algn="ctr"/>
            <a:r>
              <a:rPr lang="en-US" sz="1500" b="1" cap="all" dirty="0"/>
              <a:t>Align • Audit • Reduce Rework</a:t>
            </a:r>
          </a:p>
        </p:txBody>
      </p:sp>
      <p:sp>
        <p:nvSpPr>
          <p:cNvPr id="21" name="TextBox 20">
            <a:extLst>
              <a:ext uri="{FF2B5EF4-FFF2-40B4-BE49-F238E27FC236}">
                <a16:creationId xmlns:a16="http://schemas.microsoft.com/office/drawing/2014/main" id="{9C5DBBE4-28EF-7C1D-DE47-513CB091DA0A}"/>
              </a:ext>
            </a:extLst>
          </p:cNvPr>
          <p:cNvSpPr txBox="1"/>
          <p:nvPr/>
        </p:nvSpPr>
        <p:spPr>
          <a:xfrm>
            <a:off x="7680750" y="2470590"/>
            <a:ext cx="3649286" cy="2062103"/>
          </a:xfrm>
          <a:prstGeom prst="rect">
            <a:avLst/>
          </a:prstGeom>
          <a:noFill/>
        </p:spPr>
        <p:txBody>
          <a:bodyPr wrap="square">
            <a:spAutoFit/>
          </a:bodyPr>
          <a:lstStyle/>
          <a:p>
            <a:pPr marL="285750" indent="-285750">
              <a:buFont typeface="Arial" panose="020B0604020202020204" pitchFamily="34" charset="0"/>
              <a:buChar char="•"/>
            </a:pPr>
            <a:r>
              <a:rPr lang="en-US" sz="1600" dirty="0"/>
              <a:t>Copilot review flows, shared prompt templates</a:t>
            </a:r>
          </a:p>
          <a:p>
            <a:endParaRPr lang="en-US" sz="1600" dirty="0"/>
          </a:p>
          <a:p>
            <a:pPr marL="285750" indent="-285750">
              <a:buFont typeface="Arial" panose="020B0604020202020204" pitchFamily="34" charset="0"/>
              <a:buChar char="•"/>
            </a:pPr>
            <a:r>
              <a:rPr lang="en-US" sz="1600" dirty="0"/>
              <a:t>Check work against standards, audience needs, and risks</a:t>
            </a:r>
          </a:p>
          <a:p>
            <a:endParaRPr lang="en-US" sz="1600" dirty="0"/>
          </a:p>
          <a:p>
            <a:pPr marL="285750" indent="-285750">
              <a:buFont typeface="Arial" panose="020B0604020202020204" pitchFamily="34" charset="0"/>
              <a:buChar char="•"/>
            </a:pPr>
            <a:r>
              <a:rPr lang="en-US" sz="1600" dirty="0"/>
              <a:t>Promote consistency and shared expectations</a:t>
            </a:r>
          </a:p>
        </p:txBody>
      </p:sp>
    </p:spTree>
    <p:extLst>
      <p:ext uri="{BB962C8B-B14F-4D97-AF65-F5344CB8AC3E}">
        <p14:creationId xmlns:p14="http://schemas.microsoft.com/office/powerpoint/2010/main" val="103922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936FF-FA89-AC84-D849-E31E0E4757CC}"/>
              </a:ext>
            </a:extLst>
          </p:cNvPr>
          <p:cNvSpPr>
            <a:spLocks noGrp="1"/>
          </p:cNvSpPr>
          <p:nvPr>
            <p:ph type="title"/>
          </p:nvPr>
        </p:nvSpPr>
        <p:spPr>
          <a:xfrm>
            <a:off x="419100" y="4607626"/>
            <a:ext cx="4419600" cy="1640774"/>
          </a:xfrm>
        </p:spPr>
        <p:txBody>
          <a:bodyPr anchor="t">
            <a:normAutofit/>
          </a:bodyPr>
          <a:lstStyle/>
          <a:p>
            <a:r>
              <a:rPr lang="en-US" dirty="0"/>
              <a:t>Implementation Roadmap</a:t>
            </a:r>
          </a:p>
        </p:txBody>
      </p:sp>
      <p:pic>
        <p:nvPicPr>
          <p:cNvPr id="8" name="Content Placeholder 7" descr="Shot of a group of businesspeople brainstorming around a placardhttp://195.154.178.81/DATA/i_collage/pu/shoots/804768.jpg">
            <a:extLst>
              <a:ext uri="{FF2B5EF4-FFF2-40B4-BE49-F238E27FC236}">
                <a16:creationId xmlns:a16="http://schemas.microsoft.com/office/drawing/2014/main" id="{A17A5700-3061-4C69-A76C-D372F1FC96CA}"/>
              </a:ext>
            </a:extLst>
          </p:cNvPr>
          <p:cNvPicPr>
            <a:picLocks noGrp="1" noChangeAspect="1"/>
          </p:cNvPicPr>
          <p:nvPr>
            <p:ph type="pic" sz="quarter" idx="15"/>
          </p:nvPr>
        </p:nvPicPr>
        <p:blipFill>
          <a:blip r:embed="rId3"/>
          <a:srcRect l="486" r="22901" b="-3"/>
          <a:stretch>
            <a:fillRect/>
          </a:stretch>
        </p:blipFill>
        <p:spPr>
          <a:xfrm>
            <a:off x="1914" y="10"/>
            <a:ext cx="4836786" cy="4214181"/>
          </a:xfrm>
        </p:spPr>
      </p:pic>
      <p:sp>
        <p:nvSpPr>
          <p:cNvPr id="3" name="Footer Placeholder 2">
            <a:extLst>
              <a:ext uri="{FF2B5EF4-FFF2-40B4-BE49-F238E27FC236}">
                <a16:creationId xmlns:a16="http://schemas.microsoft.com/office/drawing/2014/main" id="{DCFF70E1-A426-4C96-6369-A316DFA7E2CC}"/>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C6AC40FB-949F-2292-500B-E522D6FBA890}"/>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F6803167-55A0-A280-B7CA-C7E3DDA0409C}"/>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93E08776-7727-BA55-661B-DD7759C3FA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dirty="0"/>
              <a:t>Phase One: Baseline Alignment</a:t>
            </a:r>
          </a:p>
          <a:p>
            <a:pPr marL="0" lvl="1" indent="0">
              <a:buFont typeface="Arial" panose="020B0604020202020204" pitchFamily="34" charset="0"/>
              <a:buNone/>
            </a:pPr>
            <a:r>
              <a:rPr dirty="0"/>
              <a:t>Focus on clear guidance for responsible AI use with simple, role-relevant examples.</a:t>
            </a:r>
            <a:endParaRPr lang="en-US" dirty="0"/>
          </a:p>
          <a:p>
            <a:pPr marL="0" indent="0">
              <a:spcBef>
                <a:spcPts val="2500"/>
              </a:spcBef>
              <a:buFont typeface="Arial" panose="020B0604020202020204" pitchFamily="34" charset="0"/>
              <a:buNone/>
            </a:pPr>
            <a:r>
              <a:rPr lang="en-US" b="1" dirty="0"/>
              <a:t>Phase Two: Shared Use Cases</a:t>
            </a:r>
          </a:p>
          <a:p>
            <a:pPr marL="0" lvl="1" indent="0">
              <a:buFont typeface="Arial" panose="020B0604020202020204" pitchFamily="34" charset="0"/>
              <a:buNone/>
            </a:pPr>
            <a:r>
              <a:rPr dirty="0"/>
              <a:t>Collaborate to define workflows for AI use, introducing templates and encouraging knowledge sharing via demos and peer examples.</a:t>
            </a:r>
            <a:endParaRPr lang="en-US" dirty="0"/>
          </a:p>
          <a:p>
            <a:pPr marL="0" indent="0">
              <a:spcBef>
                <a:spcPts val="2500"/>
              </a:spcBef>
              <a:buFont typeface="Arial" panose="020B0604020202020204" pitchFamily="34" charset="0"/>
              <a:buNone/>
            </a:pPr>
            <a:r>
              <a:rPr lang="en-US" b="1" dirty="0"/>
              <a:t>Phase Three: Advanced Adoption</a:t>
            </a:r>
          </a:p>
          <a:p>
            <a:pPr marL="0" lvl="1" indent="0">
              <a:buFont typeface="Arial" panose="020B0604020202020204" pitchFamily="34" charset="0"/>
              <a:buNone/>
            </a:pPr>
            <a:r>
              <a:rPr dirty="0"/>
              <a:t>Enable advanced users to build sophisticated workflows and embed AI into daily operations with peer coaching roles.</a:t>
            </a:r>
            <a:endParaRPr lang="en-US" dirty="0"/>
          </a:p>
        </p:txBody>
      </p:sp>
    </p:spTree>
    <p:extLst>
      <p:ext uri="{BB962C8B-B14F-4D97-AF65-F5344CB8AC3E}">
        <p14:creationId xmlns:p14="http://schemas.microsoft.com/office/powerpoint/2010/main" val="42515320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4CD5E-917E-B759-EB2C-CAEE84186DF2}"/>
              </a:ext>
            </a:extLst>
          </p:cNvPr>
          <p:cNvSpPr>
            <a:spLocks noGrp="1"/>
          </p:cNvSpPr>
          <p:nvPr>
            <p:ph type="title"/>
          </p:nvPr>
        </p:nvSpPr>
        <p:spPr>
          <a:xfrm>
            <a:off x="419100" y="4607626"/>
            <a:ext cx="4419600" cy="1640774"/>
          </a:xfrm>
        </p:spPr>
        <p:txBody>
          <a:bodyPr anchor="t">
            <a:normAutofit/>
          </a:bodyPr>
          <a:lstStyle/>
          <a:p>
            <a:r>
              <a:rPr lang="en-US"/>
              <a:t>Risks and Mitigations</a:t>
            </a:r>
          </a:p>
        </p:txBody>
      </p:sp>
      <p:pic>
        <p:nvPicPr>
          <p:cNvPr id="8" name="Content Placeholder 7"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51BF63AD-7A11-401D-860C-F6848A60DFE5}"/>
              </a:ext>
            </a:extLst>
          </p:cNvPr>
          <p:cNvPicPr>
            <a:picLocks noGrp="1" noChangeAspect="1"/>
          </p:cNvPicPr>
          <p:nvPr>
            <p:ph type="pic" sz="quarter" idx="15"/>
          </p:nvPr>
        </p:nvPicPr>
        <p:blipFill>
          <a:blip r:embed="rId3"/>
          <a:srcRect l="15223" r="8163" b="-3"/>
          <a:stretch>
            <a:fillRect/>
          </a:stretch>
        </p:blipFill>
        <p:spPr>
          <a:xfrm>
            <a:off x="1914" y="10"/>
            <a:ext cx="4836786" cy="4214181"/>
          </a:xfrm>
        </p:spPr>
      </p:pic>
      <p:sp>
        <p:nvSpPr>
          <p:cNvPr id="3" name="Footer Placeholder 2">
            <a:extLst>
              <a:ext uri="{FF2B5EF4-FFF2-40B4-BE49-F238E27FC236}">
                <a16:creationId xmlns:a16="http://schemas.microsoft.com/office/drawing/2014/main" id="{9D09F555-DDF2-EB60-F5CA-763351328BAD}"/>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E53BE937-8DA1-F754-AF26-550EBB7E6BB5}"/>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C642DE09-4764-7B28-B7FA-DCF3D1AF7553}"/>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6</a:t>
            </a:fld>
            <a:endParaRPr lang="en-US"/>
          </a:p>
        </p:txBody>
      </p:sp>
      <p:sp>
        <p:nvSpPr>
          <p:cNvPr id="7" name="Content Placeholder 6">
            <a:extLst>
              <a:ext uri="{FF2B5EF4-FFF2-40B4-BE49-F238E27FC236}">
                <a16:creationId xmlns:a16="http://schemas.microsoft.com/office/drawing/2014/main" id="{002E307E-6EEE-651A-1E80-75ECAD10452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dirty="0"/>
              <a:t>Resistance to Change</a:t>
            </a:r>
          </a:p>
          <a:p>
            <a:pPr marL="0" lvl="1" indent="0">
              <a:buFont typeface="Arial" panose="020B0604020202020204" pitchFamily="34" charset="0"/>
              <a:buNone/>
            </a:pPr>
            <a:r>
              <a:rPr dirty="0"/>
              <a:t>Resistance stems from comfort with old methods</a:t>
            </a:r>
            <a:r>
              <a:rPr lang="en-US" dirty="0"/>
              <a:t> of work, uncomfortableness with AI tools, and perhaps a fear of</a:t>
            </a:r>
            <a:r>
              <a:rPr dirty="0"/>
              <a:t> AI replacing jobs</a:t>
            </a:r>
            <a:r>
              <a:rPr lang="en-US" dirty="0"/>
              <a:t>; this can be </a:t>
            </a:r>
            <a:r>
              <a:rPr dirty="0"/>
              <a:t>mitigated by framing AI as an assistant</a:t>
            </a:r>
            <a:r>
              <a:rPr lang="en-US" dirty="0"/>
              <a:t>/tool</a:t>
            </a:r>
            <a:r>
              <a:rPr dirty="0"/>
              <a:t>.</a:t>
            </a:r>
            <a:endParaRPr lang="en-US" dirty="0"/>
          </a:p>
          <a:p>
            <a:pPr marL="0" indent="0">
              <a:spcBef>
                <a:spcPts val="2500"/>
              </a:spcBef>
              <a:buFont typeface="Arial" panose="020B0604020202020204" pitchFamily="34" charset="0"/>
              <a:buNone/>
            </a:pPr>
            <a:r>
              <a:rPr lang="en-US" b="1" dirty="0"/>
              <a:t>Information Hoarding</a:t>
            </a:r>
          </a:p>
          <a:p>
            <a:pPr marL="0" lvl="1" indent="0">
              <a:buFont typeface="Arial" panose="020B0604020202020204" pitchFamily="34" charset="0"/>
              <a:buNone/>
            </a:pPr>
            <a:r>
              <a:rPr dirty="0"/>
              <a:t>Knowledge hoarding by advanced users limits team growth; rewarding sharing and recognition promotes communal learning.</a:t>
            </a:r>
            <a:endParaRPr lang="en-US" dirty="0"/>
          </a:p>
          <a:p>
            <a:pPr marL="0" indent="0">
              <a:spcBef>
                <a:spcPts val="2500"/>
              </a:spcBef>
              <a:buFont typeface="Arial" panose="020B0604020202020204" pitchFamily="34" charset="0"/>
              <a:buNone/>
            </a:pPr>
            <a:r>
              <a:rPr lang="en-US" b="1" dirty="0"/>
              <a:t>Uneven Adoption</a:t>
            </a:r>
          </a:p>
          <a:p>
            <a:pPr marL="0" lvl="1" indent="0">
              <a:buFont typeface="Arial" panose="020B0604020202020204" pitchFamily="34" charset="0"/>
              <a:buNone/>
            </a:pPr>
            <a:r>
              <a:rPr dirty="0"/>
              <a:t>Uneven AI adoption creates silos; standardized workflows and shared templates reduce fragmentation and unify processes.</a:t>
            </a:r>
            <a:endParaRPr lang="en-US" dirty="0"/>
          </a:p>
          <a:p>
            <a:pPr marL="0" indent="0">
              <a:spcBef>
                <a:spcPts val="2500"/>
              </a:spcBef>
              <a:buFont typeface="Arial" panose="020B0604020202020204" pitchFamily="34" charset="0"/>
              <a:buNone/>
            </a:pPr>
            <a:r>
              <a:rPr lang="en-US" b="1" dirty="0"/>
              <a:t>Maintaining Collaboration</a:t>
            </a:r>
          </a:p>
          <a:p>
            <a:pPr marL="0" lvl="1" indent="0">
              <a:buFont typeface="Arial" panose="020B0604020202020204" pitchFamily="34" charset="0"/>
              <a:buNone/>
            </a:pPr>
            <a:r>
              <a:rPr dirty="0"/>
              <a:t>Optimizing individual output can hurt team alignment; shared reviews and collective planning strengthen collaboration.</a:t>
            </a:r>
            <a:endParaRPr lang="en-US" dirty="0"/>
          </a:p>
        </p:txBody>
      </p:sp>
    </p:spTree>
    <p:extLst>
      <p:ext uri="{BB962C8B-B14F-4D97-AF65-F5344CB8AC3E}">
        <p14:creationId xmlns:p14="http://schemas.microsoft.com/office/powerpoint/2010/main" val="31733962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3903-716F-7010-0823-E46A943889C4}"/>
              </a:ext>
            </a:extLst>
          </p:cNvPr>
          <p:cNvSpPr>
            <a:spLocks noGrp="1"/>
          </p:cNvSpPr>
          <p:nvPr>
            <p:ph type="title"/>
          </p:nvPr>
        </p:nvSpPr>
        <p:spPr>
          <a:xfrm>
            <a:off x="419100" y="4607626"/>
            <a:ext cx="4419600" cy="1640774"/>
          </a:xfrm>
        </p:spPr>
        <p:txBody>
          <a:bodyPr anchor="t">
            <a:normAutofit/>
          </a:bodyPr>
          <a:lstStyle/>
          <a:p>
            <a:r>
              <a:rPr lang="en-US"/>
              <a:t>Success Metrics</a:t>
            </a:r>
          </a:p>
        </p:txBody>
      </p:sp>
      <p:pic>
        <p:nvPicPr>
          <p:cNvPr id="8" name="Content Placeholder 7" descr="Credit score report">
            <a:extLst>
              <a:ext uri="{FF2B5EF4-FFF2-40B4-BE49-F238E27FC236}">
                <a16:creationId xmlns:a16="http://schemas.microsoft.com/office/drawing/2014/main" id="{D7257D39-9632-4639-9E4E-0C2B079779FC}"/>
              </a:ext>
            </a:extLst>
          </p:cNvPr>
          <p:cNvPicPr>
            <a:picLocks noGrp="1" noChangeAspect="1"/>
          </p:cNvPicPr>
          <p:nvPr>
            <p:ph type="pic" sz="quarter" idx="15"/>
          </p:nvPr>
        </p:nvPicPr>
        <p:blipFill>
          <a:blip r:embed="rId3"/>
          <a:stretch/>
        </p:blipFill>
        <p:spPr>
          <a:xfrm>
            <a:off x="313211" y="0"/>
            <a:ext cx="4214191" cy="4214191"/>
          </a:xfrm>
        </p:spPr>
      </p:pic>
      <p:sp>
        <p:nvSpPr>
          <p:cNvPr id="3" name="Footer Placeholder 2">
            <a:extLst>
              <a:ext uri="{FF2B5EF4-FFF2-40B4-BE49-F238E27FC236}">
                <a16:creationId xmlns:a16="http://schemas.microsoft.com/office/drawing/2014/main" id="{98D7BC80-6EC2-29FE-D269-AE9D47C30CF5}"/>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5AF95EC8-C1A4-B929-029B-36DDD572F7F3}"/>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4/3/2026</a:t>
            </a:fld>
            <a:endParaRPr lang="en-US"/>
          </a:p>
        </p:txBody>
      </p:sp>
      <p:sp>
        <p:nvSpPr>
          <p:cNvPr id="5" name="Slide Number Placeholder 4">
            <a:extLst>
              <a:ext uri="{FF2B5EF4-FFF2-40B4-BE49-F238E27FC236}">
                <a16:creationId xmlns:a16="http://schemas.microsoft.com/office/drawing/2014/main" id="{0D9E83AD-5BC2-DF8B-C6D8-C73C053611C5}"/>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7</a:t>
            </a:fld>
            <a:endParaRPr lang="en-US"/>
          </a:p>
        </p:txBody>
      </p:sp>
      <p:sp>
        <p:nvSpPr>
          <p:cNvPr id="7" name="Content Placeholder 6">
            <a:extLst>
              <a:ext uri="{FF2B5EF4-FFF2-40B4-BE49-F238E27FC236}">
                <a16:creationId xmlns:a16="http://schemas.microsoft.com/office/drawing/2014/main" id="{B219E999-37C6-24D0-4C56-6D4D7E9B5F5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dirty="0"/>
              <a:t>Adoption Metrics</a:t>
            </a:r>
          </a:p>
          <a:p>
            <a:pPr marL="0" lvl="1" indent="0">
              <a:buFont typeface="Arial" panose="020B0604020202020204" pitchFamily="34" charset="0"/>
              <a:buNone/>
            </a:pPr>
            <a:r>
              <a:rPr dirty="0"/>
              <a:t>Track how many team members use AI tools and for which core use cases to monitor reach and support needs.</a:t>
            </a:r>
            <a:endParaRPr lang="en-US" dirty="0"/>
          </a:p>
          <a:p>
            <a:pPr marL="0" indent="0">
              <a:spcBef>
                <a:spcPts val="2500"/>
              </a:spcBef>
              <a:buFont typeface="Arial" panose="020B0604020202020204" pitchFamily="34" charset="0"/>
              <a:buNone/>
            </a:pPr>
            <a:r>
              <a:rPr lang="en-US" b="1" dirty="0"/>
              <a:t>Efficiency Metrics</a:t>
            </a:r>
          </a:p>
          <a:p>
            <a:pPr marL="0" lvl="1" indent="0">
              <a:buFont typeface="Arial" panose="020B0604020202020204" pitchFamily="34" charset="0"/>
              <a:buNone/>
            </a:pPr>
            <a:r>
              <a:rPr dirty="0"/>
              <a:t>Measure time saved and effort reduced in workflows through faster turnarounds and fewer revisions.</a:t>
            </a:r>
            <a:endParaRPr lang="en-US" dirty="0"/>
          </a:p>
          <a:p>
            <a:pPr marL="0" indent="0">
              <a:spcBef>
                <a:spcPts val="2500"/>
              </a:spcBef>
              <a:buFont typeface="Arial" panose="020B0604020202020204" pitchFamily="34" charset="0"/>
              <a:buNone/>
            </a:pPr>
            <a:r>
              <a:rPr lang="en-US" b="1" dirty="0"/>
              <a:t>Quality and Clarity Metrics</a:t>
            </a:r>
          </a:p>
          <a:p>
            <a:pPr marL="0" lvl="1" indent="0">
              <a:buFont typeface="Arial" panose="020B0604020202020204" pitchFamily="34" charset="0"/>
              <a:buNone/>
            </a:pPr>
            <a:r>
              <a:rPr dirty="0"/>
              <a:t>Assess improved feedback, fewer errors, clearer documentation, and better alignment to objectives.</a:t>
            </a:r>
            <a:endParaRPr lang="en-US" dirty="0"/>
          </a:p>
          <a:p>
            <a:pPr marL="0" indent="0">
              <a:spcBef>
                <a:spcPts val="2500"/>
              </a:spcBef>
              <a:buFont typeface="Arial" panose="020B0604020202020204" pitchFamily="34" charset="0"/>
              <a:buNone/>
            </a:pPr>
            <a:r>
              <a:rPr lang="en-US" b="1" dirty="0"/>
              <a:t>Collaboration and Culture Metrics</a:t>
            </a:r>
          </a:p>
          <a:p>
            <a:pPr marL="0" lvl="1" indent="0">
              <a:buFont typeface="Arial" panose="020B0604020202020204" pitchFamily="34" charset="0"/>
              <a:buNone/>
            </a:pPr>
            <a:r>
              <a:rPr dirty="0"/>
              <a:t>Evaluate if AI strengthens the team via sharing templates, consistent outputs, and improved alignment.</a:t>
            </a:r>
            <a:endParaRPr lang="en-US" dirty="0"/>
          </a:p>
        </p:txBody>
      </p:sp>
    </p:spTree>
    <p:extLst>
      <p:ext uri="{BB962C8B-B14F-4D97-AF65-F5344CB8AC3E}">
        <p14:creationId xmlns:p14="http://schemas.microsoft.com/office/powerpoint/2010/main" val="26802339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75B9CB64CD7C47B41F746646547B33" ma:contentTypeVersion="12" ma:contentTypeDescription="Create a new document." ma:contentTypeScope="" ma:versionID="51354516d3b672ae0d8b9a3f2710c302">
  <xsd:schema xmlns:xsd="http://www.w3.org/2001/XMLSchema" xmlns:xs="http://www.w3.org/2001/XMLSchema" xmlns:p="http://schemas.microsoft.com/office/2006/metadata/properties" xmlns:ns2="69c7e17f-4e9e-430d-90e0-3ef93dcbdb44" xmlns:ns3="17d28f16-eb5e-4587-81e0-682ed581eef1" targetNamespace="http://schemas.microsoft.com/office/2006/metadata/properties" ma:root="true" ma:fieldsID="cf335e2618e06b79f2f12a08e2dd74ae" ns2:_="" ns3:_="">
    <xsd:import namespace="69c7e17f-4e9e-430d-90e0-3ef93dcbdb44"/>
    <xsd:import namespace="17d28f16-eb5e-4587-81e0-682ed581ee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c7e17f-4e9e-430d-90e0-3ef93dcbdb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ebeb2d-667f-43bd-86ca-2a4d877a177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7d28f16-eb5e-4587-81e0-682ed581eef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57522ba-6265-4042-bbfc-6e697f6f1b5b}" ma:internalName="TaxCatchAll" ma:showField="CatchAllData" ma:web="17d28f16-eb5e-4587-81e0-682ed581ee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7d28f16-eb5e-4587-81e0-682ed581eef1" xsi:nil="true"/>
    <lcf76f155ced4ddcb4097134ff3c332f xmlns="69c7e17f-4e9e-430d-90e0-3ef93dcbdb4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A845679-707E-4B04-8E81-54583DC2C786}"/>
</file>

<file path=customXml/itemProps2.xml><?xml version="1.0" encoding="utf-8"?>
<ds:datastoreItem xmlns:ds="http://schemas.openxmlformats.org/officeDocument/2006/customXml" ds:itemID="{4CD7B432-691D-4FE1-B75C-1BC23CAFA747}"/>
</file>

<file path=customXml/itemProps3.xml><?xml version="1.0" encoding="utf-8"?>
<ds:datastoreItem xmlns:ds="http://schemas.openxmlformats.org/officeDocument/2006/customXml" ds:itemID="{03F6A5A0-7266-4D2C-B51F-A85CD91F69AE}"/>
</file>

<file path=docMetadata/LabelInfo.xml><?xml version="1.0" encoding="utf-8"?>
<clbl:labelList xmlns:clbl="http://schemas.microsoft.com/office/2020/mipLabelMetadata">
  <clbl:label id="{20bd2185-7f4f-483c-8403-3480aaa4171f}" enabled="1" method="Standard" siteId="{72adb271-2fc7-4afe-a5ee-9de6a59f6bfb}" contentBits="0" removed="0"/>
</clbl:labelList>
</file>

<file path=docProps/app.xml><?xml version="1.0" encoding="utf-8"?>
<Properties xmlns="http://schemas.openxmlformats.org/officeDocument/2006/extended-properties" xmlns:vt="http://schemas.openxmlformats.org/officeDocument/2006/docPropsVTypes">
  <TotalTime>0</TotalTime>
  <Words>2017</Words>
  <Application>Microsoft Office PowerPoint</Application>
  <PresentationFormat>Widescreen</PresentationFormat>
  <Paragraphs>96</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Neue Haas Grotesk Text Pro</vt:lpstr>
      <vt:lpstr>Film burn</vt:lpstr>
      <vt:lpstr>AI in Our Team – Strategy Deck</vt:lpstr>
      <vt:lpstr>Current State</vt:lpstr>
      <vt:lpstr>AI Opportunity</vt:lpstr>
      <vt:lpstr>Recommended Tools &amp; Use Cases</vt:lpstr>
      <vt:lpstr>Implementation Roadmap</vt:lpstr>
      <vt:lpstr>Risks and Mitigations</vt:lpstr>
      <vt:lpstr>Success Metrics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ljoiner@equinix.com</dc:creator>
  <cp:lastModifiedBy>Lorna Joiner</cp:lastModifiedBy>
  <cp:revision>8</cp:revision>
  <dcterms:modified xsi:type="dcterms:W3CDTF">2026-04-03T16:37:57Z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0x0101001275B9CB64CD7C47B41F746646547B33</vt:lpwstr>
  </property>
</Properties>
</file>