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5.xml" ContentType="application/vnd.openxmlformats-officedocument.presentationml.slideLayou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Metadata/LabelInfo.xml" ContentType="application/vnd.ms-office.classificationlabel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Libre Baskerville" panose="02000000000000000000" pitchFamily="2" charset="0"/>
      <p:regular r:id="rId11"/>
    </p:embeddedFont>
    <p:embeddedFont>
      <p:font typeface="Open Sans" panose="020B0606030504020204" pitchFamily="3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768" autoAdjust="0"/>
  </p:normalViewPr>
  <p:slideViewPr>
    <p:cSldViewPr snapToGrid="0" snapToObjects="1">
      <p:cViewPr>
        <p:scale>
          <a:sx n="70" d="100"/>
          <a:sy n="70" d="100"/>
        </p:scale>
        <p:origin x="222" y="6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60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enhance most of our workflows on an individual level to produce content, generate ideas, or summarize text. We have not yet embedded AI into our team workflows to help automate processes or establish consistency throughout our team. That is where our opportunity lies.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embed AI across our enablement workflows, we can avoid human delays (time zone differences, OOO, miscommunication, etc.) and inherently get to end results faster. Additionally, we can leverage AI for our enablement programs themselves – catering to everyone for an individualized plan that includes coaching and upskills relevant to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 one central location for all </a:t>
            </a:r>
            <a:r>
              <a:rPr lang="en-US" dirty="0" err="1"/>
              <a:t>gtm</a:t>
            </a:r>
            <a:r>
              <a:rPr lang="en-US" dirty="0"/>
              <a:t> apps for our team. Can also help with content audit and standardization </a:t>
            </a:r>
            <a:r>
              <a:rPr lang="en-US"/>
              <a:t>moving forward</a:t>
            </a:r>
            <a:br>
              <a:rPr lang="en-US" dirty="0"/>
            </a:br>
            <a:r>
              <a:rPr lang="en-US" dirty="0"/>
              <a:t>Gong – analyzes sales calls to identify skill gaps and identify winning behaviors</a:t>
            </a:r>
            <a:br>
              <a:rPr lang="en-US" dirty="0"/>
            </a:br>
            <a:r>
              <a:rPr lang="en-US" dirty="0"/>
              <a:t>Make – connects different apps (365, </a:t>
            </a:r>
            <a:r>
              <a:rPr lang="en-US" dirty="0" err="1"/>
              <a:t>crm</a:t>
            </a:r>
            <a:r>
              <a:rPr lang="en-US" dirty="0"/>
              <a:t>, email/teams) to automate data entry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auditing – what are we doing now, what do we have in inventory, and how is it being done</a:t>
            </a:r>
          </a:p>
          <a:p>
            <a:r>
              <a:rPr lang="en-US" dirty="0"/>
              <a:t>Step 2 is testing – choose a few programs that could benefit from the implementation and are doable on a smaller scale.</a:t>
            </a:r>
          </a:p>
          <a:p>
            <a:r>
              <a:rPr lang="en-US" dirty="0"/>
              <a:t>Step 3 expand – once the pilot automation and testing are complete, we can replicate it onto larger scales across our team and the broader GTM org.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Inconsistency is a large risk. We must ensure the foundations of our implementations are consistent and in the same ‘language’ before scaling them out to the broader org.</a:t>
            </a:r>
          </a:p>
          <a:p>
            <a:r>
              <a:rPr lang="en-US" dirty="0"/>
              <a:t>Celebrating public wins will encourage users to try for themselves.</a:t>
            </a:r>
          </a:p>
          <a:p>
            <a:r>
              <a:rPr lang="en-US" dirty="0"/>
              <a:t>Work with IT guidelines to ensure proprietary data is not shared on the public internet.</a:t>
            </a:r>
          </a:p>
          <a:p>
            <a:r>
              <a:rPr lang="en-US" dirty="0"/>
              <a:t>With rapid evolution and uncertainty of AI tools, we must ensure we keep all data/templates/prompts available in legacy systems, and to not get stuck in an annual contract without first ensuring the value.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should alleviate our team’s time to be focused on strategy/projects that align to CRO, not on tedious tasks or chasing people down for answers. We should aim for high adoption, quicker time to publish, and ultimately faster ramp time for all GTM new hires once tools are embedded into onboarding.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the early adopters at Equinix to show other teams how we transform with AI. </a:t>
            </a:r>
          </a:p>
          <a:p>
            <a:r>
              <a:rPr lang="en-US" dirty="0"/>
              <a:t>Step 1 has already been established, now we figure out which programs to pilot – these could be some of the capstones happening for AI April. Check in with leadership in a month to assess progress and functionality of certain tools, against other tools that are being tested.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70617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AI Strategy for GTM Enablement</a:t>
            </a:r>
            <a:endParaRPr lang="en-US" sz="4450" dirty="0"/>
          </a:p>
        </p:txBody>
      </p:sp>
      <p:sp>
        <p:nvSpPr>
          <p:cNvPr id="4" name="Text 1"/>
          <p:cNvSpPr/>
          <p:nvPr/>
        </p:nvSpPr>
        <p:spPr>
          <a:xfrm>
            <a:off x="793790" y="4463891"/>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From Content Generation to Intelligent Program Management</a:t>
            </a:r>
            <a:endParaRPr lang="en-US" sz="1750" dirty="0"/>
          </a:p>
        </p:txBody>
      </p:sp>
      <p:sp>
        <p:nvSpPr>
          <p:cNvPr id="5" name="Shape 2"/>
          <p:cNvSpPr/>
          <p:nvPr/>
        </p:nvSpPr>
        <p:spPr>
          <a:xfrm>
            <a:off x="793790" y="5081945"/>
            <a:ext cx="4300299" cy="441484"/>
          </a:xfrm>
          <a:prstGeom prst="roundRect">
            <a:avLst>
              <a:gd name="adj" fmla="val 6165"/>
            </a:avLst>
          </a:prstGeom>
          <a:noFill/>
          <a:ln w="7620">
            <a:solidFill>
              <a:srgbClr val="403CCF"/>
            </a:solidFill>
            <a:prstDash val="solid"/>
          </a:ln>
        </p:spPr>
        <p:txBody>
          <a:bodyPr/>
          <a:lstStyle/>
          <a:p>
            <a:endParaRPr lang="en-US"/>
          </a:p>
        </p:txBody>
      </p:sp>
      <p:sp>
        <p:nvSpPr>
          <p:cNvPr id="6" name="Text 3"/>
          <p:cNvSpPr/>
          <p:nvPr/>
        </p:nvSpPr>
        <p:spPr>
          <a:xfrm>
            <a:off x="937498" y="5157549"/>
            <a:ext cx="4012883" cy="290274"/>
          </a:xfrm>
          <a:prstGeom prst="rect">
            <a:avLst/>
          </a:prstGeom>
          <a:noFill/>
          <a:ln/>
        </p:spPr>
        <p:txBody>
          <a:bodyPr wrap="none" lIns="0" tIns="0" rIns="0" bIns="0" rtlCol="0" anchor="t"/>
          <a:lstStyle/>
          <a:p>
            <a:pPr marL="0" indent="0" algn="l">
              <a:lnSpc>
                <a:spcPts val="2250"/>
              </a:lnSpc>
              <a:buNone/>
            </a:pPr>
            <a:r>
              <a:rPr lang="en-US" sz="1400" dirty="0">
                <a:solidFill>
                  <a:srgbClr val="403CCF"/>
                </a:solidFill>
                <a:latin typeface="Open Sans" pitchFamily="34" charset="0"/>
                <a:ea typeface="Open Sans" pitchFamily="34" charset="-122"/>
                <a:cs typeface="Open Sans" pitchFamily="34" charset="-120"/>
              </a:rPr>
              <a:t>ISABELLE PULLER · GTM ENABLEMENT · 2Q2026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46152"/>
            <a:ext cx="6191964"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Where We Are Today</a:t>
            </a:r>
            <a:endParaRPr lang="en-US" sz="4450" dirty="0"/>
          </a:p>
        </p:txBody>
      </p:sp>
      <p:sp>
        <p:nvSpPr>
          <p:cNvPr id="3" name="Text 1"/>
          <p:cNvSpPr/>
          <p:nvPr/>
        </p:nvSpPr>
        <p:spPr>
          <a:xfrm>
            <a:off x="793790" y="169509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AI use across GTM Enablement is growing — but fragmented. Here's where we stand:</a:t>
            </a:r>
            <a:endParaRPr lang="en-US" sz="1750" dirty="0"/>
          </a:p>
        </p:txBody>
      </p:sp>
      <p:sp>
        <p:nvSpPr>
          <p:cNvPr id="4" name="Shape 2"/>
          <p:cNvSpPr/>
          <p:nvPr/>
        </p:nvSpPr>
        <p:spPr>
          <a:xfrm>
            <a:off x="793790" y="2313146"/>
            <a:ext cx="6407944" cy="1730812"/>
          </a:xfrm>
          <a:prstGeom prst="roundRect">
            <a:avLst>
              <a:gd name="adj" fmla="val 8453"/>
            </a:avLst>
          </a:prstGeom>
          <a:solidFill>
            <a:srgbClr val="FBFAFF"/>
          </a:solidFill>
          <a:ln w="30480">
            <a:solidFill>
              <a:srgbClr val="D0CED9"/>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63310" y="2313146"/>
            <a:ext cx="121920" cy="1730812"/>
          </a:xfrm>
          <a:prstGeom prst="rect">
            <a:avLst/>
          </a:prstGeom>
        </p:spPr>
      </p:pic>
      <p:sp>
        <p:nvSpPr>
          <p:cNvPr id="6" name="Text 3"/>
          <p:cNvSpPr/>
          <p:nvPr/>
        </p:nvSpPr>
        <p:spPr>
          <a:xfrm>
            <a:off x="1142524" y="2570440"/>
            <a:ext cx="2904053"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Content Generation</a:t>
            </a:r>
            <a:endParaRPr lang="en-US" sz="2200" dirty="0"/>
          </a:p>
        </p:txBody>
      </p:sp>
      <p:sp>
        <p:nvSpPr>
          <p:cNvPr id="7" name="Text 4"/>
          <p:cNvSpPr/>
          <p:nvPr/>
        </p:nvSpPr>
        <p:spPr>
          <a:xfrm>
            <a:off x="1142524" y="3060859"/>
            <a:ext cx="5801916"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Drafting emails, decks, and one-pagers on demand</a:t>
            </a:r>
            <a:endParaRPr lang="en-US" sz="1750" dirty="0"/>
          </a:p>
        </p:txBody>
      </p:sp>
      <p:sp>
        <p:nvSpPr>
          <p:cNvPr id="8" name="Shape 5"/>
          <p:cNvSpPr/>
          <p:nvPr/>
        </p:nvSpPr>
        <p:spPr>
          <a:xfrm>
            <a:off x="7428548" y="2313146"/>
            <a:ext cx="6408063" cy="1730812"/>
          </a:xfrm>
          <a:prstGeom prst="roundRect">
            <a:avLst>
              <a:gd name="adj" fmla="val 8453"/>
            </a:avLst>
          </a:prstGeom>
          <a:solidFill>
            <a:srgbClr val="FBFAFF"/>
          </a:solidFill>
          <a:ln w="30480">
            <a:solidFill>
              <a:srgbClr val="D0CED9"/>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7398067" y="2313146"/>
            <a:ext cx="121920" cy="1730812"/>
          </a:xfrm>
          <a:prstGeom prst="rect">
            <a:avLst/>
          </a:prstGeom>
        </p:spPr>
      </p:pic>
      <p:sp>
        <p:nvSpPr>
          <p:cNvPr id="10" name="Text 6"/>
          <p:cNvSpPr/>
          <p:nvPr/>
        </p:nvSpPr>
        <p:spPr>
          <a:xfrm>
            <a:off x="7777282" y="25704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Writing Assistance</a:t>
            </a:r>
            <a:endParaRPr lang="en-US" sz="2200" dirty="0"/>
          </a:p>
        </p:txBody>
      </p:sp>
      <p:sp>
        <p:nvSpPr>
          <p:cNvPr id="11" name="Text 7"/>
          <p:cNvSpPr/>
          <p:nvPr/>
        </p:nvSpPr>
        <p:spPr>
          <a:xfrm>
            <a:off x="7777282" y="3060859"/>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Editing, proofreading, and refining tone for polished outputs</a:t>
            </a:r>
            <a:endParaRPr lang="en-US" sz="1750" dirty="0"/>
          </a:p>
        </p:txBody>
      </p:sp>
      <p:sp>
        <p:nvSpPr>
          <p:cNvPr id="12" name="Shape 8"/>
          <p:cNvSpPr/>
          <p:nvPr/>
        </p:nvSpPr>
        <p:spPr>
          <a:xfrm>
            <a:off x="793790" y="4270772"/>
            <a:ext cx="6407944" cy="1730812"/>
          </a:xfrm>
          <a:prstGeom prst="roundRect">
            <a:avLst>
              <a:gd name="adj" fmla="val 8453"/>
            </a:avLst>
          </a:prstGeom>
          <a:solidFill>
            <a:srgbClr val="FBFAFF"/>
          </a:solidFill>
          <a:ln w="30480">
            <a:solidFill>
              <a:srgbClr val="D0CED9"/>
            </a:solidFill>
            <a:prstDash val="solid"/>
          </a:ln>
        </p:spPr>
        <p:txBody>
          <a:bodyPr/>
          <a:lstStyle/>
          <a:p>
            <a:endParaRPr lang="en-US"/>
          </a:p>
        </p:txBody>
      </p:sp>
      <p:pic>
        <p:nvPicPr>
          <p:cNvPr id="13" name="Image 2" descr="preencoded.png"/>
          <p:cNvPicPr>
            <a:picLocks noChangeAspect="1"/>
          </p:cNvPicPr>
          <p:nvPr/>
        </p:nvPicPr>
        <p:blipFill>
          <a:blip r:embed="rId3"/>
          <a:stretch>
            <a:fillRect/>
          </a:stretch>
        </p:blipFill>
        <p:spPr>
          <a:xfrm>
            <a:off x="763310" y="4270772"/>
            <a:ext cx="121920" cy="1730812"/>
          </a:xfrm>
          <a:prstGeom prst="rect">
            <a:avLst/>
          </a:prstGeom>
        </p:spPr>
      </p:pic>
      <p:sp>
        <p:nvSpPr>
          <p:cNvPr id="14" name="Text 9"/>
          <p:cNvSpPr/>
          <p:nvPr/>
        </p:nvSpPr>
        <p:spPr>
          <a:xfrm>
            <a:off x="1142524" y="4528066"/>
            <a:ext cx="3052524"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Research Summaries</a:t>
            </a:r>
            <a:endParaRPr lang="en-US" sz="2200" dirty="0"/>
          </a:p>
        </p:txBody>
      </p:sp>
      <p:sp>
        <p:nvSpPr>
          <p:cNvPr id="15" name="Text 10"/>
          <p:cNvSpPr/>
          <p:nvPr/>
        </p:nvSpPr>
        <p:spPr>
          <a:xfrm>
            <a:off x="1142524" y="5018484"/>
            <a:ext cx="5801916"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Synthesizing competitive intel and market data quickly</a:t>
            </a:r>
            <a:endParaRPr lang="en-US" sz="1750" dirty="0"/>
          </a:p>
        </p:txBody>
      </p:sp>
      <p:sp>
        <p:nvSpPr>
          <p:cNvPr id="16" name="Shape 11"/>
          <p:cNvSpPr/>
          <p:nvPr/>
        </p:nvSpPr>
        <p:spPr>
          <a:xfrm>
            <a:off x="7428548" y="4270772"/>
            <a:ext cx="6408063" cy="1730812"/>
          </a:xfrm>
          <a:prstGeom prst="roundRect">
            <a:avLst>
              <a:gd name="adj" fmla="val 8453"/>
            </a:avLst>
          </a:prstGeom>
          <a:solidFill>
            <a:srgbClr val="FBFAFF"/>
          </a:solidFill>
          <a:ln w="30480">
            <a:solidFill>
              <a:srgbClr val="D0CED9"/>
            </a:solidFill>
            <a:prstDash val="solid"/>
          </a:ln>
        </p:spPr>
        <p:txBody>
          <a:bodyPr/>
          <a:lstStyle/>
          <a:p>
            <a:endParaRPr lang="en-US"/>
          </a:p>
        </p:txBody>
      </p:sp>
      <p:pic>
        <p:nvPicPr>
          <p:cNvPr id="17" name="Image 3" descr="preencoded.png"/>
          <p:cNvPicPr>
            <a:picLocks noChangeAspect="1"/>
          </p:cNvPicPr>
          <p:nvPr/>
        </p:nvPicPr>
        <p:blipFill>
          <a:blip r:embed="rId3"/>
          <a:stretch>
            <a:fillRect/>
          </a:stretch>
        </p:blipFill>
        <p:spPr>
          <a:xfrm>
            <a:off x="7398067" y="4270772"/>
            <a:ext cx="121920" cy="1730812"/>
          </a:xfrm>
          <a:prstGeom prst="rect">
            <a:avLst/>
          </a:prstGeom>
        </p:spPr>
      </p:pic>
      <p:sp>
        <p:nvSpPr>
          <p:cNvPr id="18" name="Text 12"/>
          <p:cNvSpPr/>
          <p:nvPr/>
        </p:nvSpPr>
        <p:spPr>
          <a:xfrm>
            <a:off x="7777282" y="45280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Ad-Hoc Prompting</a:t>
            </a:r>
            <a:endParaRPr lang="en-US" sz="2200" dirty="0"/>
          </a:p>
        </p:txBody>
      </p:sp>
      <p:sp>
        <p:nvSpPr>
          <p:cNvPr id="19" name="Text 13"/>
          <p:cNvSpPr/>
          <p:nvPr/>
        </p:nvSpPr>
        <p:spPr>
          <a:xfrm>
            <a:off x="7777282" y="5018484"/>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No standardized workflows or shared practices across the team</a:t>
            </a:r>
            <a:endParaRPr lang="en-US" sz="1750" dirty="0"/>
          </a:p>
        </p:txBody>
      </p:sp>
      <p:sp>
        <p:nvSpPr>
          <p:cNvPr id="20" name="Shape 14"/>
          <p:cNvSpPr/>
          <p:nvPr/>
        </p:nvSpPr>
        <p:spPr>
          <a:xfrm>
            <a:off x="793790" y="6256734"/>
            <a:ext cx="13042821" cy="1326713"/>
          </a:xfrm>
          <a:prstGeom prst="roundRect">
            <a:avLst>
              <a:gd name="adj" fmla="val 2565"/>
            </a:avLst>
          </a:prstGeom>
          <a:solidFill>
            <a:srgbClr val="C3C2F0"/>
          </a:solidFill>
          <a:ln/>
        </p:spPr>
        <p:txBody>
          <a:bodyPr/>
          <a:lstStyle/>
          <a:p>
            <a:endParaRPr lang="en-US"/>
          </a:p>
        </p:txBody>
      </p:sp>
      <p:pic>
        <p:nvPicPr>
          <p:cNvPr id="21" name="Image 4" descr="preencoded.png"/>
          <p:cNvPicPr>
            <a:picLocks noChangeAspect="1"/>
          </p:cNvPicPr>
          <p:nvPr/>
        </p:nvPicPr>
        <p:blipFill>
          <a:blip r:embed="rId4"/>
          <a:stretch>
            <a:fillRect/>
          </a:stretch>
        </p:blipFill>
        <p:spPr>
          <a:xfrm>
            <a:off x="1020604" y="6608445"/>
            <a:ext cx="283488" cy="226814"/>
          </a:xfrm>
          <a:prstGeom prst="rect">
            <a:avLst/>
          </a:prstGeom>
        </p:spPr>
      </p:pic>
      <p:sp>
        <p:nvSpPr>
          <p:cNvPr id="22" name="Text 15"/>
          <p:cNvSpPr/>
          <p:nvPr/>
        </p:nvSpPr>
        <p:spPr>
          <a:xfrm>
            <a:off x="1530906" y="6540222"/>
            <a:ext cx="12078891" cy="725805"/>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Open Sans" pitchFamily="34" charset="0"/>
                <a:ea typeface="Open Sans" pitchFamily="34" charset="-122"/>
                <a:cs typeface="Open Sans" pitchFamily="34" charset="-120"/>
              </a:rPr>
              <a:t>Opportunity gap:</a:t>
            </a:r>
            <a:r>
              <a:rPr lang="en-US" sz="1750" dirty="0">
                <a:solidFill>
                  <a:srgbClr val="000000"/>
                </a:solidFill>
                <a:latin typeface="Open Sans" pitchFamily="34" charset="0"/>
                <a:ea typeface="Open Sans" pitchFamily="34" charset="-122"/>
                <a:cs typeface="Open Sans" pitchFamily="34" charset="-120"/>
              </a:rPr>
              <a:t> AI use is reactive and individual — not yet embedded in team workflows where it creates the most leverage.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27472"/>
            <a:ext cx="700790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The Opportunity Ahead</a:t>
            </a:r>
            <a:endParaRPr lang="en-US" sz="4450" dirty="0"/>
          </a:p>
        </p:txBody>
      </p:sp>
      <p:sp>
        <p:nvSpPr>
          <p:cNvPr id="3" name="Text 1"/>
          <p:cNvSpPr/>
          <p:nvPr/>
        </p:nvSpPr>
        <p:spPr>
          <a:xfrm>
            <a:off x="793790" y="188987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Where AI creates the most leverage for our team — and the business case is clear:</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507933"/>
            <a:ext cx="453628" cy="453628"/>
          </a:xfrm>
          <a:prstGeom prst="rect">
            <a:avLst/>
          </a:prstGeom>
        </p:spPr>
      </p:pic>
      <p:sp>
        <p:nvSpPr>
          <p:cNvPr id="5" name="Text 2"/>
          <p:cNvSpPr/>
          <p:nvPr/>
        </p:nvSpPr>
        <p:spPr>
          <a:xfrm>
            <a:off x="1530906" y="2585799"/>
            <a:ext cx="3240643"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Workflow Automation</a:t>
            </a:r>
            <a:endParaRPr lang="en-US" sz="2200" dirty="0"/>
          </a:p>
        </p:txBody>
      </p:sp>
      <p:sp>
        <p:nvSpPr>
          <p:cNvPr id="6" name="Text 3"/>
          <p:cNvSpPr/>
          <p:nvPr/>
        </p:nvSpPr>
        <p:spPr>
          <a:xfrm>
            <a:off x="1530906" y="3076218"/>
            <a:ext cx="3421499"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Eliminate manual handoffs and status updates that drain team capacity</a:t>
            </a:r>
            <a:endParaRPr lang="en-US" sz="17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2507933"/>
            <a:ext cx="453628" cy="453628"/>
          </a:xfrm>
          <a:prstGeom prst="rect">
            <a:avLst/>
          </a:prstGeom>
        </p:spPr>
      </p:pic>
      <p:sp>
        <p:nvSpPr>
          <p:cNvPr id="8" name="Text 4"/>
          <p:cNvSpPr/>
          <p:nvPr/>
        </p:nvSpPr>
        <p:spPr>
          <a:xfrm>
            <a:off x="5973008" y="25857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Program Visibility</a:t>
            </a:r>
            <a:endParaRPr lang="en-US" sz="2200" dirty="0"/>
          </a:p>
        </p:txBody>
      </p:sp>
      <p:sp>
        <p:nvSpPr>
          <p:cNvPr id="9" name="Text 5"/>
          <p:cNvSpPr/>
          <p:nvPr/>
        </p:nvSpPr>
        <p:spPr>
          <a:xfrm>
            <a:off x="5973008" y="3076218"/>
            <a:ext cx="3421499"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Real-time dashboards instead of manually assembled status reports</a:t>
            </a:r>
            <a:endParaRPr lang="en-US" sz="17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2507933"/>
            <a:ext cx="453628" cy="453628"/>
          </a:xfrm>
          <a:prstGeom prst="rect">
            <a:avLst/>
          </a:prstGeom>
        </p:spPr>
      </p:pic>
      <p:sp>
        <p:nvSpPr>
          <p:cNvPr id="11" name="Text 6"/>
          <p:cNvSpPr/>
          <p:nvPr/>
        </p:nvSpPr>
        <p:spPr>
          <a:xfrm>
            <a:off x="10415111" y="25857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Content at Scale</a:t>
            </a:r>
            <a:endParaRPr lang="en-US" sz="2200" dirty="0"/>
          </a:p>
        </p:txBody>
      </p:sp>
      <p:sp>
        <p:nvSpPr>
          <p:cNvPr id="12" name="Text 7"/>
          <p:cNvSpPr/>
          <p:nvPr/>
        </p:nvSpPr>
        <p:spPr>
          <a:xfrm>
            <a:off x="10415111" y="3076218"/>
            <a:ext cx="3421499"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Personalized enablement assets delivered without adding headcount</a:t>
            </a:r>
            <a:endParaRPr lang="en-US" sz="175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3790" y="4618553"/>
            <a:ext cx="453628" cy="453628"/>
          </a:xfrm>
          <a:prstGeom prst="rect">
            <a:avLst/>
          </a:prstGeom>
        </p:spPr>
      </p:pic>
      <p:sp>
        <p:nvSpPr>
          <p:cNvPr id="14" name="Text 8"/>
          <p:cNvSpPr/>
          <p:nvPr/>
        </p:nvSpPr>
        <p:spPr>
          <a:xfrm>
            <a:off x="1530906" y="46964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Faster Onboarding</a:t>
            </a:r>
            <a:endParaRPr lang="en-US" sz="2200" dirty="0"/>
          </a:p>
        </p:txBody>
      </p:sp>
      <p:sp>
        <p:nvSpPr>
          <p:cNvPr id="15" name="Text 9"/>
          <p:cNvSpPr/>
          <p:nvPr/>
        </p:nvSpPr>
        <p:spPr>
          <a:xfrm>
            <a:off x="1530906" y="5186839"/>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AI-guided learning paths that accelerate new rep productivity</a:t>
            </a:r>
            <a:endParaRPr lang="en-US" sz="175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35893" y="4618553"/>
            <a:ext cx="453628" cy="453628"/>
          </a:xfrm>
          <a:prstGeom prst="rect">
            <a:avLst/>
          </a:prstGeom>
        </p:spPr>
      </p:pic>
      <p:sp>
        <p:nvSpPr>
          <p:cNvPr id="17" name="Text 10"/>
          <p:cNvSpPr/>
          <p:nvPr/>
        </p:nvSpPr>
        <p:spPr>
          <a:xfrm>
            <a:off x="5973008" y="46964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Field Insights</a:t>
            </a:r>
            <a:endParaRPr lang="en-US" sz="2200" dirty="0"/>
          </a:p>
        </p:txBody>
      </p:sp>
      <p:sp>
        <p:nvSpPr>
          <p:cNvPr id="18" name="Text 11"/>
          <p:cNvSpPr/>
          <p:nvPr/>
        </p:nvSpPr>
        <p:spPr>
          <a:xfrm>
            <a:off x="5973008" y="5186839"/>
            <a:ext cx="3421499"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Surface coaching gaps automatically from call data — no manual review</a:t>
            </a:r>
            <a:endParaRPr lang="en-US" sz="1750" dirty="0"/>
          </a:p>
        </p:txBody>
      </p:sp>
      <p:sp>
        <p:nvSpPr>
          <p:cNvPr id="19" name="Shape 12"/>
          <p:cNvSpPr/>
          <p:nvPr/>
        </p:nvSpPr>
        <p:spPr>
          <a:xfrm>
            <a:off x="793790" y="6530697"/>
            <a:ext cx="13042821" cy="971431"/>
          </a:xfrm>
          <a:prstGeom prst="roundRect">
            <a:avLst>
              <a:gd name="adj" fmla="val 3502"/>
            </a:avLst>
          </a:prstGeom>
          <a:solidFill>
            <a:srgbClr val="C3C2F0"/>
          </a:solidFill>
          <a:ln/>
        </p:spPr>
        <p:txBody>
          <a:bodyPr/>
          <a:lstStyle/>
          <a:p>
            <a:endParaRPr lang="en-US"/>
          </a:p>
        </p:txBody>
      </p:sp>
      <p:pic>
        <p:nvPicPr>
          <p:cNvPr id="20" name="Image 5" descr="preencoded.png"/>
          <p:cNvPicPr>
            <a:picLocks noChangeAspect="1"/>
          </p:cNvPicPr>
          <p:nvPr/>
        </p:nvPicPr>
        <p:blipFill>
          <a:blip r:embed="rId13"/>
          <a:stretch>
            <a:fillRect/>
          </a:stretch>
        </p:blipFill>
        <p:spPr>
          <a:xfrm>
            <a:off x="1020604" y="6882408"/>
            <a:ext cx="283488" cy="226814"/>
          </a:xfrm>
          <a:prstGeom prst="rect">
            <a:avLst/>
          </a:prstGeom>
        </p:spPr>
      </p:pic>
      <p:sp>
        <p:nvSpPr>
          <p:cNvPr id="21" name="Text 13"/>
          <p:cNvSpPr/>
          <p:nvPr/>
        </p:nvSpPr>
        <p:spPr>
          <a:xfrm>
            <a:off x="1530906" y="6814185"/>
            <a:ext cx="12078891" cy="37052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Open Sans" pitchFamily="34" charset="0"/>
                <a:ea typeface="Open Sans" pitchFamily="34" charset="-122"/>
                <a:cs typeface="Open Sans" pitchFamily="34" charset="-120"/>
              </a:rPr>
              <a:t>📊 Teams using AI in operations report a </a:t>
            </a:r>
            <a:r>
              <a:rPr lang="en-US" sz="1750" b="1" dirty="0">
                <a:solidFill>
                  <a:srgbClr val="000000"/>
                </a:solidFill>
                <a:latin typeface="Open Sans" pitchFamily="34" charset="0"/>
                <a:ea typeface="Open Sans" pitchFamily="34" charset="-122"/>
                <a:cs typeface="Open Sans" pitchFamily="34" charset="-120"/>
              </a:rPr>
              <a:t>30–40% reduction</a:t>
            </a:r>
            <a:r>
              <a:rPr lang="en-US" sz="1750" dirty="0">
                <a:solidFill>
                  <a:srgbClr val="000000"/>
                </a:solidFill>
                <a:latin typeface="Open Sans" pitchFamily="34" charset="0"/>
                <a:ea typeface="Open Sans" pitchFamily="34" charset="-122"/>
                <a:cs typeface="Open Sans" pitchFamily="34" charset="-120"/>
              </a:rPr>
              <a:t> in manual coordination time.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93996"/>
            <a:ext cx="8248412"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3 Tools to Pilot This Quarter</a:t>
            </a:r>
            <a:endParaRPr lang="en-US" sz="4450" dirty="0"/>
          </a:p>
        </p:txBody>
      </p:sp>
      <p:pic>
        <p:nvPicPr>
          <p:cNvPr id="3" name="Image 0" descr="preencoded.png"/>
          <p:cNvPicPr>
            <a:picLocks noChangeAspect="1"/>
          </p:cNvPicPr>
          <p:nvPr/>
        </p:nvPicPr>
        <p:blipFill>
          <a:blip r:embed="rId3"/>
          <a:stretch>
            <a:fillRect/>
          </a:stretch>
        </p:blipFill>
        <p:spPr>
          <a:xfrm>
            <a:off x="793790" y="2656403"/>
            <a:ext cx="2411968" cy="1490663"/>
          </a:xfrm>
          <a:prstGeom prst="rect">
            <a:avLst/>
          </a:prstGeom>
        </p:spPr>
      </p:pic>
      <p:sp>
        <p:nvSpPr>
          <p:cNvPr id="4" name="Text 1"/>
          <p:cNvSpPr/>
          <p:nvPr/>
        </p:nvSpPr>
        <p:spPr>
          <a:xfrm>
            <a:off x="793790" y="44305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Notion AI</a:t>
            </a:r>
            <a:endParaRPr lang="en-US" sz="2200" dirty="0"/>
          </a:p>
        </p:txBody>
      </p:sp>
      <p:sp>
        <p:nvSpPr>
          <p:cNvPr id="5" name="Text 2"/>
          <p:cNvSpPr/>
          <p:nvPr/>
        </p:nvSpPr>
        <p:spPr>
          <a:xfrm>
            <a:off x="793790" y="4920972"/>
            <a:ext cx="4158615" cy="1814513"/>
          </a:xfrm>
          <a:prstGeom prst="rect">
            <a:avLst/>
          </a:prstGeom>
          <a:noFill/>
          <a:ln/>
        </p:spPr>
        <p:txBody>
          <a:bodyPr wrap="square" lIns="0" tIns="0" rIns="0" bIns="0" rtlCol="0" anchor="t"/>
          <a:lstStyle/>
          <a:p>
            <a:pPr marL="0" indent="0" algn="l">
              <a:lnSpc>
                <a:spcPts val="2850"/>
              </a:lnSpc>
              <a:buNone/>
            </a:pPr>
            <a:r>
              <a:rPr lang="en-US" sz="1750" b="1" dirty="0">
                <a:solidFill>
                  <a:srgbClr val="49495A"/>
                </a:solidFill>
                <a:latin typeface="Open Sans" pitchFamily="34" charset="0"/>
                <a:ea typeface="Open Sans" pitchFamily="34" charset="-122"/>
                <a:cs typeface="Open Sans" pitchFamily="34" charset="-120"/>
              </a:rPr>
              <a:t>AI-native workspace</a:t>
            </a:r>
            <a:r>
              <a:rPr lang="en-US" sz="1750" dirty="0">
                <a:solidFill>
                  <a:srgbClr val="49495A"/>
                </a:solidFill>
                <a:latin typeface="Open Sans" pitchFamily="34" charset="0"/>
                <a:ea typeface="Open Sans" pitchFamily="34" charset="-122"/>
                <a:cs typeface="Open Sans" pitchFamily="34" charset="-120"/>
              </a:rPr>
              <a:t> for program documentation and planning. Auto-generate project briefs, summarize stakeholder updates, and draft SOPs from rough notes in seconds.</a:t>
            </a:r>
            <a:endParaRPr lang="en-US" sz="1750" dirty="0"/>
          </a:p>
        </p:txBody>
      </p:sp>
      <p:pic>
        <p:nvPicPr>
          <p:cNvPr id="6" name="Image 1" descr="preencoded.png"/>
          <p:cNvPicPr>
            <a:picLocks noChangeAspect="1"/>
          </p:cNvPicPr>
          <p:nvPr/>
        </p:nvPicPr>
        <p:blipFill>
          <a:blip r:embed="rId4"/>
          <a:stretch>
            <a:fillRect/>
          </a:stretch>
        </p:blipFill>
        <p:spPr>
          <a:xfrm>
            <a:off x="5235893" y="2656403"/>
            <a:ext cx="2411968" cy="1490663"/>
          </a:xfrm>
          <a:prstGeom prst="rect">
            <a:avLst/>
          </a:prstGeom>
        </p:spPr>
      </p:pic>
      <p:sp>
        <p:nvSpPr>
          <p:cNvPr id="7" name="Text 3"/>
          <p:cNvSpPr/>
          <p:nvPr/>
        </p:nvSpPr>
        <p:spPr>
          <a:xfrm>
            <a:off x="5235893" y="4430554"/>
            <a:ext cx="3134678"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Gong (AI Summaries)</a:t>
            </a:r>
            <a:endParaRPr lang="en-US" sz="2200" dirty="0"/>
          </a:p>
        </p:txBody>
      </p:sp>
      <p:sp>
        <p:nvSpPr>
          <p:cNvPr id="8" name="Text 4"/>
          <p:cNvSpPr/>
          <p:nvPr/>
        </p:nvSpPr>
        <p:spPr>
          <a:xfrm>
            <a:off x="5235893" y="4920972"/>
            <a:ext cx="4158615" cy="1814513"/>
          </a:xfrm>
          <a:prstGeom prst="rect">
            <a:avLst/>
          </a:prstGeom>
          <a:noFill/>
          <a:ln/>
        </p:spPr>
        <p:txBody>
          <a:bodyPr wrap="square" lIns="0" tIns="0" rIns="0" bIns="0" rtlCol="0" anchor="t"/>
          <a:lstStyle/>
          <a:p>
            <a:pPr marL="0" indent="0" algn="l">
              <a:lnSpc>
                <a:spcPts val="2850"/>
              </a:lnSpc>
              <a:buNone/>
            </a:pPr>
            <a:r>
              <a:rPr lang="en-US" sz="1750" b="1" dirty="0">
                <a:solidFill>
                  <a:srgbClr val="49495A"/>
                </a:solidFill>
                <a:latin typeface="Open Sans" pitchFamily="34" charset="0"/>
                <a:ea typeface="Open Sans" pitchFamily="34" charset="-122"/>
                <a:cs typeface="Open Sans" pitchFamily="34" charset="-120"/>
              </a:rPr>
              <a:t>Revenue intelligence</a:t>
            </a:r>
            <a:r>
              <a:rPr lang="en-US" sz="1750" dirty="0">
                <a:solidFill>
                  <a:srgbClr val="49495A"/>
                </a:solidFill>
                <a:latin typeface="Open Sans" pitchFamily="34" charset="0"/>
                <a:ea typeface="Open Sans" pitchFamily="34" charset="-122"/>
                <a:cs typeface="Open Sans" pitchFamily="34" charset="-120"/>
              </a:rPr>
              <a:t> from sales call data. Surface rep readiness gaps, track messaging adoption, and auto-brief managers with weekly coaching highlights.</a:t>
            </a:r>
            <a:endParaRPr lang="en-US" sz="1750" dirty="0"/>
          </a:p>
        </p:txBody>
      </p:sp>
      <p:pic>
        <p:nvPicPr>
          <p:cNvPr id="9" name="Image 2" descr="preencoded.png"/>
          <p:cNvPicPr>
            <a:picLocks noChangeAspect="1"/>
          </p:cNvPicPr>
          <p:nvPr/>
        </p:nvPicPr>
        <p:blipFill>
          <a:blip r:embed="rId5"/>
          <a:stretch>
            <a:fillRect/>
          </a:stretch>
        </p:blipFill>
        <p:spPr>
          <a:xfrm>
            <a:off x="9677995" y="2656403"/>
            <a:ext cx="2411968" cy="1490663"/>
          </a:xfrm>
          <a:prstGeom prst="rect">
            <a:avLst/>
          </a:prstGeom>
        </p:spPr>
      </p:pic>
      <p:sp>
        <p:nvSpPr>
          <p:cNvPr id="10" name="Text 5"/>
          <p:cNvSpPr/>
          <p:nvPr/>
        </p:nvSpPr>
        <p:spPr>
          <a:xfrm>
            <a:off x="9677995" y="44305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Make (Automation)</a:t>
            </a:r>
            <a:endParaRPr lang="en-US" sz="2200" dirty="0"/>
          </a:p>
        </p:txBody>
      </p:sp>
      <p:sp>
        <p:nvSpPr>
          <p:cNvPr id="11" name="Text 6"/>
          <p:cNvSpPr/>
          <p:nvPr/>
        </p:nvSpPr>
        <p:spPr>
          <a:xfrm>
            <a:off x="9677995" y="4920972"/>
            <a:ext cx="4158615" cy="1814513"/>
          </a:xfrm>
          <a:prstGeom prst="rect">
            <a:avLst/>
          </a:prstGeom>
          <a:noFill/>
          <a:ln/>
        </p:spPr>
        <p:txBody>
          <a:bodyPr wrap="square" lIns="0" tIns="0" rIns="0" bIns="0" rtlCol="0" anchor="t"/>
          <a:lstStyle/>
          <a:p>
            <a:pPr marL="0" indent="0" algn="l">
              <a:lnSpc>
                <a:spcPts val="2850"/>
              </a:lnSpc>
              <a:buNone/>
            </a:pPr>
            <a:r>
              <a:rPr lang="en-US" sz="1750" b="1" dirty="0">
                <a:solidFill>
                  <a:srgbClr val="49495A"/>
                </a:solidFill>
                <a:latin typeface="Open Sans" pitchFamily="34" charset="0"/>
                <a:ea typeface="Open Sans" pitchFamily="34" charset="-122"/>
                <a:cs typeface="Open Sans" pitchFamily="34" charset="-120"/>
              </a:rPr>
              <a:t>No-code workflow automation</a:t>
            </a:r>
            <a:r>
              <a:rPr lang="en-US" sz="1750" dirty="0">
                <a:solidFill>
                  <a:srgbClr val="49495A"/>
                </a:solidFill>
                <a:latin typeface="Open Sans" pitchFamily="34" charset="0"/>
                <a:ea typeface="Open Sans" pitchFamily="34" charset="-122"/>
                <a:cs typeface="Open Sans" pitchFamily="34" charset="-120"/>
              </a:rPr>
              <a:t> connecting your GTM stack. Route content requests, trigger onboarding sequences from CRM signals, and auto-archive enablement assets.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1519" y="529352"/>
            <a:ext cx="9797177" cy="597218"/>
          </a:xfrm>
          <a:prstGeom prst="rect">
            <a:avLst/>
          </a:prstGeom>
          <a:noFill/>
          <a:ln/>
        </p:spPr>
        <p:txBody>
          <a:bodyPr wrap="none" lIns="0" tIns="0" rIns="0" bIns="0" rtlCol="0" anchor="t"/>
          <a:lstStyle/>
          <a:p>
            <a:pPr marL="0" indent="0" algn="l">
              <a:lnSpc>
                <a:spcPts val="4700"/>
              </a:lnSpc>
              <a:buNone/>
            </a:pPr>
            <a:r>
              <a:rPr lang="en-US" sz="3750" dirty="0">
                <a:solidFill>
                  <a:srgbClr val="403CCF"/>
                </a:solidFill>
                <a:latin typeface="Libre Baskerville" pitchFamily="34" charset="0"/>
                <a:ea typeface="Libre Baskerville" pitchFamily="34" charset="-122"/>
                <a:cs typeface="Libre Baskerville" pitchFamily="34" charset="-120"/>
              </a:rPr>
              <a:t>How We Get There — 90-Day Roadmap</a:t>
            </a:r>
            <a:endParaRPr lang="en-US" sz="3750" dirty="0"/>
          </a:p>
        </p:txBody>
      </p:sp>
      <p:pic>
        <p:nvPicPr>
          <p:cNvPr id="3" name="Image 0" descr="preencoded.png"/>
          <p:cNvPicPr>
            <a:picLocks noChangeAspect="1"/>
          </p:cNvPicPr>
          <p:nvPr/>
        </p:nvPicPr>
        <p:blipFill>
          <a:blip r:embed="rId3"/>
          <a:stretch>
            <a:fillRect/>
          </a:stretch>
        </p:blipFill>
        <p:spPr>
          <a:xfrm>
            <a:off x="721519" y="1448633"/>
            <a:ext cx="13187363" cy="5788938"/>
          </a:xfrm>
          <a:prstGeom prst="rect">
            <a:avLst/>
          </a:prstGeom>
        </p:spPr>
      </p:pic>
      <p:sp>
        <p:nvSpPr>
          <p:cNvPr id="4" name="Text 1"/>
          <p:cNvSpPr/>
          <p:nvPr/>
        </p:nvSpPr>
        <p:spPr>
          <a:xfrm>
            <a:off x="2958564" y="5354458"/>
            <a:ext cx="2311638" cy="357224"/>
          </a:xfrm>
          <a:prstGeom prst="rect">
            <a:avLst/>
          </a:prstGeom>
          <a:noFill/>
          <a:ln/>
        </p:spPr>
        <p:txBody>
          <a:bodyPr wrap="none" lIns="0" tIns="0" rIns="0" bIns="0" rtlCol="0" anchor="t"/>
          <a:lstStyle/>
          <a:p>
            <a:pPr marL="0" indent="0" algn="ctr">
              <a:lnSpc>
                <a:spcPts val="2800"/>
              </a:lnSpc>
              <a:buNone/>
            </a:pPr>
            <a:r>
              <a:rPr lang="en-US" sz="2250" dirty="0">
                <a:solidFill>
                  <a:srgbClr val="403CCF"/>
                </a:solidFill>
                <a:latin typeface="Libre Baskerville" pitchFamily="34" charset="0"/>
                <a:ea typeface="Libre Baskerville" pitchFamily="34" charset="-122"/>
                <a:cs typeface="Libre Baskerville" pitchFamily="34" charset="-120"/>
              </a:rPr>
              <a:t>Foundation</a:t>
            </a:r>
            <a:endParaRPr lang="en-US" sz="2250" dirty="0"/>
          </a:p>
        </p:txBody>
      </p:sp>
      <p:sp>
        <p:nvSpPr>
          <p:cNvPr id="5" name="Text 2"/>
          <p:cNvSpPr/>
          <p:nvPr/>
        </p:nvSpPr>
        <p:spPr>
          <a:xfrm>
            <a:off x="2958564" y="5813293"/>
            <a:ext cx="2311638" cy="789466"/>
          </a:xfrm>
          <a:prstGeom prst="rect">
            <a:avLst/>
          </a:prstGeom>
          <a:noFill/>
          <a:ln/>
        </p:spPr>
        <p:txBody>
          <a:bodyPr wrap="square" lIns="0" tIns="0" rIns="0" bIns="0" rtlCol="0" anchor="t"/>
          <a:lstStyle/>
          <a:p>
            <a:pPr marL="0" indent="0" algn="ctr">
              <a:lnSpc>
                <a:spcPts val="2050"/>
              </a:lnSpc>
              <a:buNone/>
            </a:pPr>
            <a:r>
              <a:rPr lang="en-US" sz="1800" dirty="0">
                <a:solidFill>
                  <a:srgbClr val="49495A"/>
                </a:solidFill>
                <a:latin typeface="Open Sans" pitchFamily="34" charset="0"/>
                <a:ea typeface="Open Sans" pitchFamily="34" charset="-122"/>
                <a:cs typeface="Open Sans" pitchFamily="34" charset="-120"/>
              </a:rPr>
              <a:t>Audit workflows, onboard tools, train prompting</a:t>
            </a:r>
            <a:endParaRPr lang="en-US" sz="1800" dirty="0"/>
          </a:p>
        </p:txBody>
      </p:sp>
      <p:sp>
        <p:nvSpPr>
          <p:cNvPr id="6" name="Text 3"/>
          <p:cNvSpPr/>
          <p:nvPr/>
        </p:nvSpPr>
        <p:spPr>
          <a:xfrm>
            <a:off x="9448933" y="5265549"/>
            <a:ext cx="2311638" cy="357224"/>
          </a:xfrm>
          <a:prstGeom prst="rect">
            <a:avLst/>
          </a:prstGeom>
          <a:noFill/>
          <a:ln/>
        </p:spPr>
        <p:txBody>
          <a:bodyPr wrap="none" lIns="0" tIns="0" rIns="0" bIns="0" rtlCol="0" anchor="t"/>
          <a:lstStyle/>
          <a:p>
            <a:pPr marL="0" indent="0" algn="ctr">
              <a:lnSpc>
                <a:spcPts val="2800"/>
              </a:lnSpc>
              <a:buNone/>
            </a:pPr>
            <a:r>
              <a:rPr lang="en-US" sz="2250" dirty="0">
                <a:solidFill>
                  <a:srgbClr val="403CCF"/>
                </a:solidFill>
                <a:latin typeface="Libre Baskerville" pitchFamily="34" charset="0"/>
                <a:ea typeface="Libre Baskerville" pitchFamily="34" charset="-122"/>
                <a:cs typeface="Libre Baskerville" pitchFamily="34" charset="-120"/>
              </a:rPr>
              <a:t>Scale</a:t>
            </a:r>
            <a:endParaRPr lang="en-US" sz="2250" dirty="0"/>
          </a:p>
        </p:txBody>
      </p:sp>
      <p:sp>
        <p:nvSpPr>
          <p:cNvPr id="7" name="Text 4"/>
          <p:cNvSpPr/>
          <p:nvPr/>
        </p:nvSpPr>
        <p:spPr>
          <a:xfrm>
            <a:off x="9448933" y="5724384"/>
            <a:ext cx="2311638" cy="789466"/>
          </a:xfrm>
          <a:prstGeom prst="rect">
            <a:avLst/>
          </a:prstGeom>
          <a:noFill/>
          <a:ln/>
        </p:spPr>
        <p:txBody>
          <a:bodyPr wrap="square" lIns="0" tIns="0" rIns="0" bIns="0" rtlCol="0" anchor="t"/>
          <a:lstStyle/>
          <a:p>
            <a:pPr marL="0" indent="0" algn="ctr">
              <a:lnSpc>
                <a:spcPts val="2050"/>
              </a:lnSpc>
              <a:buNone/>
            </a:pPr>
            <a:r>
              <a:rPr lang="en-US" sz="1800" dirty="0">
                <a:solidFill>
                  <a:srgbClr val="49495A"/>
                </a:solidFill>
                <a:latin typeface="Open Sans" pitchFamily="34" charset="0"/>
                <a:ea typeface="Open Sans" pitchFamily="34" charset="-122"/>
                <a:cs typeface="Open Sans" pitchFamily="34" charset="-120"/>
              </a:rPr>
              <a:t>Expand to full team, document playbook, present results</a:t>
            </a:r>
            <a:endParaRPr lang="en-US" sz="1800" dirty="0"/>
          </a:p>
        </p:txBody>
      </p:sp>
      <p:sp>
        <p:nvSpPr>
          <p:cNvPr id="8" name="Text 5"/>
          <p:cNvSpPr/>
          <p:nvPr/>
        </p:nvSpPr>
        <p:spPr>
          <a:xfrm>
            <a:off x="6222801" y="2055690"/>
            <a:ext cx="2311638" cy="357224"/>
          </a:xfrm>
          <a:prstGeom prst="rect">
            <a:avLst/>
          </a:prstGeom>
          <a:noFill/>
          <a:ln/>
        </p:spPr>
        <p:txBody>
          <a:bodyPr wrap="none" lIns="0" tIns="0" rIns="0" bIns="0" rtlCol="0" anchor="t"/>
          <a:lstStyle/>
          <a:p>
            <a:pPr marL="0" indent="0" algn="ctr">
              <a:lnSpc>
                <a:spcPts val="2800"/>
              </a:lnSpc>
              <a:buNone/>
            </a:pPr>
            <a:r>
              <a:rPr lang="en-US" sz="2250" dirty="0">
                <a:solidFill>
                  <a:srgbClr val="403CCF"/>
                </a:solidFill>
                <a:latin typeface="Libre Baskerville" pitchFamily="34" charset="0"/>
                <a:ea typeface="Libre Baskerville" pitchFamily="34" charset="-122"/>
                <a:cs typeface="Libre Baskerville" pitchFamily="34" charset="-120"/>
              </a:rPr>
              <a:t>Pilot</a:t>
            </a:r>
            <a:endParaRPr lang="en-US" sz="2250" dirty="0"/>
          </a:p>
        </p:txBody>
      </p:sp>
      <p:sp>
        <p:nvSpPr>
          <p:cNvPr id="9" name="Text 6"/>
          <p:cNvSpPr/>
          <p:nvPr/>
        </p:nvSpPr>
        <p:spPr>
          <a:xfrm>
            <a:off x="6222801" y="2514525"/>
            <a:ext cx="2311638" cy="1052621"/>
          </a:xfrm>
          <a:prstGeom prst="rect">
            <a:avLst/>
          </a:prstGeom>
          <a:noFill/>
          <a:ln/>
        </p:spPr>
        <p:txBody>
          <a:bodyPr wrap="square" lIns="0" tIns="0" rIns="0" bIns="0" rtlCol="0" anchor="t"/>
          <a:lstStyle/>
          <a:p>
            <a:pPr marL="0" indent="0" algn="ctr">
              <a:lnSpc>
                <a:spcPts val="2050"/>
              </a:lnSpc>
              <a:buNone/>
            </a:pPr>
            <a:r>
              <a:rPr lang="en-US" sz="1800" dirty="0">
                <a:solidFill>
                  <a:srgbClr val="49495A"/>
                </a:solidFill>
                <a:latin typeface="Open Sans" pitchFamily="34" charset="0"/>
                <a:ea typeface="Open Sans" pitchFamily="34" charset="-122"/>
                <a:cs typeface="Open Sans" pitchFamily="34" charset="-120"/>
              </a:rPr>
              <a:t>Run pilots in 2 programs, collect data, build automation</a:t>
            </a:r>
            <a:endParaRPr lang="en-US" sz="1800" dirty="0"/>
          </a:p>
        </p:txBody>
      </p:sp>
      <p:sp>
        <p:nvSpPr>
          <p:cNvPr id="10" name="Text 7"/>
          <p:cNvSpPr/>
          <p:nvPr/>
        </p:nvSpPr>
        <p:spPr>
          <a:xfrm>
            <a:off x="721519" y="7418665"/>
            <a:ext cx="13187363" cy="281583"/>
          </a:xfrm>
          <a:prstGeom prst="rect">
            <a:avLst/>
          </a:prstGeom>
          <a:noFill/>
          <a:ln/>
        </p:spPr>
        <p:txBody>
          <a:bodyPr wrap="none" lIns="0" tIns="0" rIns="0" bIns="0" rtlCol="0" anchor="t"/>
          <a:lstStyle/>
          <a:p>
            <a:pPr marL="0" indent="0" algn="l">
              <a:lnSpc>
                <a:spcPts val="2200"/>
              </a:lnSpc>
              <a:buNone/>
            </a:pPr>
            <a:r>
              <a:rPr lang="en-US" sz="1500" dirty="0">
                <a:solidFill>
                  <a:srgbClr val="49495A"/>
                </a:solidFill>
                <a:latin typeface="Open Sans" pitchFamily="34" charset="0"/>
                <a:ea typeface="Open Sans" pitchFamily="34" charset="-122"/>
                <a:cs typeface="Open Sans" pitchFamily="34" charset="-120"/>
              </a:rPr>
              <a:t>Each phase builds on the last — from individual capability to team-wide operational leverage. Leadership review is built into the final milestone.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3073" y="634722"/>
            <a:ext cx="5522357" cy="690205"/>
          </a:xfrm>
          <a:prstGeom prst="rect">
            <a:avLst/>
          </a:prstGeom>
          <a:noFill/>
          <a:ln/>
        </p:spPr>
        <p:txBody>
          <a:bodyPr wrap="none" lIns="0" tIns="0" rIns="0" bIns="0" rtlCol="0" anchor="t"/>
          <a:lstStyle/>
          <a:p>
            <a:pPr marL="0" indent="0" algn="l">
              <a:lnSpc>
                <a:spcPts val="5400"/>
              </a:lnSpc>
              <a:buNone/>
            </a:pPr>
            <a:r>
              <a:rPr lang="en-US" sz="4300" dirty="0">
                <a:solidFill>
                  <a:srgbClr val="403CCF"/>
                </a:solidFill>
                <a:latin typeface="Libre Baskerville" pitchFamily="34" charset="0"/>
                <a:ea typeface="Libre Baskerville" pitchFamily="34" charset="-122"/>
                <a:cs typeface="Libre Baskerville" pitchFamily="34" charset="-120"/>
              </a:rPr>
              <a:t>Risks &amp; Mitigations</a:t>
            </a:r>
            <a:endParaRPr lang="en-US" sz="4300" dirty="0"/>
          </a:p>
        </p:txBody>
      </p:sp>
      <p:sp>
        <p:nvSpPr>
          <p:cNvPr id="3" name="Shape 1"/>
          <p:cNvSpPr/>
          <p:nvPr/>
        </p:nvSpPr>
        <p:spPr>
          <a:xfrm>
            <a:off x="773073" y="1647587"/>
            <a:ext cx="13084254" cy="1325523"/>
          </a:xfrm>
          <a:prstGeom prst="roundRect">
            <a:avLst>
              <a:gd name="adj" fmla="val 2500"/>
            </a:avLst>
          </a:prstGeom>
          <a:solidFill>
            <a:srgbClr val="FBFAFF"/>
          </a:solidFill>
          <a:ln w="30480">
            <a:solidFill>
              <a:srgbClr val="D0CED9"/>
            </a:solidFill>
            <a:prstDash val="solid"/>
          </a:ln>
        </p:spPr>
        <p:txBody>
          <a:bodyPr/>
          <a:lstStyle/>
          <a:p>
            <a:endParaRPr lang="en-US"/>
          </a:p>
        </p:txBody>
      </p:sp>
      <p:sp>
        <p:nvSpPr>
          <p:cNvPr id="4" name="Shape 2"/>
          <p:cNvSpPr/>
          <p:nvPr/>
        </p:nvSpPr>
        <p:spPr>
          <a:xfrm>
            <a:off x="803553" y="1678067"/>
            <a:ext cx="883563" cy="1264563"/>
          </a:xfrm>
          <a:prstGeom prst="rect">
            <a:avLst/>
          </a:prstGeom>
          <a:solidFill>
            <a:srgbClr val="EAE8F3"/>
          </a:solidFill>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9659" y="2144673"/>
            <a:ext cx="331232" cy="331232"/>
          </a:xfrm>
          <a:prstGeom prst="rect">
            <a:avLst/>
          </a:prstGeom>
        </p:spPr>
      </p:pic>
      <p:sp>
        <p:nvSpPr>
          <p:cNvPr id="6" name="Text 3"/>
          <p:cNvSpPr/>
          <p:nvPr/>
        </p:nvSpPr>
        <p:spPr>
          <a:xfrm>
            <a:off x="1902143" y="1898928"/>
            <a:ext cx="3457932" cy="345043"/>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AI Output Inconsistency</a:t>
            </a:r>
            <a:endParaRPr lang="en-US" sz="2150" dirty="0"/>
          </a:p>
        </p:txBody>
      </p:sp>
      <p:sp>
        <p:nvSpPr>
          <p:cNvPr id="7" name="Text 4"/>
          <p:cNvSpPr/>
          <p:nvPr/>
        </p:nvSpPr>
        <p:spPr>
          <a:xfrm>
            <a:off x="1902143" y="2373035"/>
            <a:ext cx="11703844" cy="348734"/>
          </a:xfrm>
          <a:prstGeom prst="rect">
            <a:avLst/>
          </a:prstGeom>
          <a:noFill/>
          <a:ln/>
        </p:spPr>
        <p:txBody>
          <a:bodyPr wrap="none" lIns="0" tIns="0" rIns="0" bIns="0" rtlCol="0" anchor="t"/>
          <a:lstStyle/>
          <a:p>
            <a:pPr marL="0" indent="0" algn="l">
              <a:lnSpc>
                <a:spcPts val="2700"/>
              </a:lnSpc>
              <a:buNone/>
            </a:pPr>
            <a:r>
              <a:rPr lang="en-US" sz="1700" dirty="0">
                <a:solidFill>
                  <a:srgbClr val="49495A"/>
                </a:solidFill>
                <a:latin typeface="Open Sans" pitchFamily="34" charset="0"/>
                <a:ea typeface="Open Sans" pitchFamily="34" charset="-122"/>
                <a:cs typeface="Open Sans" pitchFamily="34" charset="-120"/>
              </a:rPr>
              <a:t>Establish prompt templates and a mandatory human review step for all external-facing content</a:t>
            </a:r>
            <a:endParaRPr lang="en-US" sz="1700" dirty="0"/>
          </a:p>
        </p:txBody>
      </p:sp>
      <p:sp>
        <p:nvSpPr>
          <p:cNvPr id="8" name="Shape 5"/>
          <p:cNvSpPr/>
          <p:nvPr/>
        </p:nvSpPr>
        <p:spPr>
          <a:xfrm>
            <a:off x="773073" y="3188137"/>
            <a:ext cx="13084254" cy="1325523"/>
          </a:xfrm>
          <a:prstGeom prst="roundRect">
            <a:avLst>
              <a:gd name="adj" fmla="val 2500"/>
            </a:avLst>
          </a:prstGeom>
          <a:solidFill>
            <a:srgbClr val="FBFAFF"/>
          </a:solidFill>
          <a:ln w="30480">
            <a:solidFill>
              <a:srgbClr val="D0CED9"/>
            </a:solidFill>
            <a:prstDash val="solid"/>
          </a:ln>
        </p:spPr>
        <p:txBody>
          <a:bodyPr/>
          <a:lstStyle/>
          <a:p>
            <a:endParaRPr lang="en-US"/>
          </a:p>
        </p:txBody>
      </p:sp>
      <p:sp>
        <p:nvSpPr>
          <p:cNvPr id="9" name="Shape 6"/>
          <p:cNvSpPr/>
          <p:nvPr/>
        </p:nvSpPr>
        <p:spPr>
          <a:xfrm>
            <a:off x="803553" y="3218617"/>
            <a:ext cx="883563" cy="1264563"/>
          </a:xfrm>
          <a:prstGeom prst="rect">
            <a:avLst/>
          </a:prstGeom>
          <a:solidFill>
            <a:srgbClr val="EAE8F3"/>
          </a:solidFill>
          <a:ln/>
        </p:spPr>
        <p:txBody>
          <a:bodyPr/>
          <a:lstStyle/>
          <a:p>
            <a:endParaRPr lang="en-US"/>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9659" y="3685223"/>
            <a:ext cx="331232" cy="331232"/>
          </a:xfrm>
          <a:prstGeom prst="rect">
            <a:avLst/>
          </a:prstGeom>
        </p:spPr>
      </p:pic>
      <p:sp>
        <p:nvSpPr>
          <p:cNvPr id="11" name="Text 7"/>
          <p:cNvSpPr/>
          <p:nvPr/>
        </p:nvSpPr>
        <p:spPr>
          <a:xfrm>
            <a:off x="1902143" y="3439478"/>
            <a:ext cx="2761178" cy="345043"/>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Low Adoption</a:t>
            </a:r>
            <a:endParaRPr lang="en-US" sz="2150" dirty="0"/>
          </a:p>
        </p:txBody>
      </p:sp>
      <p:sp>
        <p:nvSpPr>
          <p:cNvPr id="12" name="Text 8"/>
          <p:cNvSpPr/>
          <p:nvPr/>
        </p:nvSpPr>
        <p:spPr>
          <a:xfrm>
            <a:off x="1902143" y="3913584"/>
            <a:ext cx="11703844" cy="348734"/>
          </a:xfrm>
          <a:prstGeom prst="rect">
            <a:avLst/>
          </a:prstGeom>
          <a:noFill/>
          <a:ln/>
        </p:spPr>
        <p:txBody>
          <a:bodyPr wrap="none" lIns="0" tIns="0" rIns="0" bIns="0" rtlCol="0" anchor="t"/>
          <a:lstStyle/>
          <a:p>
            <a:pPr marL="0" indent="0" algn="l">
              <a:lnSpc>
                <a:spcPts val="2700"/>
              </a:lnSpc>
              <a:buNone/>
            </a:pPr>
            <a:r>
              <a:rPr lang="en-US" sz="1700" dirty="0">
                <a:solidFill>
                  <a:srgbClr val="49495A"/>
                </a:solidFill>
                <a:latin typeface="Open Sans" pitchFamily="34" charset="0"/>
                <a:ea typeface="Open Sans" pitchFamily="34" charset="-122"/>
                <a:cs typeface="Open Sans" pitchFamily="34" charset="-120"/>
              </a:rPr>
              <a:t>Embed AI tools directly into existing workflows and celebrate early wins publicly to build momentum</a:t>
            </a:r>
            <a:endParaRPr lang="en-US" sz="1700" dirty="0"/>
          </a:p>
        </p:txBody>
      </p:sp>
      <p:sp>
        <p:nvSpPr>
          <p:cNvPr id="13" name="Shape 9"/>
          <p:cNvSpPr/>
          <p:nvPr/>
        </p:nvSpPr>
        <p:spPr>
          <a:xfrm>
            <a:off x="773073" y="4728686"/>
            <a:ext cx="13084254" cy="1325523"/>
          </a:xfrm>
          <a:prstGeom prst="roundRect">
            <a:avLst>
              <a:gd name="adj" fmla="val 2500"/>
            </a:avLst>
          </a:prstGeom>
          <a:solidFill>
            <a:srgbClr val="FBFAFF"/>
          </a:solidFill>
          <a:ln w="30480">
            <a:solidFill>
              <a:srgbClr val="D0CED9"/>
            </a:solidFill>
            <a:prstDash val="solid"/>
          </a:ln>
        </p:spPr>
        <p:txBody>
          <a:bodyPr/>
          <a:lstStyle/>
          <a:p>
            <a:endParaRPr lang="en-US"/>
          </a:p>
        </p:txBody>
      </p:sp>
      <p:sp>
        <p:nvSpPr>
          <p:cNvPr id="14" name="Shape 10"/>
          <p:cNvSpPr/>
          <p:nvPr/>
        </p:nvSpPr>
        <p:spPr>
          <a:xfrm>
            <a:off x="803553" y="4759166"/>
            <a:ext cx="883563" cy="1264563"/>
          </a:xfrm>
          <a:prstGeom prst="rect">
            <a:avLst/>
          </a:prstGeom>
          <a:solidFill>
            <a:srgbClr val="EAE8F3"/>
          </a:solidFill>
          <a:ln/>
        </p:spPr>
        <p:txBody>
          <a:bodyPr/>
          <a:lstStyle/>
          <a:p>
            <a:endParaRPr lang="en-US"/>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79659" y="5225772"/>
            <a:ext cx="331232" cy="331232"/>
          </a:xfrm>
          <a:prstGeom prst="rect">
            <a:avLst/>
          </a:prstGeom>
        </p:spPr>
      </p:pic>
      <p:sp>
        <p:nvSpPr>
          <p:cNvPr id="16" name="Text 11"/>
          <p:cNvSpPr/>
          <p:nvPr/>
        </p:nvSpPr>
        <p:spPr>
          <a:xfrm>
            <a:off x="1902143" y="4980027"/>
            <a:ext cx="2761178" cy="345043"/>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Data Privacy</a:t>
            </a:r>
            <a:endParaRPr lang="en-US" sz="2150" dirty="0"/>
          </a:p>
        </p:txBody>
      </p:sp>
      <p:sp>
        <p:nvSpPr>
          <p:cNvPr id="17" name="Text 12"/>
          <p:cNvSpPr/>
          <p:nvPr/>
        </p:nvSpPr>
        <p:spPr>
          <a:xfrm>
            <a:off x="1902143" y="5454134"/>
            <a:ext cx="11703844" cy="348734"/>
          </a:xfrm>
          <a:prstGeom prst="rect">
            <a:avLst/>
          </a:prstGeom>
          <a:noFill/>
          <a:ln/>
        </p:spPr>
        <p:txBody>
          <a:bodyPr wrap="none" lIns="0" tIns="0" rIns="0" bIns="0" rtlCol="0" anchor="t"/>
          <a:lstStyle/>
          <a:p>
            <a:pPr marL="0" indent="0" algn="l">
              <a:lnSpc>
                <a:spcPts val="2700"/>
              </a:lnSpc>
              <a:buNone/>
            </a:pPr>
            <a:r>
              <a:rPr lang="en-US" sz="1700" dirty="0">
                <a:solidFill>
                  <a:srgbClr val="49495A"/>
                </a:solidFill>
                <a:latin typeface="Open Sans" pitchFamily="34" charset="0"/>
                <a:ea typeface="Open Sans" pitchFamily="34" charset="-122"/>
                <a:cs typeface="Open Sans" pitchFamily="34" charset="-120"/>
              </a:rPr>
              <a:t>Use only IT-approved tools and establish a clear policy against inputting confidential customer data</a:t>
            </a:r>
            <a:endParaRPr lang="en-US" sz="1700" dirty="0"/>
          </a:p>
        </p:txBody>
      </p:sp>
      <p:sp>
        <p:nvSpPr>
          <p:cNvPr id="18" name="Shape 13"/>
          <p:cNvSpPr/>
          <p:nvPr/>
        </p:nvSpPr>
        <p:spPr>
          <a:xfrm>
            <a:off x="773073" y="6269236"/>
            <a:ext cx="13084254" cy="1325523"/>
          </a:xfrm>
          <a:prstGeom prst="roundRect">
            <a:avLst>
              <a:gd name="adj" fmla="val 2500"/>
            </a:avLst>
          </a:prstGeom>
          <a:solidFill>
            <a:srgbClr val="FBFAFF"/>
          </a:solidFill>
          <a:ln w="30480">
            <a:solidFill>
              <a:srgbClr val="D0CED9"/>
            </a:solidFill>
            <a:prstDash val="solid"/>
          </a:ln>
        </p:spPr>
        <p:txBody>
          <a:bodyPr/>
          <a:lstStyle/>
          <a:p>
            <a:endParaRPr lang="en-US"/>
          </a:p>
        </p:txBody>
      </p:sp>
      <p:sp>
        <p:nvSpPr>
          <p:cNvPr id="19" name="Shape 14"/>
          <p:cNvSpPr/>
          <p:nvPr/>
        </p:nvSpPr>
        <p:spPr>
          <a:xfrm>
            <a:off x="803553" y="6299716"/>
            <a:ext cx="883563" cy="1264563"/>
          </a:xfrm>
          <a:prstGeom prst="rect">
            <a:avLst/>
          </a:prstGeom>
          <a:solidFill>
            <a:srgbClr val="EAE8F3"/>
          </a:solidFill>
          <a:ln/>
        </p:spPr>
        <p:txBody>
          <a:bodyPr/>
          <a:lstStyle/>
          <a:p>
            <a:endParaRPr lang="en-US"/>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79659" y="6766322"/>
            <a:ext cx="331232" cy="331232"/>
          </a:xfrm>
          <a:prstGeom prst="rect">
            <a:avLst/>
          </a:prstGeom>
        </p:spPr>
      </p:pic>
      <p:sp>
        <p:nvSpPr>
          <p:cNvPr id="21" name="Text 15"/>
          <p:cNvSpPr/>
          <p:nvPr/>
        </p:nvSpPr>
        <p:spPr>
          <a:xfrm>
            <a:off x="1902143" y="6520577"/>
            <a:ext cx="2908697" cy="345043"/>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Vendor Dependency</a:t>
            </a:r>
            <a:endParaRPr lang="en-US" sz="2150" dirty="0"/>
          </a:p>
        </p:txBody>
      </p:sp>
      <p:sp>
        <p:nvSpPr>
          <p:cNvPr id="22" name="Text 16"/>
          <p:cNvSpPr/>
          <p:nvPr/>
        </p:nvSpPr>
        <p:spPr>
          <a:xfrm>
            <a:off x="1902143" y="6994684"/>
            <a:ext cx="11703844" cy="348734"/>
          </a:xfrm>
          <a:prstGeom prst="rect">
            <a:avLst/>
          </a:prstGeom>
          <a:noFill/>
          <a:ln/>
        </p:spPr>
        <p:txBody>
          <a:bodyPr wrap="none" lIns="0" tIns="0" rIns="0" bIns="0" rtlCol="0" anchor="t"/>
          <a:lstStyle/>
          <a:p>
            <a:pPr marL="0" indent="0" algn="l">
              <a:lnSpc>
                <a:spcPts val="2700"/>
              </a:lnSpc>
              <a:buNone/>
            </a:pPr>
            <a:r>
              <a:rPr lang="en-US" sz="1700" dirty="0">
                <a:solidFill>
                  <a:srgbClr val="49495A"/>
                </a:solidFill>
                <a:latin typeface="Open Sans" pitchFamily="34" charset="0"/>
                <a:ea typeface="Open Sans" pitchFamily="34" charset="-122"/>
                <a:cs typeface="Open Sans" pitchFamily="34" charset="-120"/>
              </a:rPr>
              <a:t>Pilot multiple tools simultaneously and build flexibility and exit clauses into contracts from the start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38287" y="859036"/>
            <a:ext cx="6185059" cy="523280"/>
          </a:xfrm>
          <a:prstGeom prst="rect">
            <a:avLst/>
          </a:prstGeom>
          <a:noFill/>
          <a:ln/>
        </p:spPr>
        <p:txBody>
          <a:bodyPr wrap="none" lIns="0" tIns="0" rIns="0" bIns="0" rtlCol="0" anchor="t"/>
          <a:lstStyle/>
          <a:p>
            <a:pPr marL="0" indent="0" algn="l">
              <a:lnSpc>
                <a:spcPts val="4100"/>
              </a:lnSpc>
              <a:buNone/>
            </a:pPr>
            <a:r>
              <a:rPr lang="en-US" sz="3250" dirty="0">
                <a:solidFill>
                  <a:srgbClr val="403CCF"/>
                </a:solidFill>
                <a:latin typeface="Libre Baskerville" pitchFamily="34" charset="0"/>
                <a:ea typeface="Libre Baskerville" pitchFamily="34" charset="-122"/>
                <a:cs typeface="Libre Baskerville" pitchFamily="34" charset="-120"/>
              </a:rPr>
              <a:t>How We'll Know It's Working</a:t>
            </a:r>
            <a:endParaRPr lang="en-US" sz="3250" dirty="0"/>
          </a:p>
        </p:txBody>
      </p:sp>
      <p:sp>
        <p:nvSpPr>
          <p:cNvPr id="3" name="Text 1"/>
          <p:cNvSpPr/>
          <p:nvPr/>
        </p:nvSpPr>
        <p:spPr>
          <a:xfrm>
            <a:off x="1538287" y="1629489"/>
            <a:ext cx="11553706" cy="232767"/>
          </a:xfrm>
          <a:prstGeom prst="rect">
            <a:avLst/>
          </a:prstGeom>
          <a:noFill/>
          <a:ln/>
        </p:spPr>
        <p:txBody>
          <a:bodyPr wrap="none" lIns="0" tIns="0" rIns="0" bIns="0" rtlCol="0" anchor="t"/>
          <a:lstStyle/>
          <a:p>
            <a:pPr marL="0" indent="0" algn="l">
              <a:lnSpc>
                <a:spcPts val="1800"/>
              </a:lnSpc>
              <a:buNone/>
            </a:pPr>
            <a:r>
              <a:rPr lang="en-US" sz="1300" dirty="0">
                <a:solidFill>
                  <a:srgbClr val="49495A"/>
                </a:solidFill>
                <a:latin typeface="Open Sans" pitchFamily="34" charset="0"/>
                <a:ea typeface="Open Sans" pitchFamily="34" charset="-122"/>
                <a:cs typeface="Open Sans" pitchFamily="34" charset="-120"/>
              </a:rPr>
              <a:t>Success metrics tracked from Month 1 baseline — measurable, time-bound, and tied to team output:</a:t>
            </a:r>
            <a:endParaRPr lang="en-US" sz="1300" dirty="0"/>
          </a:p>
        </p:txBody>
      </p:sp>
      <p:sp>
        <p:nvSpPr>
          <p:cNvPr id="4" name="Text 2"/>
          <p:cNvSpPr/>
          <p:nvPr/>
        </p:nvSpPr>
        <p:spPr>
          <a:xfrm>
            <a:off x="1538287" y="2084903"/>
            <a:ext cx="5699641" cy="552569"/>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3+ hrs</a:t>
            </a:r>
            <a:endParaRPr lang="en-US" sz="4350" dirty="0"/>
          </a:p>
        </p:txBody>
      </p:sp>
      <p:sp>
        <p:nvSpPr>
          <p:cNvPr id="5" name="Text 3"/>
          <p:cNvSpPr/>
          <p:nvPr/>
        </p:nvSpPr>
        <p:spPr>
          <a:xfrm>
            <a:off x="3341608" y="2813804"/>
            <a:ext cx="2093000" cy="261580"/>
          </a:xfrm>
          <a:prstGeom prst="rect">
            <a:avLst/>
          </a:prstGeom>
          <a:noFill/>
          <a:ln/>
        </p:spPr>
        <p:txBody>
          <a:bodyPr wrap="none" lIns="0" tIns="0" rIns="0" bIns="0" rtlCol="0" anchor="t"/>
          <a:lstStyle/>
          <a:p>
            <a:pPr marL="0" indent="0" algn="ctr">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Saved Per Person</a:t>
            </a:r>
            <a:endParaRPr lang="en-US" sz="1600" dirty="0"/>
          </a:p>
        </p:txBody>
      </p:sp>
      <p:sp>
        <p:nvSpPr>
          <p:cNvPr id="6" name="Text 4"/>
          <p:cNvSpPr/>
          <p:nvPr/>
        </p:nvSpPr>
        <p:spPr>
          <a:xfrm>
            <a:off x="1538287" y="3149441"/>
            <a:ext cx="5699641" cy="232767"/>
          </a:xfrm>
          <a:prstGeom prst="rect">
            <a:avLst/>
          </a:prstGeom>
          <a:noFill/>
          <a:ln/>
        </p:spPr>
        <p:txBody>
          <a:bodyPr wrap="none" lIns="0" tIns="0" rIns="0" bIns="0" rtlCol="0" anchor="t"/>
          <a:lstStyle/>
          <a:p>
            <a:pPr marL="0" indent="0" algn="ctr">
              <a:lnSpc>
                <a:spcPts val="1800"/>
              </a:lnSpc>
              <a:buNone/>
            </a:pPr>
            <a:r>
              <a:rPr lang="en-US" sz="1300" dirty="0">
                <a:solidFill>
                  <a:srgbClr val="49495A"/>
                </a:solidFill>
                <a:latin typeface="Open Sans" pitchFamily="34" charset="0"/>
                <a:ea typeface="Open Sans" pitchFamily="34" charset="-122"/>
                <a:cs typeface="Open Sans" pitchFamily="34" charset="-120"/>
              </a:rPr>
              <a:t>Per week target</a:t>
            </a:r>
            <a:endParaRPr lang="en-US" sz="1300" dirty="0"/>
          </a:p>
        </p:txBody>
      </p:sp>
      <p:sp>
        <p:nvSpPr>
          <p:cNvPr id="7" name="Text 5"/>
          <p:cNvSpPr/>
          <p:nvPr/>
        </p:nvSpPr>
        <p:spPr>
          <a:xfrm>
            <a:off x="7392353" y="2084903"/>
            <a:ext cx="5699641" cy="552569"/>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50%</a:t>
            </a:r>
            <a:endParaRPr lang="en-US" sz="4350" dirty="0"/>
          </a:p>
        </p:txBody>
      </p:sp>
      <p:sp>
        <p:nvSpPr>
          <p:cNvPr id="8" name="Text 6"/>
          <p:cNvSpPr/>
          <p:nvPr/>
        </p:nvSpPr>
        <p:spPr>
          <a:xfrm>
            <a:off x="9195673" y="2813804"/>
            <a:ext cx="2093000" cy="261580"/>
          </a:xfrm>
          <a:prstGeom prst="rect">
            <a:avLst/>
          </a:prstGeom>
          <a:noFill/>
          <a:ln/>
        </p:spPr>
        <p:txBody>
          <a:bodyPr wrap="none" lIns="0" tIns="0" rIns="0" bIns="0" rtlCol="0" anchor="t"/>
          <a:lstStyle/>
          <a:p>
            <a:pPr marL="0" indent="0" algn="ctr">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Faster Turnaround</a:t>
            </a:r>
            <a:endParaRPr lang="en-US" sz="1600" dirty="0"/>
          </a:p>
        </p:txBody>
      </p:sp>
      <p:sp>
        <p:nvSpPr>
          <p:cNvPr id="9" name="Text 7"/>
          <p:cNvSpPr/>
          <p:nvPr/>
        </p:nvSpPr>
        <p:spPr>
          <a:xfrm>
            <a:off x="7392353" y="3149441"/>
            <a:ext cx="5699641" cy="232767"/>
          </a:xfrm>
          <a:prstGeom prst="rect">
            <a:avLst/>
          </a:prstGeom>
          <a:noFill/>
          <a:ln/>
        </p:spPr>
        <p:txBody>
          <a:bodyPr wrap="none" lIns="0" tIns="0" rIns="0" bIns="0" rtlCol="0" anchor="t"/>
          <a:lstStyle/>
          <a:p>
            <a:pPr marL="0" indent="0" algn="ctr">
              <a:lnSpc>
                <a:spcPts val="1800"/>
              </a:lnSpc>
              <a:buNone/>
            </a:pPr>
            <a:r>
              <a:rPr lang="en-US" sz="1300" dirty="0">
                <a:solidFill>
                  <a:srgbClr val="49495A"/>
                </a:solidFill>
                <a:latin typeface="Open Sans" pitchFamily="34" charset="0"/>
                <a:ea typeface="Open Sans" pitchFamily="34" charset="-122"/>
                <a:cs typeface="Open Sans" pitchFamily="34" charset="-120"/>
              </a:rPr>
              <a:t>Request to published asset</a:t>
            </a:r>
            <a:endParaRPr lang="en-US" sz="1300" dirty="0"/>
          </a:p>
        </p:txBody>
      </p:sp>
      <p:sp>
        <p:nvSpPr>
          <p:cNvPr id="10" name="Text 8"/>
          <p:cNvSpPr/>
          <p:nvPr/>
        </p:nvSpPr>
        <p:spPr>
          <a:xfrm>
            <a:off x="1538287" y="3713083"/>
            <a:ext cx="5699641" cy="552569"/>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80%</a:t>
            </a:r>
            <a:endParaRPr lang="en-US" sz="4350" dirty="0"/>
          </a:p>
        </p:txBody>
      </p:sp>
      <p:sp>
        <p:nvSpPr>
          <p:cNvPr id="11" name="Text 9"/>
          <p:cNvSpPr/>
          <p:nvPr/>
        </p:nvSpPr>
        <p:spPr>
          <a:xfrm>
            <a:off x="3341608" y="4441984"/>
            <a:ext cx="2093000" cy="261580"/>
          </a:xfrm>
          <a:prstGeom prst="rect">
            <a:avLst/>
          </a:prstGeom>
          <a:noFill/>
          <a:ln/>
        </p:spPr>
        <p:txBody>
          <a:bodyPr wrap="none" lIns="0" tIns="0" rIns="0" bIns="0" rtlCol="0" anchor="t"/>
          <a:lstStyle/>
          <a:p>
            <a:pPr marL="0" indent="0" algn="ctr">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Tool Adoption</a:t>
            </a:r>
            <a:endParaRPr lang="en-US" sz="1600" dirty="0"/>
          </a:p>
        </p:txBody>
      </p:sp>
      <p:sp>
        <p:nvSpPr>
          <p:cNvPr id="12" name="Text 10"/>
          <p:cNvSpPr/>
          <p:nvPr/>
        </p:nvSpPr>
        <p:spPr>
          <a:xfrm>
            <a:off x="1538287" y="4777621"/>
            <a:ext cx="5699641" cy="232767"/>
          </a:xfrm>
          <a:prstGeom prst="rect">
            <a:avLst/>
          </a:prstGeom>
          <a:noFill/>
          <a:ln/>
        </p:spPr>
        <p:txBody>
          <a:bodyPr wrap="none" lIns="0" tIns="0" rIns="0" bIns="0" rtlCol="0" anchor="t"/>
          <a:lstStyle/>
          <a:p>
            <a:pPr marL="0" indent="0" algn="ctr">
              <a:lnSpc>
                <a:spcPts val="1800"/>
              </a:lnSpc>
              <a:buNone/>
            </a:pPr>
            <a:r>
              <a:rPr lang="en-US" sz="1300" dirty="0">
                <a:solidFill>
                  <a:srgbClr val="49495A"/>
                </a:solidFill>
                <a:latin typeface="Open Sans" pitchFamily="34" charset="0"/>
                <a:ea typeface="Open Sans" pitchFamily="34" charset="-122"/>
                <a:cs typeface="Open Sans" pitchFamily="34" charset="-120"/>
              </a:rPr>
              <a:t>Active users within 60 days</a:t>
            </a:r>
            <a:endParaRPr lang="en-US" sz="1300" dirty="0"/>
          </a:p>
        </p:txBody>
      </p:sp>
      <p:sp>
        <p:nvSpPr>
          <p:cNvPr id="13" name="Text 11"/>
          <p:cNvSpPr/>
          <p:nvPr/>
        </p:nvSpPr>
        <p:spPr>
          <a:xfrm>
            <a:off x="7392353" y="3713083"/>
            <a:ext cx="5699641" cy="552569"/>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4.2/5</a:t>
            </a:r>
            <a:endParaRPr lang="en-US" sz="4350" dirty="0"/>
          </a:p>
        </p:txBody>
      </p:sp>
      <p:sp>
        <p:nvSpPr>
          <p:cNvPr id="14" name="Text 12"/>
          <p:cNvSpPr/>
          <p:nvPr/>
        </p:nvSpPr>
        <p:spPr>
          <a:xfrm>
            <a:off x="9195673" y="4441984"/>
            <a:ext cx="2093000" cy="261580"/>
          </a:xfrm>
          <a:prstGeom prst="rect">
            <a:avLst/>
          </a:prstGeom>
          <a:noFill/>
          <a:ln/>
        </p:spPr>
        <p:txBody>
          <a:bodyPr wrap="none" lIns="0" tIns="0" rIns="0" bIns="0" rtlCol="0" anchor="t"/>
          <a:lstStyle/>
          <a:p>
            <a:pPr marL="0" indent="0" algn="ctr">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Asset Quality Score</a:t>
            </a:r>
            <a:endParaRPr lang="en-US" sz="1600" dirty="0"/>
          </a:p>
        </p:txBody>
      </p:sp>
      <p:sp>
        <p:nvSpPr>
          <p:cNvPr id="15" name="Text 13"/>
          <p:cNvSpPr/>
          <p:nvPr/>
        </p:nvSpPr>
        <p:spPr>
          <a:xfrm>
            <a:off x="7392353" y="4777621"/>
            <a:ext cx="5699641" cy="232767"/>
          </a:xfrm>
          <a:prstGeom prst="rect">
            <a:avLst/>
          </a:prstGeom>
          <a:noFill/>
          <a:ln/>
        </p:spPr>
        <p:txBody>
          <a:bodyPr wrap="none" lIns="0" tIns="0" rIns="0" bIns="0" rtlCol="0" anchor="t"/>
          <a:lstStyle/>
          <a:p>
            <a:pPr marL="0" indent="0" algn="ctr">
              <a:lnSpc>
                <a:spcPts val="1800"/>
              </a:lnSpc>
              <a:buNone/>
            </a:pPr>
            <a:r>
              <a:rPr lang="en-US" sz="1300" dirty="0">
                <a:solidFill>
                  <a:srgbClr val="49495A"/>
                </a:solidFill>
                <a:latin typeface="Open Sans" pitchFamily="34" charset="0"/>
                <a:ea typeface="Open Sans" pitchFamily="34" charset="-122"/>
                <a:cs typeface="Open Sans" pitchFamily="34" charset="-120"/>
              </a:rPr>
              <a:t>Rep satisfaction rating</a:t>
            </a:r>
            <a:endParaRPr lang="en-US" sz="1300" dirty="0"/>
          </a:p>
        </p:txBody>
      </p:sp>
      <p:sp>
        <p:nvSpPr>
          <p:cNvPr id="16" name="Text 14"/>
          <p:cNvSpPr/>
          <p:nvPr/>
        </p:nvSpPr>
        <p:spPr>
          <a:xfrm>
            <a:off x="1538287" y="5341263"/>
            <a:ext cx="5699641" cy="552569"/>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20%</a:t>
            </a:r>
            <a:endParaRPr lang="en-US" sz="4350" dirty="0"/>
          </a:p>
        </p:txBody>
      </p:sp>
      <p:sp>
        <p:nvSpPr>
          <p:cNvPr id="17" name="Text 15"/>
          <p:cNvSpPr/>
          <p:nvPr/>
        </p:nvSpPr>
        <p:spPr>
          <a:xfrm>
            <a:off x="3341608" y="6070163"/>
            <a:ext cx="2093000" cy="261580"/>
          </a:xfrm>
          <a:prstGeom prst="rect">
            <a:avLst/>
          </a:prstGeom>
          <a:noFill/>
          <a:ln/>
        </p:spPr>
        <p:txBody>
          <a:bodyPr wrap="none" lIns="0" tIns="0" rIns="0" bIns="0" rtlCol="0" anchor="t"/>
          <a:lstStyle/>
          <a:p>
            <a:pPr marL="0" indent="0" algn="ctr">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Faster Ramp</a:t>
            </a:r>
            <a:endParaRPr lang="en-US" sz="1600" dirty="0"/>
          </a:p>
        </p:txBody>
      </p:sp>
      <p:sp>
        <p:nvSpPr>
          <p:cNvPr id="18" name="Text 16"/>
          <p:cNvSpPr/>
          <p:nvPr/>
        </p:nvSpPr>
        <p:spPr>
          <a:xfrm>
            <a:off x="1538287" y="6405801"/>
            <a:ext cx="5699641" cy="232767"/>
          </a:xfrm>
          <a:prstGeom prst="rect">
            <a:avLst/>
          </a:prstGeom>
          <a:noFill/>
          <a:ln/>
        </p:spPr>
        <p:txBody>
          <a:bodyPr wrap="none" lIns="0" tIns="0" rIns="0" bIns="0" rtlCol="0" anchor="t"/>
          <a:lstStyle/>
          <a:p>
            <a:pPr marL="0" indent="0" algn="ctr">
              <a:lnSpc>
                <a:spcPts val="1800"/>
              </a:lnSpc>
              <a:buNone/>
            </a:pPr>
            <a:r>
              <a:rPr lang="en-US" sz="1300" dirty="0">
                <a:solidFill>
                  <a:srgbClr val="49495A"/>
                </a:solidFill>
                <a:latin typeface="Open Sans" pitchFamily="34" charset="0"/>
                <a:ea typeface="Open Sans" pitchFamily="34" charset="-122"/>
                <a:cs typeface="Open Sans" pitchFamily="34" charset="-120"/>
              </a:rPr>
              <a:t>Reduction in days to productivity</a:t>
            </a:r>
            <a:endParaRPr lang="en-US" sz="1300" dirty="0"/>
          </a:p>
        </p:txBody>
      </p:sp>
      <p:sp>
        <p:nvSpPr>
          <p:cNvPr id="19" name="Text 17"/>
          <p:cNvSpPr/>
          <p:nvPr/>
        </p:nvSpPr>
        <p:spPr>
          <a:xfrm>
            <a:off x="7392353" y="5341263"/>
            <a:ext cx="5699641" cy="552569"/>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5+</a:t>
            </a:r>
            <a:endParaRPr lang="en-US" sz="4350" dirty="0"/>
          </a:p>
        </p:txBody>
      </p:sp>
      <p:sp>
        <p:nvSpPr>
          <p:cNvPr id="20" name="Text 18"/>
          <p:cNvSpPr/>
          <p:nvPr/>
        </p:nvSpPr>
        <p:spPr>
          <a:xfrm>
            <a:off x="9195673" y="6070163"/>
            <a:ext cx="2093000" cy="261580"/>
          </a:xfrm>
          <a:prstGeom prst="rect">
            <a:avLst/>
          </a:prstGeom>
          <a:noFill/>
          <a:ln/>
        </p:spPr>
        <p:txBody>
          <a:bodyPr wrap="none" lIns="0" tIns="0" rIns="0" bIns="0" rtlCol="0" anchor="t"/>
          <a:lstStyle/>
          <a:p>
            <a:pPr marL="0" indent="0" algn="ctr">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Automations Live</a:t>
            </a:r>
            <a:endParaRPr lang="en-US" sz="1600" dirty="0"/>
          </a:p>
        </p:txBody>
      </p:sp>
      <p:sp>
        <p:nvSpPr>
          <p:cNvPr id="21" name="Text 19"/>
          <p:cNvSpPr/>
          <p:nvPr/>
        </p:nvSpPr>
        <p:spPr>
          <a:xfrm>
            <a:off x="7392353" y="6405801"/>
            <a:ext cx="5699641" cy="232767"/>
          </a:xfrm>
          <a:prstGeom prst="rect">
            <a:avLst/>
          </a:prstGeom>
          <a:noFill/>
          <a:ln/>
        </p:spPr>
        <p:txBody>
          <a:bodyPr wrap="none" lIns="0" tIns="0" rIns="0" bIns="0" rtlCol="0" anchor="t"/>
          <a:lstStyle/>
          <a:p>
            <a:pPr marL="0" indent="0" algn="ctr">
              <a:lnSpc>
                <a:spcPts val="1800"/>
              </a:lnSpc>
              <a:buNone/>
            </a:pPr>
            <a:r>
              <a:rPr lang="en-US" sz="1300" dirty="0">
                <a:solidFill>
                  <a:srgbClr val="49495A"/>
                </a:solidFill>
                <a:latin typeface="Open Sans" pitchFamily="34" charset="0"/>
                <a:ea typeface="Open Sans" pitchFamily="34" charset="-122"/>
                <a:cs typeface="Open Sans" pitchFamily="34" charset="-120"/>
              </a:rPr>
              <a:t>Recurring manual tasks eliminated</a:t>
            </a:r>
            <a:endParaRPr lang="en-US" sz="1300" dirty="0"/>
          </a:p>
        </p:txBody>
      </p:sp>
      <p:sp>
        <p:nvSpPr>
          <p:cNvPr id="22" name="Shape 20"/>
          <p:cNvSpPr/>
          <p:nvPr/>
        </p:nvSpPr>
        <p:spPr>
          <a:xfrm>
            <a:off x="1538287" y="6777514"/>
            <a:ext cx="11553706" cy="593050"/>
          </a:xfrm>
          <a:prstGeom prst="roundRect">
            <a:avLst>
              <a:gd name="adj" fmla="val 4235"/>
            </a:avLst>
          </a:prstGeom>
          <a:solidFill>
            <a:srgbClr val="C3C2F0"/>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1705689" y="7015401"/>
            <a:ext cx="209193" cy="167402"/>
          </a:xfrm>
          <a:prstGeom prst="rect">
            <a:avLst/>
          </a:prstGeom>
        </p:spPr>
      </p:pic>
      <p:sp>
        <p:nvSpPr>
          <p:cNvPr id="24" name="Text 21"/>
          <p:cNvSpPr/>
          <p:nvPr/>
        </p:nvSpPr>
        <p:spPr>
          <a:xfrm>
            <a:off x="2082284" y="6942892"/>
            <a:ext cx="10842308" cy="232767"/>
          </a:xfrm>
          <a:prstGeom prst="rect">
            <a:avLst/>
          </a:prstGeom>
          <a:noFill/>
          <a:ln/>
        </p:spPr>
        <p:txBody>
          <a:bodyPr wrap="none" lIns="0" tIns="0" rIns="0" bIns="0" rtlCol="0" anchor="t"/>
          <a:lstStyle/>
          <a:p>
            <a:pPr marL="0" indent="0" algn="l">
              <a:lnSpc>
                <a:spcPts val="1800"/>
              </a:lnSpc>
              <a:buNone/>
            </a:pPr>
            <a:r>
              <a:rPr lang="en-US" sz="1300" dirty="0">
                <a:solidFill>
                  <a:srgbClr val="000000"/>
                </a:solidFill>
                <a:latin typeface="Open Sans" pitchFamily="34" charset="0"/>
                <a:ea typeface="Open Sans" pitchFamily="34" charset="-122"/>
                <a:cs typeface="Open Sans" pitchFamily="34" charset="-120"/>
              </a:rPr>
              <a:t>Baseline measurements will be established in Month 1 before pilots begin.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29682" y="1304092"/>
            <a:ext cx="8057436" cy="970359"/>
          </a:xfrm>
          <a:prstGeom prst="rect">
            <a:avLst/>
          </a:prstGeom>
          <a:noFill/>
          <a:ln/>
        </p:spPr>
        <p:txBody>
          <a:bodyPr wrap="square" lIns="0" tIns="0" rIns="0" bIns="0" rtlCol="0" anchor="t"/>
          <a:lstStyle/>
          <a:p>
            <a:pPr marL="0" indent="0" algn="l">
              <a:lnSpc>
                <a:spcPts val="3800"/>
              </a:lnSpc>
              <a:buNone/>
            </a:pPr>
            <a:r>
              <a:rPr lang="en-US" sz="3050" dirty="0">
                <a:solidFill>
                  <a:srgbClr val="403CCF"/>
                </a:solidFill>
                <a:latin typeface="Libre Baskerville" pitchFamily="34" charset="0"/>
                <a:ea typeface="Libre Baskerville" pitchFamily="34" charset="-122"/>
                <a:cs typeface="Libre Baskerville" pitchFamily="34" charset="-120"/>
              </a:rPr>
              <a:t>Let's Build the AI-Enabled Enablement Team</a:t>
            </a:r>
            <a:endParaRPr lang="en-US" sz="3050" dirty="0"/>
          </a:p>
        </p:txBody>
      </p:sp>
      <p:sp>
        <p:nvSpPr>
          <p:cNvPr id="4" name="Text 1"/>
          <p:cNvSpPr/>
          <p:nvPr/>
        </p:nvSpPr>
        <p:spPr>
          <a:xfrm>
            <a:off x="6029682" y="2433757"/>
            <a:ext cx="8057436" cy="209193"/>
          </a:xfrm>
          <a:prstGeom prst="rect">
            <a:avLst/>
          </a:prstGeom>
          <a:noFill/>
          <a:ln/>
        </p:spPr>
        <p:txBody>
          <a:bodyPr wrap="none" lIns="0" tIns="0" rIns="0" bIns="0" rtlCol="0" anchor="t"/>
          <a:lstStyle/>
          <a:p>
            <a:pPr marL="0" indent="0" algn="l">
              <a:lnSpc>
                <a:spcPts val="1600"/>
              </a:lnSpc>
              <a:buNone/>
            </a:pPr>
            <a:r>
              <a:rPr lang="en-US" sz="1200" dirty="0">
                <a:solidFill>
                  <a:srgbClr val="49495A"/>
                </a:solidFill>
                <a:latin typeface="Open Sans" pitchFamily="34" charset="0"/>
                <a:ea typeface="Open Sans" pitchFamily="34" charset="-122"/>
                <a:cs typeface="Open Sans" pitchFamily="34" charset="-120"/>
              </a:rPr>
              <a:t>Three clear asks to move from strategy to execution:</a:t>
            </a:r>
            <a:endParaRPr lang="en-US" sz="1200" dirty="0"/>
          </a:p>
        </p:txBody>
      </p:sp>
      <p:sp>
        <p:nvSpPr>
          <p:cNvPr id="5" name="Shape 2"/>
          <p:cNvSpPr/>
          <p:nvPr/>
        </p:nvSpPr>
        <p:spPr>
          <a:xfrm>
            <a:off x="6029682" y="2762369"/>
            <a:ext cx="620911" cy="931426"/>
          </a:xfrm>
          <a:prstGeom prst="roundRect">
            <a:avLst>
              <a:gd name="adj" fmla="val 360037"/>
            </a:avLst>
          </a:prstGeom>
          <a:solidFill>
            <a:srgbClr val="EAE8F3"/>
          </a:solidFill>
          <a:ln/>
        </p:spPr>
        <p:txBody>
          <a:bodyPr/>
          <a:lstStyle/>
          <a:p>
            <a:endParaRPr lang="en-US"/>
          </a:p>
        </p:txBody>
      </p:sp>
      <p:sp>
        <p:nvSpPr>
          <p:cNvPr id="6" name="Text 3"/>
          <p:cNvSpPr/>
          <p:nvPr/>
        </p:nvSpPr>
        <p:spPr>
          <a:xfrm>
            <a:off x="6223754" y="3082528"/>
            <a:ext cx="232767" cy="290989"/>
          </a:xfrm>
          <a:prstGeom prst="rect">
            <a:avLst/>
          </a:prstGeom>
          <a:noFill/>
          <a:ln/>
        </p:spPr>
        <p:txBody>
          <a:bodyPr wrap="none" lIns="0" tIns="0" rIns="0" bIns="0" rtlCol="0" anchor="t"/>
          <a:lstStyle/>
          <a:p>
            <a:pPr marL="0" indent="0" algn="l">
              <a:lnSpc>
                <a:spcPts val="1800"/>
              </a:lnSpc>
              <a:buNone/>
            </a:pPr>
            <a:r>
              <a:rPr lang="en-US" sz="1800" dirty="0">
                <a:solidFill>
                  <a:srgbClr val="49495A"/>
                </a:solidFill>
                <a:latin typeface="Libre Baskerville" pitchFamily="34" charset="0"/>
                <a:ea typeface="Libre Baskerville" pitchFamily="34" charset="-122"/>
                <a:cs typeface="Libre Baskerville" pitchFamily="34" charset="-120"/>
              </a:rPr>
              <a:t>1</a:t>
            </a:r>
            <a:endParaRPr lang="en-US" sz="1800" dirty="0"/>
          </a:p>
        </p:txBody>
      </p:sp>
      <p:sp>
        <p:nvSpPr>
          <p:cNvPr id="7" name="Text 4"/>
          <p:cNvSpPr/>
          <p:nvPr/>
        </p:nvSpPr>
        <p:spPr>
          <a:xfrm>
            <a:off x="6756797" y="2917507"/>
            <a:ext cx="2133957" cy="242530"/>
          </a:xfrm>
          <a:prstGeom prst="rect">
            <a:avLst/>
          </a:prstGeom>
          <a:noFill/>
          <a:ln/>
        </p:spPr>
        <p:txBody>
          <a:bodyPr wrap="none" lIns="0" tIns="0" rIns="0" bIns="0" rtlCol="0" anchor="t"/>
          <a:lstStyle/>
          <a:p>
            <a:pPr marL="0" indent="0" algn="l">
              <a:lnSpc>
                <a:spcPts val="1900"/>
              </a:lnSpc>
              <a:buNone/>
            </a:pPr>
            <a:r>
              <a:rPr lang="en-US" sz="1500" dirty="0">
                <a:solidFill>
                  <a:srgbClr val="49495A"/>
                </a:solidFill>
                <a:latin typeface="Libre Baskerville" pitchFamily="34" charset="0"/>
                <a:ea typeface="Libre Baskerville" pitchFamily="34" charset="-122"/>
                <a:cs typeface="Libre Baskerville" pitchFamily="34" charset="-120"/>
              </a:rPr>
              <a:t>Approve Pilot Budget</a:t>
            </a:r>
            <a:endParaRPr lang="en-US" sz="1500" dirty="0"/>
          </a:p>
        </p:txBody>
      </p:sp>
      <p:sp>
        <p:nvSpPr>
          <p:cNvPr id="8" name="Text 5"/>
          <p:cNvSpPr/>
          <p:nvPr/>
        </p:nvSpPr>
        <p:spPr>
          <a:xfrm>
            <a:off x="6756797" y="3223736"/>
            <a:ext cx="7330321" cy="209193"/>
          </a:xfrm>
          <a:prstGeom prst="rect">
            <a:avLst/>
          </a:prstGeom>
          <a:noFill/>
          <a:ln/>
        </p:spPr>
        <p:txBody>
          <a:bodyPr wrap="none" lIns="0" tIns="0" rIns="0" bIns="0" rtlCol="0" anchor="t"/>
          <a:lstStyle/>
          <a:p>
            <a:pPr marL="0" indent="0" algn="l">
              <a:lnSpc>
                <a:spcPts val="1600"/>
              </a:lnSpc>
              <a:buNone/>
            </a:pPr>
            <a:r>
              <a:rPr lang="en-US" sz="1200" dirty="0">
                <a:solidFill>
                  <a:srgbClr val="49495A"/>
                </a:solidFill>
                <a:latin typeface="Open Sans" pitchFamily="34" charset="0"/>
                <a:ea typeface="Open Sans" pitchFamily="34" charset="-122"/>
                <a:cs typeface="Open Sans" pitchFamily="34" charset="-120"/>
              </a:rPr>
              <a:t>Secure tool access and budget to kick off the 90-day plan</a:t>
            </a:r>
            <a:endParaRPr lang="en-US" sz="1200" dirty="0"/>
          </a:p>
        </p:txBody>
      </p:sp>
      <p:sp>
        <p:nvSpPr>
          <p:cNvPr id="9" name="Shape 6"/>
          <p:cNvSpPr/>
          <p:nvPr/>
        </p:nvSpPr>
        <p:spPr>
          <a:xfrm>
            <a:off x="6029682" y="3799999"/>
            <a:ext cx="620911" cy="931426"/>
          </a:xfrm>
          <a:prstGeom prst="roundRect">
            <a:avLst>
              <a:gd name="adj" fmla="val 360037"/>
            </a:avLst>
          </a:prstGeom>
          <a:solidFill>
            <a:srgbClr val="EAE8F3"/>
          </a:solidFill>
          <a:ln/>
        </p:spPr>
        <p:txBody>
          <a:bodyPr/>
          <a:lstStyle/>
          <a:p>
            <a:endParaRPr lang="en-US"/>
          </a:p>
        </p:txBody>
      </p:sp>
      <p:sp>
        <p:nvSpPr>
          <p:cNvPr id="10" name="Text 7"/>
          <p:cNvSpPr/>
          <p:nvPr/>
        </p:nvSpPr>
        <p:spPr>
          <a:xfrm>
            <a:off x="6223754" y="4120158"/>
            <a:ext cx="232767" cy="290989"/>
          </a:xfrm>
          <a:prstGeom prst="rect">
            <a:avLst/>
          </a:prstGeom>
          <a:noFill/>
          <a:ln/>
        </p:spPr>
        <p:txBody>
          <a:bodyPr wrap="none" lIns="0" tIns="0" rIns="0" bIns="0" rtlCol="0" anchor="t"/>
          <a:lstStyle/>
          <a:p>
            <a:pPr marL="0" indent="0" algn="l">
              <a:lnSpc>
                <a:spcPts val="1800"/>
              </a:lnSpc>
              <a:buNone/>
            </a:pPr>
            <a:r>
              <a:rPr lang="en-US" sz="1800" dirty="0">
                <a:solidFill>
                  <a:srgbClr val="49495A"/>
                </a:solidFill>
                <a:latin typeface="Libre Baskerville" pitchFamily="34" charset="0"/>
                <a:ea typeface="Libre Baskerville" pitchFamily="34" charset="-122"/>
                <a:cs typeface="Libre Baskerville" pitchFamily="34" charset="-120"/>
              </a:rPr>
              <a:t>2</a:t>
            </a:r>
            <a:endParaRPr lang="en-US" sz="1800" dirty="0"/>
          </a:p>
        </p:txBody>
      </p:sp>
      <p:sp>
        <p:nvSpPr>
          <p:cNvPr id="11" name="Text 8"/>
          <p:cNvSpPr/>
          <p:nvPr/>
        </p:nvSpPr>
        <p:spPr>
          <a:xfrm>
            <a:off x="6756797" y="3955137"/>
            <a:ext cx="2381607" cy="242530"/>
          </a:xfrm>
          <a:prstGeom prst="rect">
            <a:avLst/>
          </a:prstGeom>
          <a:noFill/>
          <a:ln/>
        </p:spPr>
        <p:txBody>
          <a:bodyPr wrap="none" lIns="0" tIns="0" rIns="0" bIns="0" rtlCol="0" anchor="t"/>
          <a:lstStyle/>
          <a:p>
            <a:pPr marL="0" indent="0" algn="l">
              <a:lnSpc>
                <a:spcPts val="1900"/>
              </a:lnSpc>
              <a:buNone/>
            </a:pPr>
            <a:r>
              <a:rPr lang="en-US" sz="1500" dirty="0">
                <a:solidFill>
                  <a:srgbClr val="49495A"/>
                </a:solidFill>
                <a:latin typeface="Libre Baskerville" pitchFamily="34" charset="0"/>
                <a:ea typeface="Libre Baskerville" pitchFamily="34" charset="-122"/>
                <a:cs typeface="Libre Baskerville" pitchFamily="34" charset="-120"/>
              </a:rPr>
              <a:t>Align on Pilot Programs</a:t>
            </a:r>
            <a:endParaRPr lang="en-US" sz="1500" dirty="0"/>
          </a:p>
        </p:txBody>
      </p:sp>
      <p:sp>
        <p:nvSpPr>
          <p:cNvPr id="12" name="Text 9"/>
          <p:cNvSpPr/>
          <p:nvPr/>
        </p:nvSpPr>
        <p:spPr>
          <a:xfrm>
            <a:off x="6756797" y="4261366"/>
            <a:ext cx="7330321" cy="209193"/>
          </a:xfrm>
          <a:prstGeom prst="rect">
            <a:avLst/>
          </a:prstGeom>
          <a:noFill/>
          <a:ln/>
        </p:spPr>
        <p:txBody>
          <a:bodyPr wrap="none" lIns="0" tIns="0" rIns="0" bIns="0" rtlCol="0" anchor="t"/>
          <a:lstStyle/>
          <a:p>
            <a:pPr marL="0" indent="0" algn="l">
              <a:lnSpc>
                <a:spcPts val="1600"/>
              </a:lnSpc>
              <a:buNone/>
            </a:pPr>
            <a:r>
              <a:rPr lang="en-US" sz="1200" dirty="0">
                <a:solidFill>
                  <a:srgbClr val="49495A"/>
                </a:solidFill>
                <a:latin typeface="Open Sans" pitchFamily="34" charset="0"/>
                <a:ea typeface="Open Sans" pitchFamily="34" charset="-122"/>
                <a:cs typeface="Open Sans" pitchFamily="34" charset="-120"/>
              </a:rPr>
              <a:t>Identify 2 programs to serve as the initial proving ground for AI workflows</a:t>
            </a:r>
            <a:endParaRPr lang="en-US" sz="1200" dirty="0"/>
          </a:p>
        </p:txBody>
      </p:sp>
      <p:sp>
        <p:nvSpPr>
          <p:cNvPr id="13" name="Shape 10"/>
          <p:cNvSpPr/>
          <p:nvPr/>
        </p:nvSpPr>
        <p:spPr>
          <a:xfrm>
            <a:off x="6029682" y="4837628"/>
            <a:ext cx="620911" cy="931426"/>
          </a:xfrm>
          <a:prstGeom prst="roundRect">
            <a:avLst>
              <a:gd name="adj" fmla="val 360037"/>
            </a:avLst>
          </a:prstGeom>
          <a:solidFill>
            <a:srgbClr val="EAE8F3"/>
          </a:solidFill>
          <a:ln/>
        </p:spPr>
        <p:txBody>
          <a:bodyPr/>
          <a:lstStyle/>
          <a:p>
            <a:endParaRPr lang="en-US"/>
          </a:p>
        </p:txBody>
      </p:sp>
      <p:sp>
        <p:nvSpPr>
          <p:cNvPr id="14" name="Text 11"/>
          <p:cNvSpPr/>
          <p:nvPr/>
        </p:nvSpPr>
        <p:spPr>
          <a:xfrm>
            <a:off x="6223754" y="5157788"/>
            <a:ext cx="232767" cy="290989"/>
          </a:xfrm>
          <a:prstGeom prst="rect">
            <a:avLst/>
          </a:prstGeom>
          <a:noFill/>
          <a:ln/>
        </p:spPr>
        <p:txBody>
          <a:bodyPr wrap="none" lIns="0" tIns="0" rIns="0" bIns="0" rtlCol="0" anchor="t"/>
          <a:lstStyle/>
          <a:p>
            <a:pPr marL="0" indent="0" algn="l">
              <a:lnSpc>
                <a:spcPts val="1800"/>
              </a:lnSpc>
              <a:buNone/>
            </a:pPr>
            <a:r>
              <a:rPr lang="en-US" sz="1800" dirty="0">
                <a:solidFill>
                  <a:srgbClr val="49495A"/>
                </a:solidFill>
                <a:latin typeface="Libre Baskerville" pitchFamily="34" charset="0"/>
                <a:ea typeface="Libre Baskerville" pitchFamily="34" charset="-122"/>
                <a:cs typeface="Libre Baskerville" pitchFamily="34" charset="-120"/>
              </a:rPr>
              <a:t>3</a:t>
            </a:r>
            <a:endParaRPr lang="en-US" sz="1800" dirty="0"/>
          </a:p>
        </p:txBody>
      </p:sp>
      <p:sp>
        <p:nvSpPr>
          <p:cNvPr id="15" name="Text 12"/>
          <p:cNvSpPr/>
          <p:nvPr/>
        </p:nvSpPr>
        <p:spPr>
          <a:xfrm>
            <a:off x="6756797" y="4992767"/>
            <a:ext cx="2674858" cy="242530"/>
          </a:xfrm>
          <a:prstGeom prst="rect">
            <a:avLst/>
          </a:prstGeom>
          <a:noFill/>
          <a:ln/>
        </p:spPr>
        <p:txBody>
          <a:bodyPr wrap="none" lIns="0" tIns="0" rIns="0" bIns="0" rtlCol="0" anchor="t"/>
          <a:lstStyle/>
          <a:p>
            <a:pPr marL="0" indent="0" algn="l">
              <a:lnSpc>
                <a:spcPts val="1900"/>
              </a:lnSpc>
              <a:buNone/>
            </a:pPr>
            <a:r>
              <a:rPr lang="en-US" sz="1500" dirty="0">
                <a:solidFill>
                  <a:srgbClr val="49495A"/>
                </a:solidFill>
                <a:latin typeface="Libre Baskerville" pitchFamily="34" charset="0"/>
                <a:ea typeface="Libre Baskerville" pitchFamily="34" charset="-122"/>
                <a:cs typeface="Libre Baskerville" pitchFamily="34" charset="-120"/>
              </a:rPr>
              <a:t>Schedule 30-Day Check-In</a:t>
            </a:r>
            <a:endParaRPr lang="en-US" sz="1500" dirty="0"/>
          </a:p>
        </p:txBody>
      </p:sp>
      <p:sp>
        <p:nvSpPr>
          <p:cNvPr id="16" name="Text 13"/>
          <p:cNvSpPr/>
          <p:nvPr/>
        </p:nvSpPr>
        <p:spPr>
          <a:xfrm>
            <a:off x="6756797" y="5298996"/>
            <a:ext cx="7330321" cy="209193"/>
          </a:xfrm>
          <a:prstGeom prst="rect">
            <a:avLst/>
          </a:prstGeom>
          <a:noFill/>
          <a:ln/>
        </p:spPr>
        <p:txBody>
          <a:bodyPr wrap="none" lIns="0" tIns="0" rIns="0" bIns="0" rtlCol="0" anchor="t"/>
          <a:lstStyle/>
          <a:p>
            <a:pPr marL="0" indent="0" algn="l">
              <a:lnSpc>
                <a:spcPts val="1600"/>
              </a:lnSpc>
              <a:buNone/>
            </a:pPr>
            <a:r>
              <a:rPr lang="en-US" sz="1200" dirty="0">
                <a:solidFill>
                  <a:srgbClr val="49495A"/>
                </a:solidFill>
                <a:latin typeface="Open Sans" pitchFamily="34" charset="0"/>
                <a:ea typeface="Open Sans" pitchFamily="34" charset="-122"/>
                <a:cs typeface="Open Sans" pitchFamily="34" charset="-120"/>
              </a:rPr>
              <a:t>A 30-minute review at the 30-day mark to assess progress and adjust course</a:t>
            </a:r>
            <a:endParaRPr lang="en-US" sz="1200" dirty="0"/>
          </a:p>
        </p:txBody>
      </p:sp>
      <p:sp>
        <p:nvSpPr>
          <p:cNvPr id="17" name="Text 14"/>
          <p:cNvSpPr/>
          <p:nvPr/>
        </p:nvSpPr>
        <p:spPr>
          <a:xfrm>
            <a:off x="6285309" y="6716315"/>
            <a:ext cx="7824668" cy="418386"/>
          </a:xfrm>
          <a:prstGeom prst="rect">
            <a:avLst/>
          </a:prstGeom>
          <a:noFill/>
          <a:ln/>
        </p:spPr>
        <p:txBody>
          <a:bodyPr wrap="square" lIns="0" tIns="0" rIns="0" bIns="0" rtlCol="0" anchor="t"/>
          <a:lstStyle/>
          <a:p>
            <a:pPr marL="0" indent="0" algn="l">
              <a:lnSpc>
                <a:spcPts val="1600"/>
              </a:lnSpc>
              <a:buNone/>
            </a:pPr>
            <a:r>
              <a:rPr lang="en-US" sz="1200" dirty="0">
                <a:solidFill>
                  <a:srgbClr val="49495A"/>
                </a:solidFill>
                <a:latin typeface="Open Sans" pitchFamily="34" charset="0"/>
                <a:ea typeface="Open Sans" pitchFamily="34" charset="-122"/>
                <a:cs typeface="Open Sans" pitchFamily="34" charset="-120"/>
              </a:rPr>
              <a:t>"The teams that win won't be the ones with the most people — they'll be the ones where every person is amplified by the right tools."</a:t>
            </a:r>
            <a:endParaRPr lang="en-US" sz="1200" dirty="0"/>
          </a:p>
        </p:txBody>
      </p:sp>
      <p:sp>
        <p:nvSpPr>
          <p:cNvPr id="18" name="Shape 15"/>
          <p:cNvSpPr/>
          <p:nvPr/>
        </p:nvSpPr>
        <p:spPr>
          <a:xfrm>
            <a:off x="6052542" y="6596895"/>
            <a:ext cx="22860" cy="657225"/>
          </a:xfrm>
          <a:prstGeom prst="rect">
            <a:avLst/>
          </a:prstGeom>
          <a:solidFill>
            <a:srgbClr val="403CCF"/>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75B9CB64CD7C47B41F746646547B33" ma:contentTypeVersion="12" ma:contentTypeDescription="Create a new document." ma:contentTypeScope="" ma:versionID="51354516d3b672ae0d8b9a3f2710c302">
  <xsd:schema xmlns:xsd="http://www.w3.org/2001/XMLSchema" xmlns:xs="http://www.w3.org/2001/XMLSchema" xmlns:p="http://schemas.microsoft.com/office/2006/metadata/properties" xmlns:ns2="69c7e17f-4e9e-430d-90e0-3ef93dcbdb44" xmlns:ns3="17d28f16-eb5e-4587-81e0-682ed581eef1" targetNamespace="http://schemas.microsoft.com/office/2006/metadata/properties" ma:root="true" ma:fieldsID="cf335e2618e06b79f2f12a08e2dd74ae" ns2:_="" ns3:_="">
    <xsd:import namespace="69c7e17f-4e9e-430d-90e0-3ef93dcbdb44"/>
    <xsd:import namespace="17d28f16-eb5e-4587-81e0-682ed581ee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7e17f-4e9e-430d-90e0-3ef93dcbd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ebeb2d-667f-43bd-86ca-2a4d877a177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d28f16-eb5e-4587-81e0-682ed581eef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57522ba-6265-4042-bbfc-6e697f6f1b5b}" ma:internalName="TaxCatchAll" ma:showField="CatchAllData" ma:web="17d28f16-eb5e-4587-81e0-682ed581ee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7d28f16-eb5e-4587-81e0-682ed581eef1" xsi:nil="true"/>
    <lcf76f155ced4ddcb4097134ff3c332f xmlns="69c7e17f-4e9e-430d-90e0-3ef93dcbdb4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A7AB08E-119D-4BD1-B701-266CF7CFD5C6}"/>
</file>

<file path=customXml/itemProps2.xml><?xml version="1.0" encoding="utf-8"?>
<ds:datastoreItem xmlns:ds="http://schemas.openxmlformats.org/officeDocument/2006/customXml" ds:itemID="{C02C7BAC-59DB-4D9F-A261-1F2C818ACD32}"/>
</file>

<file path=customXml/itemProps3.xml><?xml version="1.0" encoding="utf-8"?>
<ds:datastoreItem xmlns:ds="http://schemas.openxmlformats.org/officeDocument/2006/customXml" ds:itemID="{64964902-2A3E-4509-8D0F-F27D892F35F0}"/>
</file>

<file path=docMetadata/LabelInfo.xml><?xml version="1.0" encoding="utf-8"?>
<clbl:labelList xmlns:clbl="http://schemas.microsoft.com/office/2020/mipLabelMetadata">
  <clbl:label id="{20bd2185-7f4f-483c-8403-3480aaa4171f}" enabled="1" method="Standard" siteId="{72adb271-2fc7-4afe-a5ee-9de6a59f6bfb}" contentBits="0" removed="0"/>
</clbl:labelList>
</file>

<file path=docProps/app.xml><?xml version="1.0" encoding="utf-8"?>
<Properties xmlns="http://schemas.openxmlformats.org/officeDocument/2006/extended-properties" xmlns:vt="http://schemas.openxmlformats.org/officeDocument/2006/docPropsVTypes">
  <TotalTime>1735</TotalTime>
  <Words>1075</Words>
  <Application>Microsoft Office PowerPoint</Application>
  <PresentationFormat>Custom</PresentationFormat>
  <Paragraphs>106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Libre Baskerville</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Isabelle Puller</cp:lastModifiedBy>
  <cp:revision>2</cp:revision>
  <dcterms:created xsi:type="dcterms:W3CDTF">2026-04-06T16:07:19Z</dcterms:created>
  <dcterms:modified xsi:type="dcterms:W3CDTF">2026-04-07T21:03:25Z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0x0101001275B9CB64CD7C47B41F746646547B33</vt:lpwstr>
  </property>
</Properties>
</file>