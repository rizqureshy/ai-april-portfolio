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764" autoAdjust="0"/>
  </p:normalViewPr>
  <p:slideViewPr>
    <p:cSldViewPr snapToGrid="0" snapToObjects="1">
      <p:cViewPr varScale="1">
        <p:scale>
          <a:sx n="75" d="100"/>
          <a:sy n="75" d="100"/>
        </p:scale>
        <p:origin x="10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ige Gregory" userId="1c12b1c4-5310-46ab-a6ad-d8698e0583bd" providerId="ADAL" clId="{A7B6E0DA-9861-4C5E-8659-EECB73297F56}"/>
    <pc:docChg chg="custSel modSld">
      <pc:chgData name="Paige Gregory" userId="1c12b1c4-5310-46ab-a6ad-d8698e0583bd" providerId="ADAL" clId="{A7B6E0DA-9861-4C5E-8659-EECB73297F56}" dt="2026-04-03T17:50:57.117" v="8208" actId="20577"/>
      <pc:docMkLst>
        <pc:docMk/>
      </pc:docMkLst>
      <pc:sldChg chg="modSp mod modNotesTx">
        <pc:chgData name="Paige Gregory" userId="1c12b1c4-5310-46ab-a6ad-d8698e0583bd" providerId="ADAL" clId="{A7B6E0DA-9861-4C5E-8659-EECB73297F56}" dt="2026-04-03T17:07:34.312" v="482" actId="20577"/>
        <pc:sldMkLst>
          <pc:docMk/>
          <pc:sldMk cId="0" sldId="256"/>
        </pc:sldMkLst>
        <pc:spChg chg="mod">
          <ac:chgData name="Paige Gregory" userId="1c12b1c4-5310-46ab-a6ad-d8698e0583bd" providerId="ADAL" clId="{A7B6E0DA-9861-4C5E-8659-EECB73297F56}" dt="2026-04-03T17:05:07.773" v="190" actId="20577"/>
          <ac:spMkLst>
            <pc:docMk/>
            <pc:sldMk cId="0" sldId="256"/>
            <ac:spMk id="50" creationId="{00000000-0000-0000-0000-000000000000}"/>
          </ac:spMkLst>
        </pc:spChg>
        <pc:spChg chg="mod">
          <ac:chgData name="Paige Gregory" userId="1c12b1c4-5310-46ab-a6ad-d8698e0583bd" providerId="ADAL" clId="{A7B6E0DA-9861-4C5E-8659-EECB73297F56}" dt="2026-04-03T17:06:55.404" v="386" actId="20577"/>
          <ac:spMkLst>
            <pc:docMk/>
            <pc:sldMk cId="0" sldId="256"/>
            <ac:spMk id="51" creationId="{00000000-0000-0000-0000-000000000000}"/>
          </ac:spMkLst>
        </pc:spChg>
      </pc:sldChg>
      <pc:sldChg chg="modSp mod modNotesTx">
        <pc:chgData name="Paige Gregory" userId="1c12b1c4-5310-46ab-a6ad-d8698e0583bd" providerId="ADAL" clId="{A7B6E0DA-9861-4C5E-8659-EECB73297F56}" dt="2026-04-03T17:20:24.679" v="2061" actId="20577"/>
        <pc:sldMkLst>
          <pc:docMk/>
          <pc:sldMk cId="0" sldId="257"/>
        </pc:sldMkLst>
        <pc:spChg chg="mod">
          <ac:chgData name="Paige Gregory" userId="1c12b1c4-5310-46ab-a6ad-d8698e0583bd" providerId="ADAL" clId="{A7B6E0DA-9861-4C5E-8659-EECB73297F56}" dt="2026-04-03T17:16:38.702" v="1340" actId="20577"/>
          <ac:spMkLst>
            <pc:docMk/>
            <pc:sldMk cId="0" sldId="257"/>
            <ac:spMk id="33" creationId="{00000000-0000-0000-0000-000000000000}"/>
          </ac:spMkLst>
        </pc:spChg>
      </pc:sldChg>
      <pc:sldChg chg="modSp mod modNotesTx">
        <pc:chgData name="Paige Gregory" userId="1c12b1c4-5310-46ab-a6ad-d8698e0583bd" providerId="ADAL" clId="{A7B6E0DA-9861-4C5E-8659-EECB73297F56}" dt="2026-04-03T17:26:41.577" v="3275" actId="20577"/>
        <pc:sldMkLst>
          <pc:docMk/>
          <pc:sldMk cId="0" sldId="258"/>
        </pc:sldMkLst>
        <pc:spChg chg="mod">
          <ac:chgData name="Paige Gregory" userId="1c12b1c4-5310-46ab-a6ad-d8698e0583bd" providerId="ADAL" clId="{A7B6E0DA-9861-4C5E-8659-EECB73297F56}" dt="2026-04-03T17:24:56.631" v="2794" actId="20577"/>
          <ac:spMkLst>
            <pc:docMk/>
            <pc:sldMk cId="0" sldId="258"/>
            <ac:spMk id="28" creationId="{00000000-0000-0000-0000-000000000000}"/>
          </ac:spMkLst>
        </pc:spChg>
      </pc:sldChg>
      <pc:sldChg chg="modSp mod modNotesTx">
        <pc:chgData name="Paige Gregory" userId="1c12b1c4-5310-46ab-a6ad-d8698e0583bd" providerId="ADAL" clId="{A7B6E0DA-9861-4C5E-8659-EECB73297F56}" dt="2026-04-03T17:35:54.546" v="4983" actId="33524"/>
        <pc:sldMkLst>
          <pc:docMk/>
          <pc:sldMk cId="0" sldId="259"/>
        </pc:sldMkLst>
        <pc:spChg chg="mod">
          <ac:chgData name="Paige Gregory" userId="1c12b1c4-5310-46ab-a6ad-d8698e0583bd" providerId="ADAL" clId="{A7B6E0DA-9861-4C5E-8659-EECB73297F56}" dt="2026-04-03T17:31:29.807" v="4149" actId="20577"/>
          <ac:spMkLst>
            <pc:docMk/>
            <pc:sldMk cId="0" sldId="259"/>
            <ac:spMk id="23" creationId="{00000000-0000-0000-0000-000000000000}"/>
          </ac:spMkLst>
        </pc:spChg>
      </pc:sldChg>
      <pc:sldChg chg="modSp mod modNotesTx">
        <pc:chgData name="Paige Gregory" userId="1c12b1c4-5310-46ab-a6ad-d8698e0583bd" providerId="ADAL" clId="{A7B6E0DA-9861-4C5E-8659-EECB73297F56}" dt="2026-04-03T17:45:44.876" v="7126" actId="33524"/>
        <pc:sldMkLst>
          <pc:docMk/>
          <pc:sldMk cId="0" sldId="260"/>
        </pc:sldMkLst>
        <pc:spChg chg="mod">
          <ac:chgData name="Paige Gregory" userId="1c12b1c4-5310-46ab-a6ad-d8698e0583bd" providerId="ADAL" clId="{A7B6E0DA-9861-4C5E-8659-EECB73297F56}" dt="2026-04-03T17:40:17.752" v="5813" actId="20577"/>
          <ac:spMkLst>
            <pc:docMk/>
            <pc:sldMk cId="0" sldId="260"/>
            <ac:spMk id="22" creationId="{00000000-0000-0000-0000-000000000000}"/>
          </ac:spMkLst>
        </pc:spChg>
      </pc:sldChg>
      <pc:sldChg chg="modNotesTx">
        <pc:chgData name="Paige Gregory" userId="1c12b1c4-5310-46ab-a6ad-d8698e0583bd" providerId="ADAL" clId="{A7B6E0DA-9861-4C5E-8659-EECB73297F56}" dt="2026-04-03T17:50:57.117" v="8208" actId="20577"/>
        <pc:sldMkLst>
          <pc:docMk/>
          <pc:sldMk cId="0"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0064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our team, we all use AI in different ways. However, I’d say these are some of the most common ways that the GTM Enablement team utilizes AI on a consistent basis. The three most common ways would be deck creation, generating graphics, and using AI as a virtual assistant. Two additional ways that we are using AI as a team would be using RISE’s AI course building tool and </a:t>
            </a:r>
            <a:r>
              <a:rPr lang="en-US" dirty="0" err="1"/>
              <a:t>Yoodli</a:t>
            </a:r>
            <a:r>
              <a:rPr lang="en-US" dirty="0"/>
              <a:t> for roleplay practice and hands on system training. I have personally used the RISE AI tool and it’s great! While you still need to review the content and make edits, the tool gets you 70% of the way to a final product. Also, </a:t>
            </a:r>
            <a:r>
              <a:rPr lang="en-US" dirty="0" err="1"/>
              <a:t>Yoodli</a:t>
            </a:r>
            <a:r>
              <a:rPr lang="en-US" dirty="0"/>
              <a:t> is a fantastic tool that allows learners to practice realistic customer conversations and hands on system practice. Additionally, through our vendors we are using AI to generate video content. In slide 3, we will uncover a tool that we can utilize as a team to create our own AI video content without the help of a vendor, which would save us time and money.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ways that we could use AI in the future would be having AI map out role-based learning paths or even learning paths for individual users based on their current knowledge and growth areas. Also, using AI for analytics and insights will help us streamline and quickly generate reports to showcase learners' success and opportunities for content development for our team. Workflow automation would also be a way for the GTM Enablement team to utilize AI and streamline processes. For example, using AI to generate reports and insights surrounding required course completions would save time for the Services team. Additionally, using AI to automatically translate enablement content from English to Japanese and Portuguese would save our team time and allow for learners in Brazil and Japan to better understand necessary trainings. Another way our team could be better utilizing AI is for summarization purposes. Beyond the Zoom AI functionality, AI tools could be used to summarize and point out the actionable items in lengthy assets, recordings, and research documents. Finally, as a first step in the content review process, we could be utilizing AI to make sure that assets are accurate, have the proper tone, are consistent with our brand guidelines, and are free of spelling and grammatical errors. This would help shorten the typical content review process for our team.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tools we could utilize to help us achieve the suggestions I previously mentioned would be </a:t>
            </a:r>
            <a:r>
              <a:rPr lang="en-US" dirty="0" err="1"/>
              <a:t>Synthesia</a:t>
            </a:r>
            <a:r>
              <a:rPr lang="en-US" dirty="0"/>
              <a:t>, Descript, and Fireflies.ai. </a:t>
            </a:r>
            <a:r>
              <a:rPr lang="en-US" dirty="0" err="1"/>
              <a:t>Synthesia</a:t>
            </a:r>
            <a:r>
              <a:rPr lang="en-US" dirty="0"/>
              <a:t> will help GTM Enablement create our own AI videos without the help of a vendor. Additionally, </a:t>
            </a:r>
            <a:r>
              <a:rPr lang="en-US" dirty="0" err="1"/>
              <a:t>Synthesia</a:t>
            </a:r>
            <a:r>
              <a:rPr lang="en-US" dirty="0"/>
              <a:t> can produce video content in different languages, so we can produce the same content, quickly and easily, in English, Japanese, and Portuguese. Descript would help us quickly and easily edit recorded trainings. This could help us quickly produce content for product demos or even turn a recording into a podcast episode for quick learning on the go. Finally, Fireflies.ai would help us transcribe and stay organized with all meeting content. This tool goes beyond the capabilities of the Zoom AI tool. It would allow everyone on our team to access the meeting summaries, see the key takeaways, and act on any important action items associated with their role and scope of work. This would help us as a team stay more organized and better informed.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roadmap for potentially adopting </a:t>
            </a:r>
            <a:r>
              <a:rPr lang="en-US" dirty="0" err="1"/>
              <a:t>Synthesia</a:t>
            </a:r>
            <a:r>
              <a:rPr lang="en-US" dirty="0"/>
              <a:t>, Descript, and Fireflies.ai would be a 3-phased approach. In the first phase, we would have a few team members pilot these tools. Within the pilot, we would document early wins, time saved, potential pitfalls, and the various use cases for each tool. From there, the tool(s) that were the most helpful for our pilot users would move into phase 2. Within this phase, pilot access would grow to additional users. Additionally, we would host knowledge share sessions to discuss the tool(s) and their capabilities. Finally, within phase 2, we would start to create a library that outlines the capabilities of each tool and their possible use cases. The final phase of the implementation roadmap would include adoption across the team, in-depth training for each tool, development of a strategy plan for how we will determine success, and our long-term strategy for usage. Throughout this entire implementation process, constant communication with leadership is critical to determine if each tool is saving time, money, and useful in assisting us in relevant tasks.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I have demonstrated some potential risks of implementing new AI tools across the team and how we will mitigate those risks. First and foremost, there is the issue of data privacy and security. It is important to call out the need to keep our company’s data safe and secure when adopting a new tool. A way to mitigate that risk would be to loop in IT prior to any new tool adoption. IT can work with the AI vendors to make sure that any new tool is safe and secure for us to use and put any data agreements in place. Next, there is always a risk for AI to provide incorrect or made-up information. A way to minimize this risk is to mandate that our team must review and validate all information generated by AI prior to publishing. Another potential risk is low adoption and change resistance. A way to mitigate this risk is to start with small pilot groups to determine if an AI tool is helpful. Additionally, as new AI tools are adopted across the team, it is important to train everyone on the capabilities and features. This ensures everyone is aware of how it could save them time and effort, which would lead to an increased adoption. Finally, there is a risk of incurring additional costs when implementing new AI tools across the team. To mitigate this risk, it is important to map out the ROI on a regular basis and ensure that the tool is being utilized and adopted across the team.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pieces of information I want to share with you are the success metrics that would determine if we are successfully adopting new AI tools and are success as a team in general. The way to determine success would be demonstrating that there has been significant time saved with the use of a new tool, showcases large-scale adoption of each new tool across the team, increasing our content output within outlined periods of time, an increased learner satisfaction score, saving costs that we are currently spending with existing vendors, and ensuring that our data is safe and secure with no data privacy incidents. It is important to continuously review these success metrics to make sure the team is achieving long </a:t>
            </a:r>
            <a:r>
              <a:rPr lang="en-US"/>
              <a:t>term success.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5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C2CB"/>
          </a:solidFill>
          <a:ln w="12700">
            <a:solidFill>
              <a:srgbClr val="00C2CB"/>
            </a:solidFill>
            <a:prstDash val="solid"/>
          </a:ln>
        </p:spPr>
        <p:txBody>
          <a:bodyPr/>
          <a:lstStyle/>
          <a:p>
            <a:endParaRPr lang="en-US"/>
          </a:p>
        </p:txBody>
      </p:sp>
      <p:sp>
        <p:nvSpPr>
          <p:cNvPr id="3" name="Shape 1"/>
          <p:cNvSpPr/>
          <p:nvPr/>
        </p:nvSpPr>
        <p:spPr>
          <a:xfrm>
            <a:off x="6309360" y="347472"/>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4" name="Shape 2"/>
          <p:cNvSpPr/>
          <p:nvPr/>
        </p:nvSpPr>
        <p:spPr>
          <a:xfrm>
            <a:off x="6748272" y="347472"/>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5" name="Shape 3"/>
          <p:cNvSpPr/>
          <p:nvPr/>
        </p:nvSpPr>
        <p:spPr>
          <a:xfrm>
            <a:off x="7187184" y="347472"/>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6" name="Shape 4"/>
          <p:cNvSpPr/>
          <p:nvPr/>
        </p:nvSpPr>
        <p:spPr>
          <a:xfrm>
            <a:off x="7626096" y="347472"/>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7" name="Shape 5"/>
          <p:cNvSpPr/>
          <p:nvPr/>
        </p:nvSpPr>
        <p:spPr>
          <a:xfrm>
            <a:off x="8065008" y="347472"/>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8" name="Shape 6"/>
          <p:cNvSpPr/>
          <p:nvPr/>
        </p:nvSpPr>
        <p:spPr>
          <a:xfrm>
            <a:off x="8503920" y="347472"/>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9" name="Shape 7"/>
          <p:cNvSpPr/>
          <p:nvPr/>
        </p:nvSpPr>
        <p:spPr>
          <a:xfrm>
            <a:off x="6309360" y="786384"/>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10" name="Shape 8"/>
          <p:cNvSpPr/>
          <p:nvPr/>
        </p:nvSpPr>
        <p:spPr>
          <a:xfrm>
            <a:off x="6748272" y="786384"/>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11" name="Shape 9"/>
          <p:cNvSpPr/>
          <p:nvPr/>
        </p:nvSpPr>
        <p:spPr>
          <a:xfrm>
            <a:off x="7187184" y="786384"/>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12" name="Shape 10"/>
          <p:cNvSpPr/>
          <p:nvPr/>
        </p:nvSpPr>
        <p:spPr>
          <a:xfrm>
            <a:off x="7626096" y="786384"/>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13" name="Shape 11"/>
          <p:cNvSpPr/>
          <p:nvPr/>
        </p:nvSpPr>
        <p:spPr>
          <a:xfrm>
            <a:off x="8065008" y="786384"/>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14" name="Shape 12"/>
          <p:cNvSpPr/>
          <p:nvPr/>
        </p:nvSpPr>
        <p:spPr>
          <a:xfrm>
            <a:off x="8503920" y="786384"/>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15" name="Shape 13"/>
          <p:cNvSpPr/>
          <p:nvPr/>
        </p:nvSpPr>
        <p:spPr>
          <a:xfrm>
            <a:off x="6309360" y="1225296"/>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16" name="Shape 14"/>
          <p:cNvSpPr/>
          <p:nvPr/>
        </p:nvSpPr>
        <p:spPr>
          <a:xfrm>
            <a:off x="6748272" y="1225296"/>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17" name="Shape 15"/>
          <p:cNvSpPr/>
          <p:nvPr/>
        </p:nvSpPr>
        <p:spPr>
          <a:xfrm>
            <a:off x="7187184" y="1225296"/>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18" name="Shape 16"/>
          <p:cNvSpPr/>
          <p:nvPr/>
        </p:nvSpPr>
        <p:spPr>
          <a:xfrm>
            <a:off x="7626096" y="1225296"/>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19" name="Shape 17"/>
          <p:cNvSpPr/>
          <p:nvPr/>
        </p:nvSpPr>
        <p:spPr>
          <a:xfrm>
            <a:off x="8065008" y="1225296"/>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20" name="Shape 18"/>
          <p:cNvSpPr/>
          <p:nvPr/>
        </p:nvSpPr>
        <p:spPr>
          <a:xfrm>
            <a:off x="8503920" y="1225296"/>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21" name="Shape 19"/>
          <p:cNvSpPr/>
          <p:nvPr/>
        </p:nvSpPr>
        <p:spPr>
          <a:xfrm>
            <a:off x="6309360" y="1664208"/>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22" name="Shape 20"/>
          <p:cNvSpPr/>
          <p:nvPr/>
        </p:nvSpPr>
        <p:spPr>
          <a:xfrm>
            <a:off x="6748272" y="1664208"/>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23" name="Shape 21"/>
          <p:cNvSpPr/>
          <p:nvPr/>
        </p:nvSpPr>
        <p:spPr>
          <a:xfrm>
            <a:off x="7187184" y="1664208"/>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24" name="Shape 22"/>
          <p:cNvSpPr/>
          <p:nvPr/>
        </p:nvSpPr>
        <p:spPr>
          <a:xfrm>
            <a:off x="7626096" y="1664208"/>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25" name="Shape 23"/>
          <p:cNvSpPr/>
          <p:nvPr/>
        </p:nvSpPr>
        <p:spPr>
          <a:xfrm>
            <a:off x="8065008" y="1664208"/>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26" name="Shape 24"/>
          <p:cNvSpPr/>
          <p:nvPr/>
        </p:nvSpPr>
        <p:spPr>
          <a:xfrm>
            <a:off x="8503920" y="1664208"/>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27" name="Shape 25"/>
          <p:cNvSpPr/>
          <p:nvPr/>
        </p:nvSpPr>
        <p:spPr>
          <a:xfrm>
            <a:off x="6309360" y="2103120"/>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28" name="Shape 26"/>
          <p:cNvSpPr/>
          <p:nvPr/>
        </p:nvSpPr>
        <p:spPr>
          <a:xfrm>
            <a:off x="6748272" y="2103120"/>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29" name="Shape 27"/>
          <p:cNvSpPr/>
          <p:nvPr/>
        </p:nvSpPr>
        <p:spPr>
          <a:xfrm>
            <a:off x="7187184" y="2103120"/>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30" name="Shape 28"/>
          <p:cNvSpPr/>
          <p:nvPr/>
        </p:nvSpPr>
        <p:spPr>
          <a:xfrm>
            <a:off x="7626096" y="2103120"/>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31" name="Shape 29"/>
          <p:cNvSpPr/>
          <p:nvPr/>
        </p:nvSpPr>
        <p:spPr>
          <a:xfrm>
            <a:off x="8065008" y="2103120"/>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32" name="Shape 30"/>
          <p:cNvSpPr/>
          <p:nvPr/>
        </p:nvSpPr>
        <p:spPr>
          <a:xfrm>
            <a:off x="8503920" y="2103120"/>
            <a:ext cx="64008" cy="64008"/>
          </a:xfrm>
          <a:prstGeom prst="ellipse">
            <a:avLst/>
          </a:prstGeom>
          <a:solidFill>
            <a:srgbClr val="00C2CB">
              <a:alpha val="28000"/>
            </a:srgbClr>
          </a:solidFill>
          <a:ln w="12700">
            <a:solidFill>
              <a:srgbClr val="00C2CB">
                <a:alpha val="28000"/>
              </a:srgbClr>
            </a:solidFill>
            <a:prstDash val="solid"/>
          </a:ln>
        </p:spPr>
        <p:txBody>
          <a:bodyPr/>
          <a:lstStyle/>
          <a:p>
            <a:endParaRPr lang="en-US"/>
          </a:p>
        </p:txBody>
      </p:sp>
      <p:sp>
        <p:nvSpPr>
          <p:cNvPr id="33" name="Text 31"/>
          <p:cNvSpPr/>
          <p:nvPr/>
        </p:nvSpPr>
        <p:spPr>
          <a:xfrm>
            <a:off x="320040" y="438912"/>
            <a:ext cx="5486400" cy="457200"/>
          </a:xfrm>
          <a:prstGeom prst="rect">
            <a:avLst/>
          </a:prstGeom>
          <a:noFill/>
          <a:ln/>
        </p:spPr>
        <p:txBody>
          <a:bodyPr wrap="square" lIns="0" tIns="0" rIns="0" bIns="0" rtlCol="0" anchor="ctr"/>
          <a:lstStyle/>
          <a:p>
            <a:pPr marL="0" indent="0">
              <a:buNone/>
            </a:pPr>
            <a:r>
              <a:rPr lang="en-US" sz="1300" b="1" kern="0" spc="500" dirty="0">
                <a:solidFill>
                  <a:srgbClr val="00C2CB"/>
                </a:solidFill>
                <a:latin typeface="Trebuchet MS" pitchFamily="34" charset="0"/>
                <a:ea typeface="Trebuchet MS" pitchFamily="34" charset="-122"/>
                <a:cs typeface="Trebuchet MS" pitchFamily="34" charset="-120"/>
              </a:rPr>
              <a:t>AI IN ACTION</a:t>
            </a:r>
            <a:endParaRPr lang="en-US" sz="1300" dirty="0"/>
          </a:p>
        </p:txBody>
      </p:sp>
      <p:sp>
        <p:nvSpPr>
          <p:cNvPr id="34" name="Text 32"/>
          <p:cNvSpPr/>
          <p:nvPr/>
        </p:nvSpPr>
        <p:spPr>
          <a:xfrm>
            <a:off x="320040" y="886968"/>
            <a:ext cx="7772400" cy="868680"/>
          </a:xfrm>
          <a:prstGeom prst="rect">
            <a:avLst/>
          </a:prstGeom>
          <a:noFill/>
          <a:ln/>
        </p:spPr>
        <p:txBody>
          <a:bodyPr wrap="square" lIns="0" tIns="0" rIns="0" bIns="0"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Current State of AI Use</a:t>
            </a:r>
            <a:endParaRPr lang="en-US" sz="3800" dirty="0"/>
          </a:p>
        </p:txBody>
      </p:sp>
      <p:sp>
        <p:nvSpPr>
          <p:cNvPr id="35" name="Text 33"/>
          <p:cNvSpPr/>
          <p:nvPr/>
        </p:nvSpPr>
        <p:spPr>
          <a:xfrm>
            <a:off x="320040" y="1659636"/>
            <a:ext cx="6400800" cy="365760"/>
          </a:xfrm>
          <a:prstGeom prst="rect">
            <a:avLst/>
          </a:prstGeom>
          <a:noFill/>
          <a:ln/>
        </p:spPr>
        <p:txBody>
          <a:bodyPr wrap="square" lIns="0" tIns="0" rIns="0" bIns="0" rtlCol="0" anchor="ctr"/>
          <a:lstStyle/>
          <a:p>
            <a:pPr marL="0" indent="0">
              <a:buNone/>
            </a:pPr>
            <a:r>
              <a:rPr lang="en-US" sz="1500" i="1" dirty="0">
                <a:solidFill>
                  <a:srgbClr val="A0BCD8"/>
                </a:solidFill>
                <a:latin typeface="Calibri" pitchFamily="34" charset="0"/>
                <a:ea typeface="Calibri" pitchFamily="34" charset="-122"/>
                <a:cs typeface="Calibri" pitchFamily="34" charset="-120"/>
              </a:rPr>
              <a:t>How Our Team Leverages AI Today</a:t>
            </a:r>
            <a:endParaRPr lang="en-US" sz="1500" dirty="0"/>
          </a:p>
        </p:txBody>
      </p:sp>
      <p:sp>
        <p:nvSpPr>
          <p:cNvPr id="36" name="Shape 34"/>
          <p:cNvSpPr/>
          <p:nvPr/>
        </p:nvSpPr>
        <p:spPr>
          <a:xfrm>
            <a:off x="320040" y="2212848"/>
            <a:ext cx="2286000" cy="41148"/>
          </a:xfrm>
          <a:prstGeom prst="rect">
            <a:avLst/>
          </a:prstGeom>
          <a:solidFill>
            <a:srgbClr val="00C2CB"/>
          </a:solidFill>
          <a:ln w="12700">
            <a:solidFill>
              <a:srgbClr val="00C2CB"/>
            </a:solidFill>
            <a:prstDash val="solid"/>
          </a:ln>
        </p:spPr>
        <p:txBody>
          <a:bodyPr/>
          <a:lstStyle/>
          <a:p>
            <a:endParaRPr lang="en-US"/>
          </a:p>
        </p:txBody>
      </p:sp>
      <p:sp>
        <p:nvSpPr>
          <p:cNvPr id="37" name="Shape 35"/>
          <p:cNvSpPr/>
          <p:nvPr/>
        </p:nvSpPr>
        <p:spPr>
          <a:xfrm>
            <a:off x="320040" y="2395728"/>
            <a:ext cx="2770632" cy="1115568"/>
          </a:xfrm>
          <a:prstGeom prst="rect">
            <a:avLst/>
          </a:prstGeom>
          <a:solidFill>
            <a:srgbClr val="0F2240"/>
          </a:solidFill>
          <a:ln w="12700">
            <a:solidFill>
              <a:srgbClr val="1E3F6B"/>
            </a:solidFill>
            <a:prstDash val="solid"/>
          </a:ln>
          <a:effectLst>
            <a:outerShdw blurRad="101600" dist="38100" dir="8100000" algn="bl" rotWithShape="0">
              <a:srgbClr val="000000">
                <a:alpha val="28000"/>
              </a:srgbClr>
            </a:outerShdw>
          </a:effectLst>
        </p:spPr>
        <p:txBody>
          <a:bodyPr/>
          <a:lstStyle/>
          <a:p>
            <a:endParaRPr lang="en-US"/>
          </a:p>
        </p:txBody>
      </p:sp>
      <p:sp>
        <p:nvSpPr>
          <p:cNvPr id="38" name="Shape 36"/>
          <p:cNvSpPr/>
          <p:nvPr/>
        </p:nvSpPr>
        <p:spPr>
          <a:xfrm>
            <a:off x="320040" y="2395728"/>
            <a:ext cx="2770632" cy="50292"/>
          </a:xfrm>
          <a:prstGeom prst="rect">
            <a:avLst/>
          </a:prstGeom>
          <a:solidFill>
            <a:srgbClr val="00C2CB"/>
          </a:solidFill>
          <a:ln w="12700">
            <a:solidFill>
              <a:srgbClr val="00C2CB"/>
            </a:solidFill>
            <a:prstDash val="solid"/>
          </a:ln>
        </p:spPr>
        <p:txBody>
          <a:bodyPr/>
          <a:lstStyle/>
          <a:p>
            <a:endParaRPr lang="en-US"/>
          </a:p>
        </p:txBody>
      </p:sp>
      <p:pic>
        <p:nvPicPr>
          <p:cNvPr id="39" name="Image 0" descr="preencoded.png"/>
          <p:cNvPicPr>
            <a:picLocks noChangeAspect="1"/>
          </p:cNvPicPr>
          <p:nvPr/>
        </p:nvPicPr>
        <p:blipFill>
          <a:blip r:embed="rId3"/>
          <a:stretch>
            <a:fillRect/>
          </a:stretch>
        </p:blipFill>
        <p:spPr>
          <a:xfrm>
            <a:off x="484632" y="2706624"/>
            <a:ext cx="384048" cy="384048"/>
          </a:xfrm>
          <a:prstGeom prst="rect">
            <a:avLst/>
          </a:prstGeom>
        </p:spPr>
      </p:pic>
      <p:sp>
        <p:nvSpPr>
          <p:cNvPr id="40" name="Text 37"/>
          <p:cNvSpPr/>
          <p:nvPr/>
        </p:nvSpPr>
        <p:spPr>
          <a:xfrm>
            <a:off x="978408" y="2514600"/>
            <a:ext cx="2011680" cy="329184"/>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Deck Creation</a:t>
            </a:r>
            <a:endParaRPr lang="en-US" sz="1350" dirty="0"/>
          </a:p>
        </p:txBody>
      </p:sp>
      <p:sp>
        <p:nvSpPr>
          <p:cNvPr id="41" name="Text 38"/>
          <p:cNvSpPr/>
          <p:nvPr/>
        </p:nvSpPr>
        <p:spPr>
          <a:xfrm>
            <a:off x="978408" y="2852928"/>
            <a:ext cx="2011680" cy="566928"/>
          </a:xfrm>
          <a:prstGeom prst="rect">
            <a:avLst/>
          </a:prstGeom>
          <a:noFill/>
          <a:ln/>
        </p:spPr>
        <p:txBody>
          <a:bodyPr wrap="square" lIns="0" tIns="0" rIns="0" bIns="0" rtlCol="0" anchor="ctr"/>
          <a:lstStyle/>
          <a:p>
            <a:pPr marL="0" indent="0">
              <a:buNone/>
            </a:pPr>
            <a:r>
              <a:rPr lang="en-US" sz="1100" dirty="0">
                <a:solidFill>
                  <a:srgbClr val="A0BCD8"/>
                </a:solidFill>
                <a:latin typeface="Calibri" pitchFamily="34" charset="0"/>
                <a:ea typeface="Calibri" pitchFamily="34" charset="-122"/>
                <a:cs typeface="Calibri" pitchFamily="34" charset="-120"/>
              </a:rPr>
              <a:t>AI-assisted slide building &amp; design for presentations</a:t>
            </a:r>
            <a:endParaRPr lang="en-US" sz="1100" dirty="0"/>
          </a:p>
        </p:txBody>
      </p:sp>
      <p:sp>
        <p:nvSpPr>
          <p:cNvPr id="42" name="Shape 39"/>
          <p:cNvSpPr/>
          <p:nvPr/>
        </p:nvSpPr>
        <p:spPr>
          <a:xfrm>
            <a:off x="3273552" y="2395728"/>
            <a:ext cx="2770632" cy="1115568"/>
          </a:xfrm>
          <a:prstGeom prst="rect">
            <a:avLst/>
          </a:prstGeom>
          <a:solidFill>
            <a:srgbClr val="0F2240"/>
          </a:solidFill>
          <a:ln w="12700">
            <a:solidFill>
              <a:srgbClr val="1E3F6B"/>
            </a:solidFill>
            <a:prstDash val="solid"/>
          </a:ln>
          <a:effectLst>
            <a:outerShdw blurRad="101600" dist="38100" dir="8100000" algn="bl" rotWithShape="0">
              <a:srgbClr val="000000">
                <a:alpha val="28000"/>
              </a:srgbClr>
            </a:outerShdw>
          </a:effectLst>
        </p:spPr>
        <p:txBody>
          <a:bodyPr/>
          <a:lstStyle/>
          <a:p>
            <a:endParaRPr lang="en-US"/>
          </a:p>
        </p:txBody>
      </p:sp>
      <p:sp>
        <p:nvSpPr>
          <p:cNvPr id="43" name="Shape 40"/>
          <p:cNvSpPr/>
          <p:nvPr/>
        </p:nvSpPr>
        <p:spPr>
          <a:xfrm>
            <a:off x="3273552" y="2395728"/>
            <a:ext cx="2770632" cy="50292"/>
          </a:xfrm>
          <a:prstGeom prst="rect">
            <a:avLst/>
          </a:prstGeom>
          <a:solidFill>
            <a:srgbClr val="00C2CB"/>
          </a:solidFill>
          <a:ln w="12700">
            <a:solidFill>
              <a:srgbClr val="00C2CB"/>
            </a:solidFill>
            <a:prstDash val="solid"/>
          </a:ln>
        </p:spPr>
        <p:txBody>
          <a:bodyPr/>
          <a:lstStyle/>
          <a:p>
            <a:endParaRPr lang="en-US"/>
          </a:p>
        </p:txBody>
      </p:sp>
      <p:pic>
        <p:nvPicPr>
          <p:cNvPr id="44" name="Image 1" descr="preencoded.png"/>
          <p:cNvPicPr>
            <a:picLocks noChangeAspect="1"/>
          </p:cNvPicPr>
          <p:nvPr/>
        </p:nvPicPr>
        <p:blipFill>
          <a:blip r:embed="rId4"/>
          <a:stretch>
            <a:fillRect/>
          </a:stretch>
        </p:blipFill>
        <p:spPr>
          <a:xfrm>
            <a:off x="3438144" y="2706624"/>
            <a:ext cx="384048" cy="384048"/>
          </a:xfrm>
          <a:prstGeom prst="rect">
            <a:avLst/>
          </a:prstGeom>
        </p:spPr>
      </p:pic>
      <p:sp>
        <p:nvSpPr>
          <p:cNvPr id="45" name="Text 41"/>
          <p:cNvSpPr/>
          <p:nvPr/>
        </p:nvSpPr>
        <p:spPr>
          <a:xfrm>
            <a:off x="3931920" y="2514600"/>
            <a:ext cx="2011680" cy="329184"/>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Images &amp; Graphics</a:t>
            </a:r>
            <a:endParaRPr lang="en-US" sz="1350" dirty="0"/>
          </a:p>
        </p:txBody>
      </p:sp>
      <p:sp>
        <p:nvSpPr>
          <p:cNvPr id="46" name="Text 42"/>
          <p:cNvSpPr/>
          <p:nvPr/>
        </p:nvSpPr>
        <p:spPr>
          <a:xfrm>
            <a:off x="3931920" y="2852928"/>
            <a:ext cx="2011680" cy="566928"/>
          </a:xfrm>
          <a:prstGeom prst="rect">
            <a:avLst/>
          </a:prstGeom>
          <a:noFill/>
          <a:ln/>
        </p:spPr>
        <p:txBody>
          <a:bodyPr wrap="square" lIns="0" tIns="0" rIns="0" bIns="0" rtlCol="0" anchor="ctr"/>
          <a:lstStyle/>
          <a:p>
            <a:pPr marL="0" indent="0">
              <a:buNone/>
            </a:pPr>
            <a:r>
              <a:rPr lang="en-US" sz="1100" dirty="0">
                <a:solidFill>
                  <a:srgbClr val="A0BCD8"/>
                </a:solidFill>
                <a:latin typeface="Calibri" pitchFamily="34" charset="0"/>
                <a:ea typeface="Calibri" pitchFamily="34" charset="-122"/>
                <a:cs typeface="Calibri" pitchFamily="34" charset="-120"/>
              </a:rPr>
              <a:t>AI-generated visuals and brand-aligned graphic assets</a:t>
            </a:r>
            <a:endParaRPr lang="en-US" sz="1100" dirty="0"/>
          </a:p>
        </p:txBody>
      </p:sp>
      <p:sp>
        <p:nvSpPr>
          <p:cNvPr id="47" name="Shape 43"/>
          <p:cNvSpPr/>
          <p:nvPr/>
        </p:nvSpPr>
        <p:spPr>
          <a:xfrm>
            <a:off x="6227064" y="2395728"/>
            <a:ext cx="2770632" cy="1115568"/>
          </a:xfrm>
          <a:prstGeom prst="rect">
            <a:avLst/>
          </a:prstGeom>
          <a:solidFill>
            <a:srgbClr val="0F2240"/>
          </a:solidFill>
          <a:ln w="12700">
            <a:solidFill>
              <a:srgbClr val="1E3F6B"/>
            </a:solidFill>
            <a:prstDash val="solid"/>
          </a:ln>
          <a:effectLst>
            <a:outerShdw blurRad="101600" dist="38100" dir="8100000" algn="bl" rotWithShape="0">
              <a:srgbClr val="000000">
                <a:alpha val="28000"/>
              </a:srgbClr>
            </a:outerShdw>
          </a:effectLst>
        </p:spPr>
        <p:txBody>
          <a:bodyPr/>
          <a:lstStyle/>
          <a:p>
            <a:endParaRPr lang="en-US"/>
          </a:p>
        </p:txBody>
      </p:sp>
      <p:sp>
        <p:nvSpPr>
          <p:cNvPr id="48" name="Shape 44"/>
          <p:cNvSpPr/>
          <p:nvPr/>
        </p:nvSpPr>
        <p:spPr>
          <a:xfrm>
            <a:off x="6227064" y="2395728"/>
            <a:ext cx="2770632" cy="50292"/>
          </a:xfrm>
          <a:prstGeom prst="rect">
            <a:avLst/>
          </a:prstGeom>
          <a:solidFill>
            <a:srgbClr val="00C2CB"/>
          </a:solidFill>
          <a:ln w="12700">
            <a:solidFill>
              <a:srgbClr val="00C2CB"/>
            </a:solidFill>
            <a:prstDash val="solid"/>
          </a:ln>
        </p:spPr>
        <p:txBody>
          <a:bodyPr/>
          <a:lstStyle/>
          <a:p>
            <a:endParaRPr lang="en-US"/>
          </a:p>
        </p:txBody>
      </p:sp>
      <p:pic>
        <p:nvPicPr>
          <p:cNvPr id="49" name="Image 2" descr="preencoded.png"/>
          <p:cNvPicPr>
            <a:picLocks noChangeAspect="1"/>
          </p:cNvPicPr>
          <p:nvPr/>
        </p:nvPicPr>
        <p:blipFill>
          <a:blip r:embed="rId5"/>
          <a:stretch>
            <a:fillRect/>
          </a:stretch>
        </p:blipFill>
        <p:spPr>
          <a:xfrm>
            <a:off x="6391656" y="2706624"/>
            <a:ext cx="384048" cy="384048"/>
          </a:xfrm>
          <a:prstGeom prst="rect">
            <a:avLst/>
          </a:prstGeom>
        </p:spPr>
      </p:pic>
      <p:sp>
        <p:nvSpPr>
          <p:cNvPr id="50" name="Text 45"/>
          <p:cNvSpPr/>
          <p:nvPr/>
        </p:nvSpPr>
        <p:spPr>
          <a:xfrm>
            <a:off x="6885432" y="2514600"/>
            <a:ext cx="2011680" cy="329184"/>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Course and Roleplay Build</a:t>
            </a:r>
            <a:endParaRPr lang="en-US" sz="1350" dirty="0"/>
          </a:p>
        </p:txBody>
      </p:sp>
      <p:sp>
        <p:nvSpPr>
          <p:cNvPr id="51" name="Text 46"/>
          <p:cNvSpPr/>
          <p:nvPr/>
        </p:nvSpPr>
        <p:spPr>
          <a:xfrm>
            <a:off x="6885432" y="2852928"/>
            <a:ext cx="2011680" cy="566928"/>
          </a:xfrm>
          <a:prstGeom prst="rect">
            <a:avLst/>
          </a:prstGeom>
          <a:noFill/>
          <a:ln/>
        </p:spPr>
        <p:txBody>
          <a:bodyPr wrap="square" lIns="0" tIns="0" rIns="0" bIns="0" rtlCol="0" anchor="ctr"/>
          <a:lstStyle/>
          <a:p>
            <a:pPr marL="0" indent="0">
              <a:buNone/>
            </a:pPr>
            <a:r>
              <a:rPr lang="en-US" sz="1100" dirty="0">
                <a:solidFill>
                  <a:srgbClr val="A0BCD8"/>
                </a:solidFill>
                <a:latin typeface="Calibri" pitchFamily="34" charset="0"/>
                <a:ea typeface="Calibri" pitchFamily="34" charset="-122"/>
                <a:cs typeface="Calibri" pitchFamily="34" charset="-120"/>
              </a:rPr>
              <a:t>AI-powered e-learning content creation inside RISE and </a:t>
            </a:r>
            <a:r>
              <a:rPr lang="en-US" sz="1100" dirty="0" err="1">
                <a:solidFill>
                  <a:srgbClr val="A0BCD8"/>
                </a:solidFill>
                <a:latin typeface="Calibri" pitchFamily="34" charset="0"/>
                <a:ea typeface="Calibri" pitchFamily="34" charset="-122"/>
                <a:cs typeface="Calibri" pitchFamily="34" charset="-120"/>
              </a:rPr>
              <a:t>Yoodli</a:t>
            </a:r>
            <a:endParaRPr lang="en-US" sz="1100" dirty="0"/>
          </a:p>
        </p:txBody>
      </p:sp>
      <p:sp>
        <p:nvSpPr>
          <p:cNvPr id="52" name="Shape 47"/>
          <p:cNvSpPr/>
          <p:nvPr/>
        </p:nvSpPr>
        <p:spPr>
          <a:xfrm>
            <a:off x="1709928" y="3639312"/>
            <a:ext cx="2770632" cy="1115568"/>
          </a:xfrm>
          <a:prstGeom prst="rect">
            <a:avLst/>
          </a:prstGeom>
          <a:solidFill>
            <a:srgbClr val="0F2240"/>
          </a:solidFill>
          <a:ln w="12700">
            <a:solidFill>
              <a:srgbClr val="1E3F6B"/>
            </a:solidFill>
            <a:prstDash val="solid"/>
          </a:ln>
          <a:effectLst>
            <a:outerShdw blurRad="101600" dist="38100" dir="8100000" algn="bl" rotWithShape="0">
              <a:srgbClr val="000000">
                <a:alpha val="28000"/>
              </a:srgbClr>
            </a:outerShdw>
          </a:effectLst>
        </p:spPr>
        <p:txBody>
          <a:bodyPr/>
          <a:lstStyle/>
          <a:p>
            <a:endParaRPr lang="en-US"/>
          </a:p>
        </p:txBody>
      </p:sp>
      <p:sp>
        <p:nvSpPr>
          <p:cNvPr id="53" name="Shape 48"/>
          <p:cNvSpPr/>
          <p:nvPr/>
        </p:nvSpPr>
        <p:spPr>
          <a:xfrm>
            <a:off x="1709928" y="3639312"/>
            <a:ext cx="2770632" cy="50292"/>
          </a:xfrm>
          <a:prstGeom prst="rect">
            <a:avLst/>
          </a:prstGeom>
          <a:solidFill>
            <a:srgbClr val="00C2CB"/>
          </a:solidFill>
          <a:ln w="12700">
            <a:solidFill>
              <a:srgbClr val="00C2CB"/>
            </a:solidFill>
            <a:prstDash val="solid"/>
          </a:ln>
        </p:spPr>
        <p:txBody>
          <a:bodyPr/>
          <a:lstStyle/>
          <a:p>
            <a:endParaRPr lang="en-US"/>
          </a:p>
        </p:txBody>
      </p:sp>
      <p:pic>
        <p:nvPicPr>
          <p:cNvPr id="54" name="Image 3" descr="preencoded.png"/>
          <p:cNvPicPr>
            <a:picLocks noChangeAspect="1"/>
          </p:cNvPicPr>
          <p:nvPr/>
        </p:nvPicPr>
        <p:blipFill>
          <a:blip r:embed="rId6"/>
          <a:stretch>
            <a:fillRect/>
          </a:stretch>
        </p:blipFill>
        <p:spPr>
          <a:xfrm>
            <a:off x="1874520" y="3950208"/>
            <a:ext cx="384048" cy="384048"/>
          </a:xfrm>
          <a:prstGeom prst="rect">
            <a:avLst/>
          </a:prstGeom>
        </p:spPr>
      </p:pic>
      <p:sp>
        <p:nvSpPr>
          <p:cNvPr id="55" name="Text 49"/>
          <p:cNvSpPr/>
          <p:nvPr/>
        </p:nvSpPr>
        <p:spPr>
          <a:xfrm>
            <a:off x="2368296" y="3758184"/>
            <a:ext cx="2011680" cy="329184"/>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Video Generation</a:t>
            </a:r>
            <a:endParaRPr lang="en-US" sz="1350" dirty="0"/>
          </a:p>
        </p:txBody>
      </p:sp>
      <p:sp>
        <p:nvSpPr>
          <p:cNvPr id="56" name="Text 50"/>
          <p:cNvSpPr/>
          <p:nvPr/>
        </p:nvSpPr>
        <p:spPr>
          <a:xfrm>
            <a:off x="2368296" y="4096512"/>
            <a:ext cx="2011680" cy="566928"/>
          </a:xfrm>
          <a:prstGeom prst="rect">
            <a:avLst/>
          </a:prstGeom>
          <a:noFill/>
          <a:ln/>
        </p:spPr>
        <p:txBody>
          <a:bodyPr wrap="square" lIns="0" tIns="0" rIns="0" bIns="0" rtlCol="0" anchor="ctr"/>
          <a:lstStyle/>
          <a:p>
            <a:pPr marL="0" indent="0">
              <a:buNone/>
            </a:pPr>
            <a:r>
              <a:rPr lang="en-US" sz="1100" dirty="0">
                <a:solidFill>
                  <a:srgbClr val="A0BCD8"/>
                </a:solidFill>
                <a:latin typeface="Calibri" pitchFamily="34" charset="0"/>
                <a:ea typeface="Calibri" pitchFamily="34" charset="-122"/>
                <a:cs typeface="Calibri" pitchFamily="34" charset="-120"/>
              </a:rPr>
              <a:t>Vendor-assisted AI video production for training content</a:t>
            </a:r>
            <a:endParaRPr lang="en-US" sz="1100" dirty="0"/>
          </a:p>
        </p:txBody>
      </p:sp>
      <p:sp>
        <p:nvSpPr>
          <p:cNvPr id="57" name="Shape 51"/>
          <p:cNvSpPr/>
          <p:nvPr/>
        </p:nvSpPr>
        <p:spPr>
          <a:xfrm>
            <a:off x="4663440" y="3639312"/>
            <a:ext cx="2770632" cy="1115568"/>
          </a:xfrm>
          <a:prstGeom prst="rect">
            <a:avLst/>
          </a:prstGeom>
          <a:solidFill>
            <a:srgbClr val="0F2240"/>
          </a:solidFill>
          <a:ln w="12700">
            <a:solidFill>
              <a:srgbClr val="1E3F6B"/>
            </a:solidFill>
            <a:prstDash val="solid"/>
          </a:ln>
          <a:effectLst>
            <a:outerShdw blurRad="101600" dist="38100" dir="8100000" algn="bl" rotWithShape="0">
              <a:srgbClr val="000000">
                <a:alpha val="28000"/>
              </a:srgbClr>
            </a:outerShdw>
          </a:effectLst>
        </p:spPr>
        <p:txBody>
          <a:bodyPr/>
          <a:lstStyle/>
          <a:p>
            <a:endParaRPr lang="en-US"/>
          </a:p>
        </p:txBody>
      </p:sp>
      <p:sp>
        <p:nvSpPr>
          <p:cNvPr id="58" name="Shape 52"/>
          <p:cNvSpPr/>
          <p:nvPr/>
        </p:nvSpPr>
        <p:spPr>
          <a:xfrm>
            <a:off x="4663440" y="3639312"/>
            <a:ext cx="2770632" cy="50292"/>
          </a:xfrm>
          <a:prstGeom prst="rect">
            <a:avLst/>
          </a:prstGeom>
          <a:solidFill>
            <a:srgbClr val="00C2CB"/>
          </a:solidFill>
          <a:ln w="12700">
            <a:solidFill>
              <a:srgbClr val="00C2CB"/>
            </a:solidFill>
            <a:prstDash val="solid"/>
          </a:ln>
        </p:spPr>
        <p:txBody>
          <a:bodyPr/>
          <a:lstStyle/>
          <a:p>
            <a:endParaRPr lang="en-US"/>
          </a:p>
        </p:txBody>
      </p:sp>
      <p:pic>
        <p:nvPicPr>
          <p:cNvPr id="59" name="Image 4" descr="preencoded.png"/>
          <p:cNvPicPr>
            <a:picLocks noChangeAspect="1"/>
          </p:cNvPicPr>
          <p:nvPr/>
        </p:nvPicPr>
        <p:blipFill>
          <a:blip r:embed="rId7"/>
          <a:stretch>
            <a:fillRect/>
          </a:stretch>
        </p:blipFill>
        <p:spPr>
          <a:xfrm>
            <a:off x="4828032" y="3950208"/>
            <a:ext cx="384048" cy="384048"/>
          </a:xfrm>
          <a:prstGeom prst="rect">
            <a:avLst/>
          </a:prstGeom>
        </p:spPr>
      </p:pic>
      <p:sp>
        <p:nvSpPr>
          <p:cNvPr id="60" name="Text 53"/>
          <p:cNvSpPr/>
          <p:nvPr/>
        </p:nvSpPr>
        <p:spPr>
          <a:xfrm>
            <a:off x="5321808" y="3758184"/>
            <a:ext cx="2011680" cy="329184"/>
          </a:xfrm>
          <a:prstGeom prst="rect">
            <a:avLst/>
          </a:prstGeom>
          <a:noFill/>
          <a:ln/>
        </p:spPr>
        <p:txBody>
          <a:bodyPr wrap="square" lIns="0" tIns="0" rIns="0" bIns="0" rtlCol="0" anchor="ctr"/>
          <a:lstStyle/>
          <a:p>
            <a:pPr marL="0" indent="0">
              <a:buNone/>
            </a:pPr>
            <a:r>
              <a:rPr lang="en-US" sz="1350" b="1" dirty="0">
                <a:solidFill>
                  <a:srgbClr val="FFFFFF"/>
                </a:solidFill>
                <a:latin typeface="Trebuchet MS" pitchFamily="34" charset="0"/>
                <a:ea typeface="Trebuchet MS" pitchFamily="34" charset="-122"/>
                <a:cs typeface="Trebuchet MS" pitchFamily="34" charset="-120"/>
              </a:rPr>
              <a:t>AI Virtual Assistant</a:t>
            </a:r>
            <a:endParaRPr lang="en-US" sz="1350" dirty="0"/>
          </a:p>
        </p:txBody>
      </p:sp>
      <p:sp>
        <p:nvSpPr>
          <p:cNvPr id="61" name="Text 54"/>
          <p:cNvSpPr/>
          <p:nvPr/>
        </p:nvSpPr>
        <p:spPr>
          <a:xfrm>
            <a:off x="5321808" y="4096512"/>
            <a:ext cx="2011680" cy="566928"/>
          </a:xfrm>
          <a:prstGeom prst="rect">
            <a:avLst/>
          </a:prstGeom>
          <a:noFill/>
          <a:ln/>
        </p:spPr>
        <p:txBody>
          <a:bodyPr wrap="square" lIns="0" tIns="0" rIns="0" bIns="0" rtlCol="0" anchor="ctr"/>
          <a:lstStyle/>
          <a:p>
            <a:pPr marL="0" indent="0">
              <a:buNone/>
            </a:pPr>
            <a:r>
              <a:rPr lang="en-US" sz="1100" dirty="0">
                <a:solidFill>
                  <a:srgbClr val="A0BCD8"/>
                </a:solidFill>
                <a:latin typeface="Calibri" pitchFamily="34" charset="0"/>
                <a:ea typeface="Calibri" pitchFamily="34" charset="-122"/>
                <a:cs typeface="Calibri" pitchFamily="34" charset="-120"/>
              </a:rPr>
              <a:t>Answers questions and completes research on demand for the team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457200" y="256032"/>
            <a:ext cx="64008" cy="640080"/>
          </a:xfrm>
          <a:prstGeom prst="rect">
            <a:avLst/>
          </a:prstGeom>
          <a:solidFill>
            <a:srgbClr val="0097A7"/>
          </a:solidFill>
          <a:ln w="12700">
            <a:solidFill>
              <a:srgbClr val="0097A7"/>
            </a:solidFill>
            <a:prstDash val="solid"/>
          </a:ln>
        </p:spPr>
        <p:txBody>
          <a:bodyPr/>
          <a:lstStyle/>
          <a:p>
            <a:endParaRPr lang="en-US"/>
          </a:p>
        </p:txBody>
      </p:sp>
      <p:sp>
        <p:nvSpPr>
          <p:cNvPr id="3" name="Text 1"/>
          <p:cNvSpPr/>
          <p:nvPr/>
        </p:nvSpPr>
        <p:spPr>
          <a:xfrm>
            <a:off x="603504" y="164592"/>
            <a:ext cx="8138160" cy="749808"/>
          </a:xfrm>
          <a:prstGeom prst="rect">
            <a:avLst/>
          </a:prstGeom>
          <a:noFill/>
          <a:ln/>
        </p:spPr>
        <p:txBody>
          <a:bodyPr wrap="square" lIns="0" tIns="0" rIns="0" bIns="0" rtlCol="0" anchor="ctr"/>
          <a:lstStyle/>
          <a:p>
            <a:pPr marL="0" indent="0">
              <a:buNone/>
            </a:pPr>
            <a:r>
              <a:rPr lang="en-US" sz="3000" b="1" dirty="0">
                <a:solidFill>
                  <a:srgbClr val="1A2E4A"/>
                </a:solidFill>
                <a:latin typeface="Trebuchet MS" pitchFamily="34" charset="0"/>
                <a:ea typeface="Trebuchet MS" pitchFamily="34" charset="-122"/>
                <a:cs typeface="Trebuchet MS" pitchFamily="34" charset="-120"/>
              </a:rPr>
              <a:t>Future Opportunities</a:t>
            </a:r>
            <a:endParaRPr lang="en-US" sz="3000" dirty="0"/>
          </a:p>
        </p:txBody>
      </p:sp>
      <p:sp>
        <p:nvSpPr>
          <p:cNvPr id="4" name="Text 2"/>
          <p:cNvSpPr/>
          <p:nvPr/>
        </p:nvSpPr>
        <p:spPr>
          <a:xfrm>
            <a:off x="603504" y="850392"/>
            <a:ext cx="8138160" cy="292608"/>
          </a:xfrm>
          <a:prstGeom prst="rect">
            <a:avLst/>
          </a:prstGeom>
          <a:noFill/>
          <a:ln/>
        </p:spPr>
        <p:txBody>
          <a:bodyPr wrap="square" lIns="0" tIns="0" rIns="0" bIns="0" rtlCol="0" anchor="ctr"/>
          <a:lstStyle/>
          <a:p>
            <a:pPr marL="0" indent="0">
              <a:buNone/>
            </a:pPr>
            <a:r>
              <a:rPr lang="en-US" sz="1300" i="1" dirty="0">
                <a:solidFill>
                  <a:srgbClr val="0097A7"/>
                </a:solidFill>
                <a:latin typeface="Calibri" pitchFamily="34" charset="0"/>
                <a:ea typeface="Calibri" pitchFamily="34" charset="-122"/>
                <a:cs typeface="Calibri" pitchFamily="34" charset="-120"/>
              </a:rPr>
              <a:t>Beyond the basics — where AI can drive real business impact for your team</a:t>
            </a:r>
            <a:endParaRPr lang="en-US" sz="1300" dirty="0"/>
          </a:p>
        </p:txBody>
      </p:sp>
      <p:sp>
        <p:nvSpPr>
          <p:cNvPr id="5" name="Shape 3"/>
          <p:cNvSpPr/>
          <p:nvPr/>
        </p:nvSpPr>
        <p:spPr>
          <a:xfrm>
            <a:off x="411480" y="1234440"/>
            <a:ext cx="2633472" cy="1261872"/>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6" name="Shape 4"/>
          <p:cNvSpPr/>
          <p:nvPr/>
        </p:nvSpPr>
        <p:spPr>
          <a:xfrm>
            <a:off x="411480" y="1234440"/>
            <a:ext cx="2633472" cy="45720"/>
          </a:xfrm>
          <a:prstGeom prst="rect">
            <a:avLst/>
          </a:prstGeom>
          <a:solidFill>
            <a:srgbClr val="0097A7"/>
          </a:solidFill>
          <a:ln w="12700">
            <a:solidFill>
              <a:srgbClr val="0097A7"/>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57784" y="1490472"/>
            <a:ext cx="384048" cy="384048"/>
          </a:xfrm>
          <a:prstGeom prst="rect">
            <a:avLst/>
          </a:prstGeom>
        </p:spPr>
      </p:pic>
      <p:sp>
        <p:nvSpPr>
          <p:cNvPr id="8" name="Text 5"/>
          <p:cNvSpPr/>
          <p:nvPr/>
        </p:nvSpPr>
        <p:spPr>
          <a:xfrm>
            <a:off x="1051560" y="1344168"/>
            <a:ext cx="1920240" cy="347472"/>
          </a:xfrm>
          <a:prstGeom prst="rect">
            <a:avLst/>
          </a:prstGeom>
          <a:noFill/>
          <a:ln/>
        </p:spPr>
        <p:txBody>
          <a:bodyPr wrap="square" lIns="0" tIns="0" rIns="0" bIns="0" rtlCol="0" anchor="ctr"/>
          <a:lstStyle/>
          <a:p>
            <a:pPr marL="0" indent="0">
              <a:buNone/>
            </a:pPr>
            <a:r>
              <a:rPr lang="en-US" sz="1250" b="1" dirty="0">
                <a:solidFill>
                  <a:srgbClr val="1A2E4A"/>
                </a:solidFill>
                <a:latin typeface="Trebuchet MS" pitchFamily="34" charset="0"/>
                <a:ea typeface="Trebuchet MS" pitchFamily="34" charset="-122"/>
                <a:cs typeface="Trebuchet MS" pitchFamily="34" charset="-120"/>
              </a:rPr>
              <a:t>Personalized Learning</a:t>
            </a:r>
            <a:endParaRPr lang="en-US" sz="1250" dirty="0"/>
          </a:p>
        </p:txBody>
      </p:sp>
      <p:sp>
        <p:nvSpPr>
          <p:cNvPr id="9" name="Text 6"/>
          <p:cNvSpPr/>
          <p:nvPr/>
        </p:nvSpPr>
        <p:spPr>
          <a:xfrm>
            <a:off x="1051560" y="1691640"/>
            <a:ext cx="1920240" cy="694944"/>
          </a:xfrm>
          <a:prstGeom prst="rect">
            <a:avLst/>
          </a:prstGeom>
          <a:noFill/>
          <a:ln/>
        </p:spPr>
        <p:txBody>
          <a:bodyPr wrap="square" lIns="0" tIns="0" rIns="0" bIns="0" rtlCol="0" anchor="ctr"/>
          <a:lstStyle/>
          <a:p>
            <a:pPr marL="0" indent="0">
              <a:buNone/>
            </a:pPr>
            <a:r>
              <a:rPr lang="en-US" sz="1100" dirty="0">
                <a:solidFill>
                  <a:srgbClr val="4A6080"/>
                </a:solidFill>
                <a:latin typeface="Calibri" pitchFamily="34" charset="0"/>
                <a:ea typeface="Calibri" pitchFamily="34" charset="-122"/>
                <a:cs typeface="Calibri" pitchFamily="34" charset="-120"/>
              </a:rPr>
              <a:t>Use AI to tailor content &amp; learning paths to individual learner needs and performance data</a:t>
            </a:r>
            <a:endParaRPr lang="en-US" sz="1100" dirty="0"/>
          </a:p>
        </p:txBody>
      </p:sp>
      <p:sp>
        <p:nvSpPr>
          <p:cNvPr id="10" name="Shape 7"/>
          <p:cNvSpPr/>
          <p:nvPr/>
        </p:nvSpPr>
        <p:spPr>
          <a:xfrm>
            <a:off x="3246120" y="1234440"/>
            <a:ext cx="2633472" cy="1261872"/>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11" name="Shape 8"/>
          <p:cNvSpPr/>
          <p:nvPr/>
        </p:nvSpPr>
        <p:spPr>
          <a:xfrm>
            <a:off x="3246120" y="1234440"/>
            <a:ext cx="2633472" cy="45720"/>
          </a:xfrm>
          <a:prstGeom prst="rect">
            <a:avLst/>
          </a:prstGeom>
          <a:solidFill>
            <a:srgbClr val="0097A7"/>
          </a:solidFill>
          <a:ln w="12700">
            <a:solidFill>
              <a:srgbClr val="0097A7"/>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392424" y="1490472"/>
            <a:ext cx="384048" cy="384048"/>
          </a:xfrm>
          <a:prstGeom prst="rect">
            <a:avLst/>
          </a:prstGeom>
        </p:spPr>
      </p:pic>
      <p:sp>
        <p:nvSpPr>
          <p:cNvPr id="13" name="Text 9"/>
          <p:cNvSpPr/>
          <p:nvPr/>
        </p:nvSpPr>
        <p:spPr>
          <a:xfrm>
            <a:off x="3886200" y="1344168"/>
            <a:ext cx="1920240" cy="347472"/>
          </a:xfrm>
          <a:prstGeom prst="rect">
            <a:avLst/>
          </a:prstGeom>
          <a:noFill/>
          <a:ln/>
        </p:spPr>
        <p:txBody>
          <a:bodyPr wrap="square" lIns="0" tIns="0" rIns="0" bIns="0" rtlCol="0" anchor="ctr"/>
          <a:lstStyle/>
          <a:p>
            <a:pPr marL="0" indent="0">
              <a:buNone/>
            </a:pPr>
            <a:r>
              <a:rPr lang="en-US" sz="1250" b="1" dirty="0">
                <a:solidFill>
                  <a:srgbClr val="1A2E4A"/>
                </a:solidFill>
                <a:latin typeface="Trebuchet MS" pitchFamily="34" charset="0"/>
                <a:ea typeface="Trebuchet MS" pitchFamily="34" charset="-122"/>
                <a:cs typeface="Trebuchet MS" pitchFamily="34" charset="-120"/>
              </a:rPr>
              <a:t>Analytics &amp; Insights</a:t>
            </a:r>
            <a:endParaRPr lang="en-US" sz="1250" dirty="0"/>
          </a:p>
        </p:txBody>
      </p:sp>
      <p:sp>
        <p:nvSpPr>
          <p:cNvPr id="14" name="Text 10"/>
          <p:cNvSpPr/>
          <p:nvPr/>
        </p:nvSpPr>
        <p:spPr>
          <a:xfrm>
            <a:off x="3886200" y="1691640"/>
            <a:ext cx="1920240" cy="694944"/>
          </a:xfrm>
          <a:prstGeom prst="rect">
            <a:avLst/>
          </a:prstGeom>
          <a:noFill/>
          <a:ln/>
        </p:spPr>
        <p:txBody>
          <a:bodyPr wrap="square" lIns="0" tIns="0" rIns="0" bIns="0" rtlCol="0" anchor="ctr"/>
          <a:lstStyle/>
          <a:p>
            <a:pPr marL="0" indent="0">
              <a:buNone/>
            </a:pPr>
            <a:r>
              <a:rPr lang="en-US" sz="1100" dirty="0">
                <a:solidFill>
                  <a:srgbClr val="4A6080"/>
                </a:solidFill>
                <a:latin typeface="Calibri" pitchFamily="34" charset="0"/>
                <a:ea typeface="Calibri" pitchFamily="34" charset="-122"/>
                <a:cs typeface="Calibri" pitchFamily="34" charset="-120"/>
              </a:rPr>
              <a:t>AI-driven dashboards tracking content engagement, learner outcomes and team productivity</a:t>
            </a:r>
            <a:endParaRPr lang="en-US" sz="1100" dirty="0"/>
          </a:p>
        </p:txBody>
      </p:sp>
      <p:sp>
        <p:nvSpPr>
          <p:cNvPr id="15" name="Shape 11"/>
          <p:cNvSpPr/>
          <p:nvPr/>
        </p:nvSpPr>
        <p:spPr>
          <a:xfrm>
            <a:off x="6080760" y="1234440"/>
            <a:ext cx="2633472" cy="1261872"/>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16" name="Shape 12"/>
          <p:cNvSpPr/>
          <p:nvPr/>
        </p:nvSpPr>
        <p:spPr>
          <a:xfrm>
            <a:off x="6080760" y="1234440"/>
            <a:ext cx="2633472" cy="45720"/>
          </a:xfrm>
          <a:prstGeom prst="rect">
            <a:avLst/>
          </a:prstGeom>
          <a:solidFill>
            <a:srgbClr val="0097A7"/>
          </a:solidFill>
          <a:ln w="12700">
            <a:solidFill>
              <a:srgbClr val="0097A7"/>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227064" y="1490472"/>
            <a:ext cx="384048" cy="384048"/>
          </a:xfrm>
          <a:prstGeom prst="rect">
            <a:avLst/>
          </a:prstGeom>
        </p:spPr>
      </p:pic>
      <p:sp>
        <p:nvSpPr>
          <p:cNvPr id="18" name="Text 13"/>
          <p:cNvSpPr/>
          <p:nvPr/>
        </p:nvSpPr>
        <p:spPr>
          <a:xfrm>
            <a:off x="6720840" y="1344168"/>
            <a:ext cx="1920240" cy="347472"/>
          </a:xfrm>
          <a:prstGeom prst="rect">
            <a:avLst/>
          </a:prstGeom>
          <a:noFill/>
          <a:ln/>
        </p:spPr>
        <p:txBody>
          <a:bodyPr wrap="square" lIns="0" tIns="0" rIns="0" bIns="0" rtlCol="0" anchor="ctr"/>
          <a:lstStyle/>
          <a:p>
            <a:pPr marL="0" indent="0">
              <a:buNone/>
            </a:pPr>
            <a:r>
              <a:rPr lang="en-US" sz="1250" b="1" dirty="0">
                <a:solidFill>
                  <a:srgbClr val="1A2E4A"/>
                </a:solidFill>
                <a:latin typeface="Trebuchet MS" pitchFamily="34" charset="0"/>
                <a:ea typeface="Trebuchet MS" pitchFamily="34" charset="-122"/>
                <a:cs typeface="Trebuchet MS" pitchFamily="34" charset="-120"/>
              </a:rPr>
              <a:t>Workflow Automation</a:t>
            </a:r>
            <a:endParaRPr lang="en-US" sz="1250" dirty="0"/>
          </a:p>
        </p:txBody>
      </p:sp>
      <p:sp>
        <p:nvSpPr>
          <p:cNvPr id="19" name="Text 14"/>
          <p:cNvSpPr/>
          <p:nvPr/>
        </p:nvSpPr>
        <p:spPr>
          <a:xfrm>
            <a:off x="6720840" y="1691640"/>
            <a:ext cx="1920240" cy="694944"/>
          </a:xfrm>
          <a:prstGeom prst="rect">
            <a:avLst/>
          </a:prstGeom>
          <a:noFill/>
          <a:ln/>
        </p:spPr>
        <p:txBody>
          <a:bodyPr wrap="square" lIns="0" tIns="0" rIns="0" bIns="0" rtlCol="0" anchor="ctr"/>
          <a:lstStyle/>
          <a:p>
            <a:pPr marL="0" indent="0">
              <a:buNone/>
            </a:pPr>
            <a:r>
              <a:rPr lang="en-US" sz="1100" dirty="0">
                <a:solidFill>
                  <a:srgbClr val="4A6080"/>
                </a:solidFill>
                <a:latin typeface="Calibri" pitchFamily="34" charset="0"/>
                <a:ea typeface="Calibri" pitchFamily="34" charset="-122"/>
                <a:cs typeface="Calibri" pitchFamily="34" charset="-120"/>
              </a:rPr>
              <a:t>Automate repetitive tasks like scheduling, approvals, and reporting so the team focuses on high-value work</a:t>
            </a:r>
            <a:endParaRPr lang="en-US" sz="1100" dirty="0"/>
          </a:p>
        </p:txBody>
      </p:sp>
      <p:sp>
        <p:nvSpPr>
          <p:cNvPr id="20" name="Shape 15"/>
          <p:cNvSpPr/>
          <p:nvPr/>
        </p:nvSpPr>
        <p:spPr>
          <a:xfrm>
            <a:off x="411480" y="2651760"/>
            <a:ext cx="2633472" cy="1261872"/>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21" name="Shape 16"/>
          <p:cNvSpPr/>
          <p:nvPr/>
        </p:nvSpPr>
        <p:spPr>
          <a:xfrm>
            <a:off x="411480" y="2651760"/>
            <a:ext cx="2633472" cy="45720"/>
          </a:xfrm>
          <a:prstGeom prst="rect">
            <a:avLst/>
          </a:prstGeom>
          <a:solidFill>
            <a:srgbClr val="0097A7"/>
          </a:solidFill>
          <a:ln w="12700">
            <a:solidFill>
              <a:srgbClr val="0097A7"/>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557784" y="2907792"/>
            <a:ext cx="384048" cy="384048"/>
          </a:xfrm>
          <a:prstGeom prst="rect">
            <a:avLst/>
          </a:prstGeom>
        </p:spPr>
      </p:pic>
      <p:sp>
        <p:nvSpPr>
          <p:cNvPr id="23" name="Text 17"/>
          <p:cNvSpPr/>
          <p:nvPr/>
        </p:nvSpPr>
        <p:spPr>
          <a:xfrm>
            <a:off x="1051560" y="2761488"/>
            <a:ext cx="1920240" cy="347472"/>
          </a:xfrm>
          <a:prstGeom prst="rect">
            <a:avLst/>
          </a:prstGeom>
          <a:noFill/>
          <a:ln/>
        </p:spPr>
        <p:txBody>
          <a:bodyPr wrap="square" lIns="0" tIns="0" rIns="0" bIns="0" rtlCol="0" anchor="ctr"/>
          <a:lstStyle/>
          <a:p>
            <a:pPr marL="0" indent="0">
              <a:buNone/>
            </a:pPr>
            <a:r>
              <a:rPr lang="en-US" sz="1250" b="1" dirty="0">
                <a:solidFill>
                  <a:srgbClr val="1A2E4A"/>
                </a:solidFill>
                <a:latin typeface="Trebuchet MS" pitchFamily="34" charset="0"/>
                <a:ea typeface="Trebuchet MS" pitchFamily="34" charset="-122"/>
                <a:cs typeface="Trebuchet MS" pitchFamily="34" charset="-120"/>
              </a:rPr>
              <a:t>Automated Translation</a:t>
            </a:r>
            <a:endParaRPr lang="en-US" sz="1250" dirty="0"/>
          </a:p>
        </p:txBody>
      </p:sp>
      <p:sp>
        <p:nvSpPr>
          <p:cNvPr id="24" name="Text 18"/>
          <p:cNvSpPr/>
          <p:nvPr/>
        </p:nvSpPr>
        <p:spPr>
          <a:xfrm>
            <a:off x="1051560" y="3108960"/>
            <a:ext cx="1920240" cy="694944"/>
          </a:xfrm>
          <a:prstGeom prst="rect">
            <a:avLst/>
          </a:prstGeom>
          <a:noFill/>
          <a:ln/>
        </p:spPr>
        <p:txBody>
          <a:bodyPr wrap="square" lIns="0" tIns="0" rIns="0" bIns="0" rtlCol="0" anchor="ctr"/>
          <a:lstStyle/>
          <a:p>
            <a:pPr marL="0" indent="0">
              <a:buNone/>
            </a:pPr>
            <a:r>
              <a:rPr lang="en-US" sz="1100" dirty="0">
                <a:solidFill>
                  <a:srgbClr val="4A6080"/>
                </a:solidFill>
                <a:latin typeface="Calibri" pitchFamily="34" charset="0"/>
                <a:ea typeface="Calibri" pitchFamily="34" charset="-122"/>
                <a:cs typeface="Calibri" pitchFamily="34" charset="-120"/>
              </a:rPr>
              <a:t>Instantly localize courses, scripts and materials into dozens of languages at near-zero cost</a:t>
            </a:r>
            <a:endParaRPr lang="en-US" sz="1100" dirty="0"/>
          </a:p>
        </p:txBody>
      </p:sp>
      <p:sp>
        <p:nvSpPr>
          <p:cNvPr id="25" name="Shape 19"/>
          <p:cNvSpPr/>
          <p:nvPr/>
        </p:nvSpPr>
        <p:spPr>
          <a:xfrm>
            <a:off x="3246120" y="2651760"/>
            <a:ext cx="2633472" cy="1261872"/>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26" name="Shape 20"/>
          <p:cNvSpPr/>
          <p:nvPr/>
        </p:nvSpPr>
        <p:spPr>
          <a:xfrm>
            <a:off x="3246120" y="2651760"/>
            <a:ext cx="2633472" cy="45720"/>
          </a:xfrm>
          <a:prstGeom prst="rect">
            <a:avLst/>
          </a:prstGeom>
          <a:solidFill>
            <a:srgbClr val="0097A7"/>
          </a:solidFill>
          <a:ln w="12700">
            <a:solidFill>
              <a:srgbClr val="0097A7"/>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3392424" y="2907792"/>
            <a:ext cx="384048" cy="384048"/>
          </a:xfrm>
          <a:prstGeom prst="rect">
            <a:avLst/>
          </a:prstGeom>
        </p:spPr>
      </p:pic>
      <p:sp>
        <p:nvSpPr>
          <p:cNvPr id="28" name="Text 21"/>
          <p:cNvSpPr/>
          <p:nvPr/>
        </p:nvSpPr>
        <p:spPr>
          <a:xfrm>
            <a:off x="3886200" y="2761488"/>
            <a:ext cx="1920240" cy="347472"/>
          </a:xfrm>
          <a:prstGeom prst="rect">
            <a:avLst/>
          </a:prstGeom>
          <a:noFill/>
          <a:ln/>
        </p:spPr>
        <p:txBody>
          <a:bodyPr wrap="square" lIns="0" tIns="0" rIns="0" bIns="0" rtlCol="0" anchor="ctr"/>
          <a:lstStyle/>
          <a:p>
            <a:pPr marL="0" indent="0">
              <a:buNone/>
            </a:pPr>
            <a:r>
              <a:rPr lang="en-US" sz="1250" b="1" dirty="0">
                <a:solidFill>
                  <a:srgbClr val="1A2E4A"/>
                </a:solidFill>
                <a:latin typeface="Trebuchet MS" pitchFamily="34" charset="0"/>
                <a:ea typeface="Trebuchet MS" pitchFamily="34" charset="-122"/>
                <a:cs typeface="Trebuchet MS" pitchFamily="34" charset="-120"/>
              </a:rPr>
              <a:t>Smart Summarization</a:t>
            </a:r>
            <a:endParaRPr lang="en-US" sz="1250" dirty="0"/>
          </a:p>
        </p:txBody>
      </p:sp>
      <p:sp>
        <p:nvSpPr>
          <p:cNvPr id="29" name="Text 22"/>
          <p:cNvSpPr/>
          <p:nvPr/>
        </p:nvSpPr>
        <p:spPr>
          <a:xfrm>
            <a:off x="3886200" y="3108960"/>
            <a:ext cx="1920240" cy="694944"/>
          </a:xfrm>
          <a:prstGeom prst="rect">
            <a:avLst/>
          </a:prstGeom>
          <a:noFill/>
          <a:ln/>
        </p:spPr>
        <p:txBody>
          <a:bodyPr wrap="square" lIns="0" tIns="0" rIns="0" bIns="0" rtlCol="0" anchor="ctr"/>
          <a:lstStyle/>
          <a:p>
            <a:pPr marL="0" indent="0">
              <a:buNone/>
            </a:pPr>
            <a:r>
              <a:rPr lang="en-US" sz="1100" dirty="0">
                <a:solidFill>
                  <a:srgbClr val="4A6080"/>
                </a:solidFill>
                <a:latin typeface="Calibri" pitchFamily="34" charset="0"/>
                <a:ea typeface="Calibri" pitchFamily="34" charset="-122"/>
                <a:cs typeface="Calibri" pitchFamily="34" charset="-120"/>
              </a:rPr>
              <a:t>Auto-condense long docs, meeting recordings and research into concise, actionable briefs</a:t>
            </a:r>
            <a:endParaRPr lang="en-US" sz="1100" dirty="0"/>
          </a:p>
        </p:txBody>
      </p:sp>
      <p:sp>
        <p:nvSpPr>
          <p:cNvPr id="30" name="Shape 23"/>
          <p:cNvSpPr/>
          <p:nvPr/>
        </p:nvSpPr>
        <p:spPr>
          <a:xfrm>
            <a:off x="6080760" y="2651760"/>
            <a:ext cx="2633472" cy="1261872"/>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31" name="Shape 24"/>
          <p:cNvSpPr/>
          <p:nvPr/>
        </p:nvSpPr>
        <p:spPr>
          <a:xfrm>
            <a:off x="6080760" y="2651760"/>
            <a:ext cx="2633472" cy="45720"/>
          </a:xfrm>
          <a:prstGeom prst="rect">
            <a:avLst/>
          </a:prstGeom>
          <a:solidFill>
            <a:srgbClr val="0097A7"/>
          </a:solidFill>
          <a:ln w="12700">
            <a:solidFill>
              <a:srgbClr val="0097A7"/>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6227064" y="2907792"/>
            <a:ext cx="384048" cy="384048"/>
          </a:xfrm>
          <a:prstGeom prst="rect">
            <a:avLst/>
          </a:prstGeom>
        </p:spPr>
      </p:pic>
      <p:sp>
        <p:nvSpPr>
          <p:cNvPr id="33" name="Text 25"/>
          <p:cNvSpPr/>
          <p:nvPr/>
        </p:nvSpPr>
        <p:spPr>
          <a:xfrm>
            <a:off x="6720840" y="2761488"/>
            <a:ext cx="1920240" cy="347472"/>
          </a:xfrm>
          <a:prstGeom prst="rect">
            <a:avLst/>
          </a:prstGeom>
          <a:noFill/>
          <a:ln/>
        </p:spPr>
        <p:txBody>
          <a:bodyPr wrap="square" lIns="0" tIns="0" rIns="0" bIns="0" rtlCol="0" anchor="ctr"/>
          <a:lstStyle/>
          <a:p>
            <a:pPr marL="0" indent="0">
              <a:buNone/>
            </a:pPr>
            <a:r>
              <a:rPr lang="en-US" sz="1250" b="1" dirty="0">
                <a:solidFill>
                  <a:srgbClr val="1A2E4A"/>
                </a:solidFill>
                <a:latin typeface="Trebuchet MS" pitchFamily="34" charset="0"/>
                <a:ea typeface="Trebuchet MS" pitchFamily="34" charset="-122"/>
                <a:cs typeface="Trebuchet MS" pitchFamily="34" charset="-120"/>
              </a:rPr>
              <a:t>Content Review</a:t>
            </a:r>
            <a:endParaRPr lang="en-US" sz="1250" dirty="0"/>
          </a:p>
        </p:txBody>
      </p:sp>
      <p:sp>
        <p:nvSpPr>
          <p:cNvPr id="34" name="Text 26"/>
          <p:cNvSpPr/>
          <p:nvPr/>
        </p:nvSpPr>
        <p:spPr>
          <a:xfrm>
            <a:off x="6720840" y="3108960"/>
            <a:ext cx="1920240" cy="694944"/>
          </a:xfrm>
          <a:prstGeom prst="rect">
            <a:avLst/>
          </a:prstGeom>
          <a:noFill/>
          <a:ln/>
        </p:spPr>
        <p:txBody>
          <a:bodyPr wrap="square" lIns="0" tIns="0" rIns="0" bIns="0" rtlCol="0" anchor="ctr"/>
          <a:lstStyle/>
          <a:p>
            <a:pPr marL="0" indent="0">
              <a:buNone/>
            </a:pPr>
            <a:r>
              <a:rPr lang="en-US" sz="1100" dirty="0">
                <a:solidFill>
                  <a:srgbClr val="4A6080"/>
                </a:solidFill>
                <a:latin typeface="Calibri" pitchFamily="34" charset="0"/>
                <a:ea typeface="Calibri" pitchFamily="34" charset="-122"/>
                <a:cs typeface="Calibri" pitchFamily="34" charset="-120"/>
              </a:rPr>
              <a:t>AI reviews content for accuracy, tone, and brand consistency before it goes to learners or stakeholders</a:t>
            </a:r>
            <a:endParaRPr lang="en-US" sz="1100" dirty="0"/>
          </a:p>
        </p:txBody>
      </p:sp>
      <p:sp>
        <p:nvSpPr>
          <p:cNvPr id="35" name="Shape 27"/>
          <p:cNvSpPr/>
          <p:nvPr/>
        </p:nvSpPr>
        <p:spPr>
          <a:xfrm>
            <a:off x="0" y="4498848"/>
            <a:ext cx="9144000" cy="640080"/>
          </a:xfrm>
          <a:prstGeom prst="rect">
            <a:avLst/>
          </a:prstGeom>
          <a:solidFill>
            <a:srgbClr val="0097A7"/>
          </a:solidFill>
          <a:ln w="12700">
            <a:solidFill>
              <a:srgbClr val="0097A7"/>
            </a:solidFill>
            <a:prstDash val="solid"/>
          </a:ln>
        </p:spPr>
        <p:txBody>
          <a:bodyPr/>
          <a:lstStyle/>
          <a:p>
            <a:endParaRPr lang="en-US"/>
          </a:p>
        </p:txBody>
      </p:sp>
      <p:sp>
        <p:nvSpPr>
          <p:cNvPr id="36" name="Text 28"/>
          <p:cNvSpPr/>
          <p:nvPr/>
        </p:nvSpPr>
        <p:spPr>
          <a:xfrm>
            <a:off x="365760" y="4535424"/>
            <a:ext cx="8412480" cy="502920"/>
          </a:xfrm>
          <a:prstGeom prst="rect">
            <a:avLst/>
          </a:prstGeom>
          <a:noFill/>
          <a:ln/>
        </p:spPr>
        <p:txBody>
          <a:bodyPr wrap="square" lIns="0" tIns="0" rIns="0" bIns="0" rtlCol="0" anchor="ctr"/>
          <a:lstStyle/>
          <a:p>
            <a:pPr marL="0" indent="0">
              <a:buNone/>
            </a:pPr>
            <a:r>
              <a:rPr lang="en-US" sz="1250" b="1" i="1" dirty="0">
                <a:solidFill>
                  <a:srgbClr val="FFFFFF"/>
                </a:solidFill>
                <a:latin typeface="Calibri" pitchFamily="34" charset="0"/>
                <a:ea typeface="Calibri" pitchFamily="34" charset="-122"/>
                <a:cs typeface="Calibri" pitchFamily="34" charset="-120"/>
              </a:rPr>
              <a:t>Opportunity: Shift from reactive AI use to a proactive, embedded AI strategy across every workflow.</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52A"/>
        </a:solidFill>
        <a:effectLst/>
      </p:bgPr>
    </p:bg>
    <p:spTree>
      <p:nvGrpSpPr>
        <p:cNvPr id="1" name=""/>
        <p:cNvGrpSpPr/>
        <p:nvPr/>
      </p:nvGrpSpPr>
      <p:grpSpPr>
        <a:xfrm>
          <a:off x="0" y="0"/>
          <a:ext cx="0" cy="0"/>
          <a:chOff x="0" y="0"/>
          <a:chExt cx="0" cy="0"/>
        </a:xfrm>
      </p:grpSpPr>
      <p:sp>
        <p:nvSpPr>
          <p:cNvPr id="2" name="Shape 0"/>
          <p:cNvSpPr/>
          <p:nvPr/>
        </p:nvSpPr>
        <p:spPr>
          <a:xfrm>
            <a:off x="457200" y="320040"/>
            <a:ext cx="64008" cy="621792"/>
          </a:xfrm>
          <a:prstGeom prst="rect">
            <a:avLst/>
          </a:prstGeom>
          <a:solidFill>
            <a:srgbClr val="00C2CB"/>
          </a:solidFill>
          <a:ln w="12700">
            <a:solidFill>
              <a:srgbClr val="00C2CB"/>
            </a:solidFill>
            <a:prstDash val="solid"/>
          </a:ln>
        </p:spPr>
        <p:txBody>
          <a:bodyPr/>
          <a:lstStyle/>
          <a:p>
            <a:endParaRPr lang="en-US"/>
          </a:p>
        </p:txBody>
      </p:sp>
      <p:sp>
        <p:nvSpPr>
          <p:cNvPr id="3" name="Text 1"/>
          <p:cNvSpPr/>
          <p:nvPr/>
        </p:nvSpPr>
        <p:spPr>
          <a:xfrm>
            <a:off x="603504" y="228600"/>
            <a:ext cx="8138160" cy="713232"/>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Recommended New AI Tools</a:t>
            </a:r>
            <a:endParaRPr lang="en-US" sz="3000" dirty="0"/>
          </a:p>
        </p:txBody>
      </p:sp>
      <p:sp>
        <p:nvSpPr>
          <p:cNvPr id="4" name="Text 2"/>
          <p:cNvSpPr/>
          <p:nvPr/>
        </p:nvSpPr>
        <p:spPr>
          <a:xfrm>
            <a:off x="603504" y="829818"/>
            <a:ext cx="8138160" cy="292608"/>
          </a:xfrm>
          <a:prstGeom prst="rect">
            <a:avLst/>
          </a:prstGeom>
          <a:noFill/>
          <a:ln/>
        </p:spPr>
        <p:txBody>
          <a:bodyPr wrap="square" lIns="0" tIns="0" rIns="0" bIns="0" rtlCol="0" anchor="ctr"/>
          <a:lstStyle/>
          <a:p>
            <a:pPr marL="0" indent="0">
              <a:buNone/>
            </a:pPr>
            <a:r>
              <a:rPr lang="en-US" sz="1300" i="1" dirty="0">
                <a:solidFill>
                  <a:srgbClr val="00C2CB"/>
                </a:solidFill>
                <a:latin typeface="Calibri" pitchFamily="34" charset="0"/>
                <a:ea typeface="Calibri" pitchFamily="34" charset="-122"/>
                <a:cs typeface="Calibri" pitchFamily="34" charset="-120"/>
              </a:rPr>
              <a:t>3 tools to boost productivity beyond your current stack</a:t>
            </a:r>
            <a:endParaRPr lang="en-US" sz="1300" dirty="0"/>
          </a:p>
        </p:txBody>
      </p:sp>
      <p:sp>
        <p:nvSpPr>
          <p:cNvPr id="5" name="Shape 3"/>
          <p:cNvSpPr/>
          <p:nvPr/>
        </p:nvSpPr>
        <p:spPr>
          <a:xfrm>
            <a:off x="347472" y="1188720"/>
            <a:ext cx="2651760" cy="3749040"/>
          </a:xfrm>
          <a:prstGeom prst="rect">
            <a:avLst/>
          </a:prstGeom>
          <a:solidFill>
            <a:srgbClr val="0F2240"/>
          </a:solidFill>
          <a:ln w="12700">
            <a:solidFill>
              <a:srgbClr val="1E3F6B"/>
            </a:solidFill>
            <a:prstDash val="solid"/>
          </a:ln>
          <a:effectLst>
            <a:outerShdw blurRad="101600" dist="38100" dir="8100000" algn="bl" rotWithShape="0">
              <a:srgbClr val="000000">
                <a:alpha val="28000"/>
              </a:srgbClr>
            </a:outerShdw>
          </a:effectLst>
        </p:spPr>
        <p:txBody>
          <a:bodyPr/>
          <a:lstStyle/>
          <a:p>
            <a:endParaRPr lang="en-US"/>
          </a:p>
        </p:txBody>
      </p:sp>
      <p:sp>
        <p:nvSpPr>
          <p:cNvPr id="6" name="Shape 4"/>
          <p:cNvSpPr/>
          <p:nvPr/>
        </p:nvSpPr>
        <p:spPr>
          <a:xfrm>
            <a:off x="347472" y="1188720"/>
            <a:ext cx="2651760" cy="50292"/>
          </a:xfrm>
          <a:prstGeom prst="rect">
            <a:avLst/>
          </a:prstGeom>
          <a:solidFill>
            <a:srgbClr val="00C2CB"/>
          </a:solidFill>
          <a:ln w="12700">
            <a:solidFill>
              <a:srgbClr val="00C2CB"/>
            </a:solidFill>
            <a:prstDash val="solid"/>
          </a:ln>
        </p:spPr>
        <p:txBody>
          <a:bodyPr/>
          <a:lstStyle/>
          <a:p>
            <a:endParaRPr lang="en-US"/>
          </a:p>
        </p:txBody>
      </p:sp>
      <p:sp>
        <p:nvSpPr>
          <p:cNvPr id="7" name="Shape 5"/>
          <p:cNvSpPr/>
          <p:nvPr/>
        </p:nvSpPr>
        <p:spPr>
          <a:xfrm>
            <a:off x="1344168" y="1371600"/>
            <a:ext cx="658368" cy="658368"/>
          </a:xfrm>
          <a:prstGeom prst="ellipse">
            <a:avLst/>
          </a:prstGeom>
          <a:solidFill>
            <a:srgbClr val="00C2CB">
              <a:alpha val="78000"/>
            </a:srgbClr>
          </a:solidFill>
          <a:ln w="12700">
            <a:solidFill>
              <a:srgbClr val="00C2CB"/>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472184" y="1490472"/>
            <a:ext cx="402336" cy="402336"/>
          </a:xfrm>
          <a:prstGeom prst="rect">
            <a:avLst/>
          </a:prstGeom>
        </p:spPr>
      </p:pic>
      <p:sp>
        <p:nvSpPr>
          <p:cNvPr id="9" name="Text 6"/>
          <p:cNvSpPr/>
          <p:nvPr/>
        </p:nvSpPr>
        <p:spPr>
          <a:xfrm>
            <a:off x="438912" y="2103120"/>
            <a:ext cx="2468880" cy="256032"/>
          </a:xfrm>
          <a:prstGeom prst="rect">
            <a:avLst/>
          </a:prstGeom>
          <a:noFill/>
          <a:ln/>
        </p:spPr>
        <p:txBody>
          <a:bodyPr wrap="square" lIns="0" tIns="0" rIns="0" bIns="0" rtlCol="0" anchor="ctr"/>
          <a:lstStyle/>
          <a:p>
            <a:pPr marL="0" indent="0" algn="ctr">
              <a:buNone/>
            </a:pPr>
            <a:r>
              <a:rPr lang="en-US" sz="900" b="1" kern="0" spc="200" dirty="0">
                <a:solidFill>
                  <a:srgbClr val="00C2CB"/>
                </a:solidFill>
                <a:latin typeface="Trebuchet MS" pitchFamily="34" charset="0"/>
                <a:ea typeface="Trebuchet MS" pitchFamily="34" charset="-122"/>
                <a:cs typeface="Trebuchet MS" pitchFamily="34" charset="-120"/>
              </a:rPr>
              <a:t>AI VIDEO PLATFORM</a:t>
            </a:r>
            <a:endParaRPr lang="en-US" sz="900" dirty="0"/>
          </a:p>
        </p:txBody>
      </p:sp>
      <p:sp>
        <p:nvSpPr>
          <p:cNvPr id="10" name="Text 7"/>
          <p:cNvSpPr/>
          <p:nvPr/>
        </p:nvSpPr>
        <p:spPr>
          <a:xfrm>
            <a:off x="438912" y="2340864"/>
            <a:ext cx="2468880" cy="438912"/>
          </a:xfrm>
          <a:prstGeom prst="rect">
            <a:avLst/>
          </a:prstGeom>
          <a:noFill/>
          <a:ln/>
        </p:spPr>
        <p:txBody>
          <a:bodyPr wrap="square" lIns="0" tIns="0" rIns="0" bIns="0" rtlCol="0" anchor="ctr"/>
          <a:lstStyle/>
          <a:p>
            <a:pPr marL="0" indent="0" algn="ctr">
              <a:buNone/>
            </a:pPr>
            <a:r>
              <a:rPr lang="en-US" sz="2300" b="1" dirty="0">
                <a:solidFill>
                  <a:srgbClr val="FFFFFF"/>
                </a:solidFill>
                <a:latin typeface="Trebuchet MS" pitchFamily="34" charset="0"/>
                <a:ea typeface="Trebuchet MS" pitchFamily="34" charset="-122"/>
                <a:cs typeface="Trebuchet MS" pitchFamily="34" charset="-120"/>
              </a:rPr>
              <a:t>Synthesia</a:t>
            </a:r>
            <a:endParaRPr lang="en-US" sz="2300" dirty="0"/>
          </a:p>
        </p:txBody>
      </p:sp>
      <p:sp>
        <p:nvSpPr>
          <p:cNvPr id="11" name="Text 8"/>
          <p:cNvSpPr/>
          <p:nvPr/>
        </p:nvSpPr>
        <p:spPr>
          <a:xfrm>
            <a:off x="475488" y="2798064"/>
            <a:ext cx="2395728" cy="749808"/>
          </a:xfrm>
          <a:prstGeom prst="rect">
            <a:avLst/>
          </a:prstGeom>
          <a:noFill/>
          <a:ln/>
        </p:spPr>
        <p:txBody>
          <a:bodyPr wrap="square" lIns="0" tIns="0" rIns="0" bIns="0" rtlCol="0" anchor="ctr"/>
          <a:lstStyle/>
          <a:p>
            <a:pPr marL="0" indent="0">
              <a:buNone/>
            </a:pPr>
            <a:r>
              <a:rPr lang="en-US" sz="1100" dirty="0">
                <a:solidFill>
                  <a:srgbClr val="A0BCD8"/>
                </a:solidFill>
                <a:latin typeface="Calibri" pitchFamily="34" charset="0"/>
                <a:ea typeface="Calibri" pitchFamily="34" charset="-122"/>
                <a:cs typeface="Calibri" pitchFamily="34" charset="-120"/>
              </a:rPr>
              <a:t>Create professional training videos using AI avatars &amp; text-to-speech — no cameras, studios, or vendor dependency required.</a:t>
            </a:r>
            <a:endParaRPr lang="en-US" sz="1100" dirty="0"/>
          </a:p>
        </p:txBody>
      </p:sp>
      <p:sp>
        <p:nvSpPr>
          <p:cNvPr id="12" name="Text 9"/>
          <p:cNvSpPr/>
          <p:nvPr/>
        </p:nvSpPr>
        <p:spPr>
          <a:xfrm>
            <a:off x="475488" y="3584448"/>
            <a:ext cx="2395728" cy="11887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D0E8F0"/>
                </a:solidFill>
                <a:latin typeface="Calibri" pitchFamily="34" charset="0"/>
                <a:ea typeface="Calibri" pitchFamily="34" charset="-122"/>
                <a:cs typeface="Calibri" pitchFamily="34" charset="-120"/>
              </a:rPr>
              <a:t>120+ languages, 50+ AI presenters</a:t>
            </a:r>
            <a:endParaRPr lang="en-US" sz="1050" dirty="0"/>
          </a:p>
          <a:p>
            <a:pPr marL="342900" indent="-342900">
              <a:spcAft>
                <a:spcPts val="400"/>
              </a:spcAft>
              <a:buSzPct val="100000"/>
              <a:buChar char="•"/>
            </a:pPr>
            <a:r>
              <a:rPr lang="en-US" sz="1050" dirty="0">
                <a:solidFill>
                  <a:srgbClr val="D0E8F0"/>
                </a:solidFill>
                <a:latin typeface="Calibri" pitchFamily="34" charset="0"/>
                <a:ea typeface="Calibri" pitchFamily="34" charset="-122"/>
                <a:cs typeface="Calibri" pitchFamily="34" charset="-120"/>
              </a:rPr>
              <a:t>Embed directly into RISE courses</a:t>
            </a:r>
            <a:endParaRPr lang="en-US" sz="1050" dirty="0"/>
          </a:p>
          <a:p>
            <a:pPr marL="342900" indent="-342900">
              <a:spcAft>
                <a:spcPts val="400"/>
              </a:spcAft>
              <a:buSzPct val="100000"/>
              <a:buChar char="•"/>
            </a:pPr>
            <a:r>
              <a:rPr lang="en-US" sz="1050" dirty="0">
                <a:solidFill>
                  <a:srgbClr val="D0E8F0"/>
                </a:solidFill>
                <a:latin typeface="Calibri" pitchFamily="34" charset="0"/>
                <a:ea typeface="Calibri" pitchFamily="34" charset="-122"/>
                <a:cs typeface="Calibri" pitchFamily="34" charset="-120"/>
              </a:rPr>
              <a:t>Slash vendor video costs significantly</a:t>
            </a:r>
            <a:endParaRPr lang="en-US" sz="1050" dirty="0"/>
          </a:p>
          <a:p>
            <a:pPr marL="342900" indent="-342900">
              <a:spcAft>
                <a:spcPts val="400"/>
              </a:spcAft>
              <a:buSzPct val="100000"/>
              <a:buChar char="•"/>
            </a:pPr>
            <a:r>
              <a:rPr lang="en-US" sz="1050" dirty="0">
                <a:solidFill>
                  <a:srgbClr val="D0E8F0"/>
                </a:solidFill>
                <a:latin typeface="Calibri" pitchFamily="34" charset="0"/>
                <a:ea typeface="Calibri" pitchFamily="34" charset="-122"/>
                <a:cs typeface="Calibri" pitchFamily="34" charset="-120"/>
              </a:rPr>
              <a:t>Update videos in minutes, not days</a:t>
            </a:r>
            <a:endParaRPr lang="en-US" sz="1050" dirty="0"/>
          </a:p>
        </p:txBody>
      </p:sp>
      <p:sp>
        <p:nvSpPr>
          <p:cNvPr id="13" name="Shape 10"/>
          <p:cNvSpPr/>
          <p:nvPr/>
        </p:nvSpPr>
        <p:spPr>
          <a:xfrm>
            <a:off x="3200400" y="1188720"/>
            <a:ext cx="2651760" cy="3749040"/>
          </a:xfrm>
          <a:prstGeom prst="rect">
            <a:avLst/>
          </a:prstGeom>
          <a:solidFill>
            <a:srgbClr val="0F2240"/>
          </a:solidFill>
          <a:ln w="12700">
            <a:solidFill>
              <a:srgbClr val="1E3F6B"/>
            </a:solidFill>
            <a:prstDash val="solid"/>
          </a:ln>
          <a:effectLst>
            <a:outerShdw blurRad="101600" dist="38100" dir="8100000" algn="bl" rotWithShape="0">
              <a:srgbClr val="000000">
                <a:alpha val="28000"/>
              </a:srgbClr>
            </a:outerShdw>
          </a:effectLst>
        </p:spPr>
        <p:txBody>
          <a:bodyPr/>
          <a:lstStyle/>
          <a:p>
            <a:endParaRPr lang="en-US"/>
          </a:p>
        </p:txBody>
      </p:sp>
      <p:sp>
        <p:nvSpPr>
          <p:cNvPr id="14" name="Shape 11"/>
          <p:cNvSpPr/>
          <p:nvPr/>
        </p:nvSpPr>
        <p:spPr>
          <a:xfrm>
            <a:off x="3200400" y="1188720"/>
            <a:ext cx="2651760" cy="50292"/>
          </a:xfrm>
          <a:prstGeom prst="rect">
            <a:avLst/>
          </a:prstGeom>
          <a:solidFill>
            <a:srgbClr val="F5A623"/>
          </a:solidFill>
          <a:ln w="12700">
            <a:solidFill>
              <a:srgbClr val="F5A623"/>
            </a:solidFill>
            <a:prstDash val="solid"/>
          </a:ln>
        </p:spPr>
        <p:txBody>
          <a:bodyPr/>
          <a:lstStyle/>
          <a:p>
            <a:endParaRPr lang="en-US"/>
          </a:p>
        </p:txBody>
      </p:sp>
      <p:sp>
        <p:nvSpPr>
          <p:cNvPr id="15" name="Shape 12"/>
          <p:cNvSpPr/>
          <p:nvPr/>
        </p:nvSpPr>
        <p:spPr>
          <a:xfrm>
            <a:off x="4197096" y="1371600"/>
            <a:ext cx="658368" cy="658368"/>
          </a:xfrm>
          <a:prstGeom prst="ellipse">
            <a:avLst/>
          </a:prstGeom>
          <a:solidFill>
            <a:srgbClr val="F5A623">
              <a:alpha val="78000"/>
            </a:srgbClr>
          </a:solidFill>
          <a:ln w="12700">
            <a:solidFill>
              <a:srgbClr val="F5A623"/>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4325112" y="1490472"/>
            <a:ext cx="402336" cy="402336"/>
          </a:xfrm>
          <a:prstGeom prst="rect">
            <a:avLst/>
          </a:prstGeom>
        </p:spPr>
      </p:pic>
      <p:sp>
        <p:nvSpPr>
          <p:cNvPr id="17" name="Text 13"/>
          <p:cNvSpPr/>
          <p:nvPr/>
        </p:nvSpPr>
        <p:spPr>
          <a:xfrm>
            <a:off x="3291840" y="2103120"/>
            <a:ext cx="2468880" cy="256032"/>
          </a:xfrm>
          <a:prstGeom prst="rect">
            <a:avLst/>
          </a:prstGeom>
          <a:noFill/>
          <a:ln/>
        </p:spPr>
        <p:txBody>
          <a:bodyPr wrap="square" lIns="0" tIns="0" rIns="0" bIns="0" rtlCol="0" anchor="ctr"/>
          <a:lstStyle/>
          <a:p>
            <a:pPr marL="0" indent="0" algn="ctr">
              <a:buNone/>
            </a:pPr>
            <a:r>
              <a:rPr lang="en-US" sz="900" b="1" kern="0" spc="200" dirty="0">
                <a:solidFill>
                  <a:srgbClr val="F5A623"/>
                </a:solidFill>
                <a:latin typeface="Trebuchet MS" pitchFamily="34" charset="0"/>
                <a:ea typeface="Trebuchet MS" pitchFamily="34" charset="-122"/>
                <a:cs typeface="Trebuchet MS" pitchFamily="34" charset="-120"/>
              </a:rPr>
              <a:t>AI VIDEO &amp; AUDIO EDITOR</a:t>
            </a:r>
            <a:endParaRPr lang="en-US" sz="900" dirty="0"/>
          </a:p>
        </p:txBody>
      </p:sp>
      <p:sp>
        <p:nvSpPr>
          <p:cNvPr id="18" name="Text 14"/>
          <p:cNvSpPr/>
          <p:nvPr/>
        </p:nvSpPr>
        <p:spPr>
          <a:xfrm>
            <a:off x="3291840" y="2340864"/>
            <a:ext cx="2468880" cy="438912"/>
          </a:xfrm>
          <a:prstGeom prst="rect">
            <a:avLst/>
          </a:prstGeom>
          <a:noFill/>
          <a:ln/>
        </p:spPr>
        <p:txBody>
          <a:bodyPr wrap="square" lIns="0" tIns="0" rIns="0" bIns="0" rtlCol="0" anchor="ctr"/>
          <a:lstStyle/>
          <a:p>
            <a:pPr marL="0" indent="0" algn="ctr">
              <a:buNone/>
            </a:pPr>
            <a:r>
              <a:rPr lang="en-US" sz="2300" b="1" dirty="0">
                <a:solidFill>
                  <a:srgbClr val="FFFFFF"/>
                </a:solidFill>
                <a:latin typeface="Trebuchet MS" pitchFamily="34" charset="0"/>
                <a:ea typeface="Trebuchet MS" pitchFamily="34" charset="-122"/>
                <a:cs typeface="Trebuchet MS" pitchFamily="34" charset="-120"/>
              </a:rPr>
              <a:t>Descript</a:t>
            </a:r>
            <a:endParaRPr lang="en-US" sz="2300" dirty="0"/>
          </a:p>
        </p:txBody>
      </p:sp>
      <p:sp>
        <p:nvSpPr>
          <p:cNvPr id="19" name="Text 15"/>
          <p:cNvSpPr/>
          <p:nvPr/>
        </p:nvSpPr>
        <p:spPr>
          <a:xfrm>
            <a:off x="3328416" y="2798064"/>
            <a:ext cx="2395728" cy="749808"/>
          </a:xfrm>
          <a:prstGeom prst="rect">
            <a:avLst/>
          </a:prstGeom>
          <a:noFill/>
          <a:ln/>
        </p:spPr>
        <p:txBody>
          <a:bodyPr wrap="square" lIns="0" tIns="0" rIns="0" bIns="0" rtlCol="0" anchor="ctr"/>
          <a:lstStyle/>
          <a:p>
            <a:pPr marL="0" indent="0">
              <a:buNone/>
            </a:pPr>
            <a:r>
              <a:rPr lang="en-US" sz="1100" dirty="0">
                <a:solidFill>
                  <a:srgbClr val="A0BCD8"/>
                </a:solidFill>
                <a:latin typeface="Calibri" pitchFamily="34" charset="0"/>
                <a:ea typeface="Calibri" pitchFamily="34" charset="-122"/>
                <a:cs typeface="Calibri" pitchFamily="34" charset="-120"/>
              </a:rPr>
              <a:t>Edit video and audio like a document — delete a word from the transcript and the footage cuts itself automatically.</a:t>
            </a:r>
            <a:endParaRPr lang="en-US" sz="1100" dirty="0"/>
          </a:p>
        </p:txBody>
      </p:sp>
      <p:sp>
        <p:nvSpPr>
          <p:cNvPr id="20" name="Text 16"/>
          <p:cNvSpPr/>
          <p:nvPr/>
        </p:nvSpPr>
        <p:spPr>
          <a:xfrm>
            <a:off x="3328416" y="3584448"/>
            <a:ext cx="2395728" cy="11887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D0E8F0"/>
                </a:solidFill>
                <a:latin typeface="Calibri" pitchFamily="34" charset="0"/>
                <a:ea typeface="Calibri" pitchFamily="34" charset="-122"/>
                <a:cs typeface="Calibri" pitchFamily="34" charset="-120"/>
              </a:rPr>
              <a:t>Edit video by editing transcript text</a:t>
            </a:r>
            <a:endParaRPr lang="en-US" sz="1050" dirty="0"/>
          </a:p>
          <a:p>
            <a:pPr marL="342900" indent="-342900">
              <a:spcAft>
                <a:spcPts val="400"/>
              </a:spcAft>
              <a:buSzPct val="100000"/>
              <a:buChar char="•"/>
            </a:pPr>
            <a:r>
              <a:rPr lang="en-US" sz="1050" dirty="0">
                <a:solidFill>
                  <a:srgbClr val="D0E8F0"/>
                </a:solidFill>
                <a:latin typeface="Calibri" pitchFamily="34" charset="0"/>
                <a:ea typeface="Calibri" pitchFamily="34" charset="-122"/>
                <a:cs typeface="Calibri" pitchFamily="34" charset="-120"/>
              </a:rPr>
              <a:t>AI removes filler words instantly</a:t>
            </a:r>
            <a:endParaRPr lang="en-US" sz="1050" dirty="0"/>
          </a:p>
          <a:p>
            <a:pPr marL="342900" indent="-342900">
              <a:spcAft>
                <a:spcPts val="400"/>
              </a:spcAft>
              <a:buSzPct val="100000"/>
              <a:buChar char="•"/>
            </a:pPr>
            <a:r>
              <a:rPr lang="en-US" sz="1050" dirty="0">
                <a:solidFill>
                  <a:srgbClr val="D0E8F0"/>
                </a:solidFill>
                <a:latin typeface="Calibri" pitchFamily="34" charset="0"/>
                <a:ea typeface="Calibri" pitchFamily="34" charset="-122"/>
                <a:cs typeface="Calibri" pitchFamily="34" charset="-120"/>
              </a:rPr>
              <a:t>Screen recording + podcast tools built-in</a:t>
            </a:r>
            <a:endParaRPr lang="en-US" sz="1050" dirty="0"/>
          </a:p>
          <a:p>
            <a:pPr marL="342900" indent="-342900">
              <a:spcAft>
                <a:spcPts val="400"/>
              </a:spcAft>
              <a:buSzPct val="100000"/>
              <a:buChar char="•"/>
            </a:pPr>
            <a:r>
              <a:rPr lang="en-US" sz="1050" dirty="0">
                <a:solidFill>
                  <a:srgbClr val="D0E8F0"/>
                </a:solidFill>
                <a:latin typeface="Calibri" pitchFamily="34" charset="0"/>
                <a:ea typeface="Calibri" pitchFamily="34" charset="-122"/>
                <a:cs typeface="Calibri" pitchFamily="34" charset="-120"/>
              </a:rPr>
              <a:t>Repurpose long content into short clips</a:t>
            </a:r>
            <a:endParaRPr lang="en-US" sz="1050" dirty="0"/>
          </a:p>
        </p:txBody>
      </p:sp>
      <p:sp>
        <p:nvSpPr>
          <p:cNvPr id="21" name="Shape 17"/>
          <p:cNvSpPr/>
          <p:nvPr/>
        </p:nvSpPr>
        <p:spPr>
          <a:xfrm>
            <a:off x="6053328" y="1188720"/>
            <a:ext cx="2651760" cy="3749040"/>
          </a:xfrm>
          <a:prstGeom prst="rect">
            <a:avLst/>
          </a:prstGeom>
          <a:solidFill>
            <a:srgbClr val="0F2240"/>
          </a:solidFill>
          <a:ln w="12700">
            <a:solidFill>
              <a:srgbClr val="1E3F6B"/>
            </a:solidFill>
            <a:prstDash val="solid"/>
          </a:ln>
          <a:effectLst>
            <a:outerShdw blurRad="101600" dist="38100" dir="8100000" algn="bl" rotWithShape="0">
              <a:srgbClr val="000000">
                <a:alpha val="28000"/>
              </a:srgbClr>
            </a:outerShdw>
          </a:effectLst>
        </p:spPr>
        <p:txBody>
          <a:bodyPr/>
          <a:lstStyle/>
          <a:p>
            <a:endParaRPr lang="en-US"/>
          </a:p>
        </p:txBody>
      </p:sp>
      <p:sp>
        <p:nvSpPr>
          <p:cNvPr id="22" name="Shape 18"/>
          <p:cNvSpPr/>
          <p:nvPr/>
        </p:nvSpPr>
        <p:spPr>
          <a:xfrm>
            <a:off x="6053328" y="1188720"/>
            <a:ext cx="2651760" cy="50292"/>
          </a:xfrm>
          <a:prstGeom prst="rect">
            <a:avLst/>
          </a:prstGeom>
          <a:solidFill>
            <a:srgbClr val="A78BFA"/>
          </a:solidFill>
          <a:ln w="12700">
            <a:solidFill>
              <a:srgbClr val="A78BFA"/>
            </a:solidFill>
            <a:prstDash val="solid"/>
          </a:ln>
        </p:spPr>
        <p:txBody>
          <a:bodyPr/>
          <a:lstStyle/>
          <a:p>
            <a:endParaRPr lang="en-US"/>
          </a:p>
        </p:txBody>
      </p:sp>
      <p:sp>
        <p:nvSpPr>
          <p:cNvPr id="23" name="Shape 19"/>
          <p:cNvSpPr/>
          <p:nvPr/>
        </p:nvSpPr>
        <p:spPr>
          <a:xfrm>
            <a:off x="7050024" y="1371600"/>
            <a:ext cx="658368" cy="658368"/>
          </a:xfrm>
          <a:prstGeom prst="ellipse">
            <a:avLst/>
          </a:prstGeom>
          <a:solidFill>
            <a:srgbClr val="A78BFA">
              <a:alpha val="78000"/>
            </a:srgbClr>
          </a:solidFill>
          <a:ln w="12700">
            <a:solidFill>
              <a:srgbClr val="A78BFA"/>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7178040" y="1490472"/>
            <a:ext cx="402336" cy="402336"/>
          </a:xfrm>
          <a:prstGeom prst="rect">
            <a:avLst/>
          </a:prstGeom>
        </p:spPr>
      </p:pic>
      <p:sp>
        <p:nvSpPr>
          <p:cNvPr id="25" name="Text 20"/>
          <p:cNvSpPr/>
          <p:nvPr/>
        </p:nvSpPr>
        <p:spPr>
          <a:xfrm>
            <a:off x="6144768" y="2103120"/>
            <a:ext cx="2468880" cy="256032"/>
          </a:xfrm>
          <a:prstGeom prst="rect">
            <a:avLst/>
          </a:prstGeom>
          <a:noFill/>
          <a:ln/>
        </p:spPr>
        <p:txBody>
          <a:bodyPr wrap="square" lIns="0" tIns="0" rIns="0" bIns="0" rtlCol="0" anchor="ctr"/>
          <a:lstStyle/>
          <a:p>
            <a:pPr marL="0" indent="0" algn="ctr">
              <a:buNone/>
            </a:pPr>
            <a:r>
              <a:rPr lang="en-US" sz="900" b="1" kern="0" spc="200" dirty="0">
                <a:solidFill>
                  <a:srgbClr val="A78BFA"/>
                </a:solidFill>
                <a:latin typeface="Trebuchet MS" pitchFamily="34" charset="0"/>
                <a:ea typeface="Trebuchet MS" pitchFamily="34" charset="-122"/>
                <a:cs typeface="Trebuchet MS" pitchFamily="34" charset="-120"/>
              </a:rPr>
              <a:t>AI MEETING ASSISTANT</a:t>
            </a:r>
            <a:endParaRPr lang="en-US" sz="900" dirty="0"/>
          </a:p>
        </p:txBody>
      </p:sp>
      <p:sp>
        <p:nvSpPr>
          <p:cNvPr id="26" name="Text 21"/>
          <p:cNvSpPr/>
          <p:nvPr/>
        </p:nvSpPr>
        <p:spPr>
          <a:xfrm>
            <a:off x="6144768" y="2340864"/>
            <a:ext cx="2468880" cy="438912"/>
          </a:xfrm>
          <a:prstGeom prst="rect">
            <a:avLst/>
          </a:prstGeom>
          <a:noFill/>
          <a:ln/>
        </p:spPr>
        <p:txBody>
          <a:bodyPr wrap="square" lIns="0" tIns="0" rIns="0" bIns="0" rtlCol="0" anchor="ctr"/>
          <a:lstStyle/>
          <a:p>
            <a:pPr marL="0" indent="0" algn="ctr">
              <a:buNone/>
            </a:pPr>
            <a:r>
              <a:rPr lang="en-US" sz="2300" b="1" dirty="0">
                <a:solidFill>
                  <a:srgbClr val="FFFFFF"/>
                </a:solidFill>
                <a:latin typeface="Trebuchet MS" pitchFamily="34" charset="0"/>
                <a:ea typeface="Trebuchet MS" pitchFamily="34" charset="-122"/>
                <a:cs typeface="Trebuchet MS" pitchFamily="34" charset="-120"/>
              </a:rPr>
              <a:t>Fireflies.ai</a:t>
            </a:r>
            <a:endParaRPr lang="en-US" sz="2300" dirty="0"/>
          </a:p>
        </p:txBody>
      </p:sp>
      <p:sp>
        <p:nvSpPr>
          <p:cNvPr id="27" name="Text 22"/>
          <p:cNvSpPr/>
          <p:nvPr/>
        </p:nvSpPr>
        <p:spPr>
          <a:xfrm>
            <a:off x="6181344" y="2798064"/>
            <a:ext cx="2395728" cy="749808"/>
          </a:xfrm>
          <a:prstGeom prst="rect">
            <a:avLst/>
          </a:prstGeom>
          <a:noFill/>
          <a:ln/>
        </p:spPr>
        <p:txBody>
          <a:bodyPr wrap="square" lIns="0" tIns="0" rIns="0" bIns="0" rtlCol="0" anchor="ctr"/>
          <a:lstStyle/>
          <a:p>
            <a:pPr marL="0" indent="0">
              <a:buNone/>
            </a:pPr>
            <a:r>
              <a:rPr lang="en-US" sz="1100" dirty="0">
                <a:solidFill>
                  <a:srgbClr val="A0BCD8"/>
                </a:solidFill>
                <a:latin typeface="Calibri" pitchFamily="34" charset="0"/>
                <a:ea typeface="Calibri" pitchFamily="34" charset="-122"/>
                <a:cs typeface="Calibri" pitchFamily="34" charset="-120"/>
              </a:rPr>
              <a:t>Automatically transcribe, summarize, and extract action items from every meeting — so your team stays aligned, hands-free.</a:t>
            </a:r>
            <a:endParaRPr lang="en-US" sz="1100" dirty="0"/>
          </a:p>
        </p:txBody>
      </p:sp>
      <p:sp>
        <p:nvSpPr>
          <p:cNvPr id="28" name="Text 23"/>
          <p:cNvSpPr/>
          <p:nvPr/>
        </p:nvSpPr>
        <p:spPr>
          <a:xfrm>
            <a:off x="6181344" y="3584448"/>
            <a:ext cx="2395728" cy="11887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D0E8F0"/>
                </a:solidFill>
                <a:latin typeface="Calibri" pitchFamily="34" charset="0"/>
                <a:ea typeface="Calibri" pitchFamily="34" charset="-122"/>
                <a:cs typeface="Calibri" pitchFamily="34" charset="-120"/>
              </a:rPr>
              <a:t>Auto-transcribes Teams and Zoom</a:t>
            </a:r>
            <a:endParaRPr lang="en-US" sz="1050" dirty="0"/>
          </a:p>
          <a:p>
            <a:pPr marL="342900" indent="-342900">
              <a:spcAft>
                <a:spcPts val="400"/>
              </a:spcAft>
              <a:buSzPct val="100000"/>
              <a:buChar char="•"/>
            </a:pPr>
            <a:r>
              <a:rPr lang="en-US" sz="1050" dirty="0">
                <a:solidFill>
                  <a:srgbClr val="D0E8F0"/>
                </a:solidFill>
                <a:latin typeface="Calibri" pitchFamily="34" charset="0"/>
                <a:ea typeface="Calibri" pitchFamily="34" charset="-122"/>
                <a:cs typeface="Calibri" pitchFamily="34" charset="-120"/>
              </a:rPr>
              <a:t>AI summaries &amp; action items per call</a:t>
            </a:r>
            <a:endParaRPr lang="en-US" sz="1050" dirty="0"/>
          </a:p>
          <a:p>
            <a:pPr marL="342900" indent="-342900">
              <a:spcAft>
                <a:spcPts val="400"/>
              </a:spcAft>
              <a:buSzPct val="100000"/>
              <a:buChar char="•"/>
            </a:pPr>
            <a:r>
              <a:rPr lang="en-US" sz="1050" dirty="0">
                <a:solidFill>
                  <a:srgbClr val="D0E8F0"/>
                </a:solidFill>
                <a:latin typeface="Calibri" pitchFamily="34" charset="0"/>
                <a:ea typeface="Calibri" pitchFamily="34" charset="-122"/>
                <a:cs typeface="Calibri" pitchFamily="34" charset="-120"/>
              </a:rPr>
              <a:t>Searchable meeting knowledge base</a:t>
            </a:r>
            <a:endParaRPr lang="en-US" sz="1050" dirty="0"/>
          </a:p>
          <a:p>
            <a:pPr marL="342900" indent="-342900">
              <a:spcAft>
                <a:spcPts val="400"/>
              </a:spcAft>
              <a:buSzPct val="100000"/>
              <a:buChar char="•"/>
            </a:pPr>
            <a:r>
              <a:rPr lang="en-US" sz="1050" dirty="0">
                <a:solidFill>
                  <a:srgbClr val="D0E8F0"/>
                </a:solidFill>
                <a:latin typeface="Calibri" pitchFamily="34" charset="0"/>
                <a:ea typeface="Calibri" pitchFamily="34" charset="-122"/>
                <a:cs typeface="Calibri" pitchFamily="34" charset="-120"/>
              </a:rPr>
              <a:t>Saves ~2–3 hrs of note-taking per week</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457200" y="256032"/>
            <a:ext cx="64008" cy="640080"/>
          </a:xfrm>
          <a:prstGeom prst="rect">
            <a:avLst/>
          </a:prstGeom>
          <a:solidFill>
            <a:srgbClr val="0097A7"/>
          </a:solidFill>
          <a:ln w="12700">
            <a:solidFill>
              <a:srgbClr val="0097A7"/>
            </a:solidFill>
            <a:prstDash val="solid"/>
          </a:ln>
        </p:spPr>
        <p:txBody>
          <a:bodyPr/>
          <a:lstStyle/>
          <a:p>
            <a:endParaRPr lang="en-US"/>
          </a:p>
        </p:txBody>
      </p:sp>
      <p:sp>
        <p:nvSpPr>
          <p:cNvPr id="3" name="Text 1"/>
          <p:cNvSpPr/>
          <p:nvPr/>
        </p:nvSpPr>
        <p:spPr>
          <a:xfrm>
            <a:off x="603504" y="164592"/>
            <a:ext cx="8138160" cy="749808"/>
          </a:xfrm>
          <a:prstGeom prst="rect">
            <a:avLst/>
          </a:prstGeom>
          <a:noFill/>
          <a:ln/>
        </p:spPr>
        <p:txBody>
          <a:bodyPr wrap="square" lIns="0" tIns="0" rIns="0" bIns="0" rtlCol="0" anchor="ctr"/>
          <a:lstStyle/>
          <a:p>
            <a:pPr marL="0" indent="0">
              <a:buNone/>
            </a:pPr>
            <a:r>
              <a:rPr lang="en-US" sz="3000" b="1" dirty="0">
                <a:solidFill>
                  <a:srgbClr val="1A2E4A"/>
                </a:solidFill>
                <a:latin typeface="Trebuchet MS" pitchFamily="34" charset="0"/>
                <a:ea typeface="Trebuchet MS" pitchFamily="34" charset="-122"/>
                <a:cs typeface="Trebuchet MS" pitchFamily="34" charset="-120"/>
              </a:rPr>
              <a:t>Implementation Roadmap</a:t>
            </a:r>
            <a:endParaRPr lang="en-US" sz="3000" dirty="0"/>
          </a:p>
        </p:txBody>
      </p:sp>
      <p:sp>
        <p:nvSpPr>
          <p:cNvPr id="4" name="Text 2"/>
          <p:cNvSpPr/>
          <p:nvPr/>
        </p:nvSpPr>
        <p:spPr>
          <a:xfrm>
            <a:off x="603504" y="817221"/>
            <a:ext cx="8138160" cy="292608"/>
          </a:xfrm>
          <a:prstGeom prst="rect">
            <a:avLst/>
          </a:prstGeom>
          <a:noFill/>
          <a:ln/>
        </p:spPr>
        <p:txBody>
          <a:bodyPr wrap="square" lIns="0" tIns="0" rIns="0" bIns="0" rtlCol="0" anchor="ctr"/>
          <a:lstStyle/>
          <a:p>
            <a:pPr marL="0" indent="0">
              <a:buNone/>
            </a:pPr>
            <a:r>
              <a:rPr lang="en-US" sz="1300" i="1" dirty="0">
                <a:solidFill>
                  <a:srgbClr val="0097A7"/>
                </a:solidFill>
                <a:latin typeface="Calibri" pitchFamily="34" charset="0"/>
                <a:ea typeface="Calibri" pitchFamily="34" charset="-122"/>
                <a:cs typeface="Calibri" pitchFamily="34" charset="-120"/>
              </a:rPr>
              <a:t>A phased approach to adopting Synthesia, Descript &amp; Fireflies.ai</a:t>
            </a:r>
            <a:endParaRPr lang="en-US" sz="1300" dirty="0"/>
          </a:p>
        </p:txBody>
      </p:sp>
      <p:sp>
        <p:nvSpPr>
          <p:cNvPr id="5" name="Shape 3"/>
          <p:cNvSpPr/>
          <p:nvPr/>
        </p:nvSpPr>
        <p:spPr>
          <a:xfrm>
            <a:off x="457200" y="2779776"/>
            <a:ext cx="8229600" cy="73152"/>
          </a:xfrm>
          <a:prstGeom prst="rect">
            <a:avLst/>
          </a:prstGeom>
          <a:solidFill>
            <a:srgbClr val="0097A7"/>
          </a:solidFill>
          <a:ln w="12700">
            <a:solidFill>
              <a:srgbClr val="0097A7"/>
            </a:solidFill>
            <a:prstDash val="solid"/>
          </a:ln>
        </p:spPr>
        <p:txBody>
          <a:bodyPr/>
          <a:lstStyle/>
          <a:p>
            <a:endParaRPr lang="en-US"/>
          </a:p>
        </p:txBody>
      </p:sp>
      <p:sp>
        <p:nvSpPr>
          <p:cNvPr id="6" name="Shape 4"/>
          <p:cNvSpPr/>
          <p:nvPr/>
        </p:nvSpPr>
        <p:spPr>
          <a:xfrm>
            <a:off x="347472" y="1188720"/>
            <a:ext cx="2743200" cy="1481328"/>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7" name="Shape 5"/>
          <p:cNvSpPr/>
          <p:nvPr/>
        </p:nvSpPr>
        <p:spPr>
          <a:xfrm>
            <a:off x="347472" y="1188720"/>
            <a:ext cx="2743200" cy="45720"/>
          </a:xfrm>
          <a:prstGeom prst="rect">
            <a:avLst/>
          </a:prstGeom>
          <a:solidFill>
            <a:srgbClr val="0097A7"/>
          </a:solidFill>
          <a:ln w="12700">
            <a:solidFill>
              <a:srgbClr val="0097A7"/>
            </a:solidFill>
            <a:prstDash val="solid"/>
          </a:ln>
        </p:spPr>
        <p:txBody>
          <a:bodyPr/>
          <a:lstStyle/>
          <a:p>
            <a:endParaRPr lang="en-US"/>
          </a:p>
        </p:txBody>
      </p:sp>
      <p:sp>
        <p:nvSpPr>
          <p:cNvPr id="8" name="Text 6"/>
          <p:cNvSpPr/>
          <p:nvPr/>
        </p:nvSpPr>
        <p:spPr>
          <a:xfrm>
            <a:off x="493776" y="1298448"/>
            <a:ext cx="2468880" cy="256032"/>
          </a:xfrm>
          <a:prstGeom prst="rect">
            <a:avLst/>
          </a:prstGeom>
          <a:noFill/>
          <a:ln/>
        </p:spPr>
        <p:txBody>
          <a:bodyPr wrap="square" lIns="0" tIns="0" rIns="0" bIns="0" rtlCol="0" anchor="ctr"/>
          <a:lstStyle/>
          <a:p>
            <a:pPr marL="0" indent="0">
              <a:buNone/>
            </a:pPr>
            <a:r>
              <a:rPr lang="en-US" sz="950" b="1" kern="0" spc="200" dirty="0">
                <a:solidFill>
                  <a:srgbClr val="0097A7"/>
                </a:solidFill>
                <a:latin typeface="Trebuchet MS" pitchFamily="34" charset="0"/>
                <a:ea typeface="Trebuchet MS" pitchFamily="34" charset="-122"/>
                <a:cs typeface="Trebuchet MS" pitchFamily="34" charset="-120"/>
              </a:rPr>
              <a:t>PHASE 1</a:t>
            </a:r>
            <a:endParaRPr lang="en-US" sz="950" dirty="0"/>
          </a:p>
        </p:txBody>
      </p:sp>
      <p:sp>
        <p:nvSpPr>
          <p:cNvPr id="9" name="Text 7"/>
          <p:cNvSpPr/>
          <p:nvPr/>
        </p:nvSpPr>
        <p:spPr>
          <a:xfrm>
            <a:off x="493776" y="1536192"/>
            <a:ext cx="2468880" cy="365760"/>
          </a:xfrm>
          <a:prstGeom prst="rect">
            <a:avLst/>
          </a:prstGeom>
          <a:noFill/>
          <a:ln/>
        </p:spPr>
        <p:txBody>
          <a:bodyPr wrap="square" lIns="0" tIns="0" rIns="0" bIns="0" rtlCol="0" anchor="ctr"/>
          <a:lstStyle/>
          <a:p>
            <a:pPr marL="0" indent="0">
              <a:buNone/>
            </a:pPr>
            <a:r>
              <a:rPr lang="en-US" sz="1800" b="1" dirty="0">
                <a:solidFill>
                  <a:srgbClr val="1A2E4A"/>
                </a:solidFill>
                <a:latin typeface="Trebuchet MS" pitchFamily="34" charset="0"/>
                <a:ea typeface="Trebuchet MS" pitchFamily="34" charset="-122"/>
                <a:cs typeface="Trebuchet MS" pitchFamily="34" charset="-120"/>
              </a:rPr>
              <a:t>Discover &amp; Pilot</a:t>
            </a:r>
            <a:endParaRPr lang="en-US" sz="1800" dirty="0"/>
          </a:p>
        </p:txBody>
      </p:sp>
      <p:sp>
        <p:nvSpPr>
          <p:cNvPr id="10" name="Text 8"/>
          <p:cNvSpPr/>
          <p:nvPr/>
        </p:nvSpPr>
        <p:spPr>
          <a:xfrm>
            <a:off x="493776" y="1883664"/>
            <a:ext cx="2468880" cy="256032"/>
          </a:xfrm>
          <a:prstGeom prst="rect">
            <a:avLst/>
          </a:prstGeom>
          <a:noFill/>
          <a:ln/>
        </p:spPr>
        <p:txBody>
          <a:bodyPr wrap="square" lIns="0" tIns="0" rIns="0" bIns="0" rtlCol="0" anchor="ctr"/>
          <a:lstStyle/>
          <a:p>
            <a:pPr marL="0" indent="0">
              <a:buNone/>
            </a:pPr>
            <a:r>
              <a:rPr lang="en-US" sz="1150" i="1" dirty="0">
                <a:solidFill>
                  <a:srgbClr val="4A6080"/>
                </a:solidFill>
                <a:latin typeface="Calibri" pitchFamily="34" charset="0"/>
                <a:ea typeface="Calibri" pitchFamily="34" charset="-122"/>
                <a:cs typeface="Calibri" pitchFamily="34" charset="-120"/>
              </a:rPr>
              <a:t>Months 1–2</a:t>
            </a:r>
            <a:endParaRPr lang="en-US" sz="1150" dirty="0"/>
          </a:p>
        </p:txBody>
      </p:sp>
      <p:sp>
        <p:nvSpPr>
          <p:cNvPr id="11" name="Shape 9"/>
          <p:cNvSpPr/>
          <p:nvPr/>
        </p:nvSpPr>
        <p:spPr>
          <a:xfrm>
            <a:off x="493776" y="2157984"/>
            <a:ext cx="2468880" cy="36576"/>
          </a:xfrm>
          <a:prstGeom prst="rect">
            <a:avLst/>
          </a:prstGeom>
          <a:solidFill>
            <a:srgbClr val="0097A7">
              <a:alpha val="45000"/>
            </a:srgbClr>
          </a:solidFill>
          <a:ln w="12700">
            <a:solidFill>
              <a:srgbClr val="0097A7">
                <a:alpha val="45000"/>
              </a:srgbClr>
            </a:solidFill>
            <a:prstDash val="solid"/>
          </a:ln>
        </p:spPr>
        <p:txBody>
          <a:bodyPr/>
          <a:lstStyle/>
          <a:p>
            <a:endParaRPr lang="en-US"/>
          </a:p>
        </p:txBody>
      </p:sp>
      <p:sp>
        <p:nvSpPr>
          <p:cNvPr id="12" name="Shape 10"/>
          <p:cNvSpPr/>
          <p:nvPr/>
        </p:nvSpPr>
        <p:spPr>
          <a:xfrm>
            <a:off x="1664208" y="2670048"/>
            <a:ext cx="54864" cy="146304"/>
          </a:xfrm>
          <a:prstGeom prst="rect">
            <a:avLst/>
          </a:prstGeom>
          <a:solidFill>
            <a:srgbClr val="0097A7">
              <a:alpha val="60000"/>
            </a:srgbClr>
          </a:solidFill>
          <a:ln w="12700">
            <a:solidFill>
              <a:srgbClr val="0097A7">
                <a:alpha val="60000"/>
              </a:srgbClr>
            </a:solidFill>
            <a:prstDash val="solid"/>
          </a:ln>
        </p:spPr>
        <p:txBody>
          <a:bodyPr/>
          <a:lstStyle/>
          <a:p>
            <a:endParaRPr lang="en-US"/>
          </a:p>
        </p:txBody>
      </p:sp>
      <p:sp>
        <p:nvSpPr>
          <p:cNvPr id="13" name="Shape 11"/>
          <p:cNvSpPr/>
          <p:nvPr/>
        </p:nvSpPr>
        <p:spPr>
          <a:xfrm>
            <a:off x="768096" y="2670048"/>
            <a:ext cx="292608" cy="292608"/>
          </a:xfrm>
          <a:prstGeom prst="ellipse">
            <a:avLst/>
          </a:prstGeom>
          <a:solidFill>
            <a:srgbClr val="0097A7"/>
          </a:solidFill>
          <a:ln w="25400">
            <a:solidFill>
              <a:srgbClr val="FFFFFF"/>
            </a:solidFill>
            <a:prstDash val="solid"/>
          </a:ln>
        </p:spPr>
        <p:txBody>
          <a:bodyPr/>
          <a:lstStyle/>
          <a:p>
            <a:endParaRPr lang="en-US"/>
          </a:p>
        </p:txBody>
      </p:sp>
      <p:sp>
        <p:nvSpPr>
          <p:cNvPr id="14" name="Text 12"/>
          <p:cNvSpPr/>
          <p:nvPr/>
        </p:nvSpPr>
        <p:spPr>
          <a:xfrm>
            <a:off x="347472" y="2980944"/>
            <a:ext cx="2743200" cy="1005840"/>
          </a:xfrm>
          <a:prstGeom prst="rect">
            <a:avLst/>
          </a:prstGeom>
          <a:noFill/>
          <a:ln/>
        </p:spPr>
        <p:txBody>
          <a:bodyPr wrap="square" lIns="0" tIns="76200" rIns="0" bIns="0" rtlCol="0" anchor="ctr"/>
          <a:lstStyle/>
          <a:p>
            <a:pPr marL="342900" indent="-342900">
              <a:spcAft>
                <a:spcPts val="400"/>
              </a:spcAft>
              <a:buSzPct val="100000"/>
              <a:buChar char="•"/>
            </a:pPr>
            <a:r>
              <a:rPr lang="en-US" sz="1100" dirty="0">
                <a:solidFill>
                  <a:srgbClr val="1A2E4A"/>
                </a:solidFill>
                <a:latin typeface="Calibri" pitchFamily="34" charset="0"/>
                <a:ea typeface="Calibri" pitchFamily="34" charset="-122"/>
                <a:cs typeface="Calibri" pitchFamily="34" charset="-120"/>
              </a:rPr>
              <a:t>Start free trials for all 3 tools</a:t>
            </a:r>
            <a:endParaRPr lang="en-US" sz="1100" dirty="0"/>
          </a:p>
          <a:p>
            <a:pPr marL="342900" indent="-342900">
              <a:spcAft>
                <a:spcPts val="400"/>
              </a:spcAft>
              <a:buSzPct val="100000"/>
              <a:buChar char="•"/>
            </a:pPr>
            <a:r>
              <a:rPr lang="en-US" sz="1100" dirty="0">
                <a:solidFill>
                  <a:srgbClr val="1A2E4A"/>
                </a:solidFill>
                <a:latin typeface="Calibri" pitchFamily="34" charset="0"/>
                <a:ea typeface="Calibri" pitchFamily="34" charset="-122"/>
                <a:cs typeface="Calibri" pitchFamily="34" charset="-120"/>
              </a:rPr>
              <a:t>Assign 2–3 pilot users per tool</a:t>
            </a:r>
            <a:endParaRPr lang="en-US" sz="1100" dirty="0"/>
          </a:p>
          <a:p>
            <a:pPr marL="342900" indent="-342900">
              <a:spcAft>
                <a:spcPts val="400"/>
              </a:spcAft>
              <a:buSzPct val="100000"/>
              <a:buChar char="•"/>
            </a:pPr>
            <a:r>
              <a:rPr lang="en-US" sz="1100" dirty="0">
                <a:solidFill>
                  <a:srgbClr val="1A2E4A"/>
                </a:solidFill>
                <a:latin typeface="Calibri" pitchFamily="34" charset="0"/>
                <a:ea typeface="Calibri" pitchFamily="34" charset="-122"/>
                <a:cs typeface="Calibri" pitchFamily="34" charset="-120"/>
              </a:rPr>
              <a:t>Document use cases &amp; early wins</a:t>
            </a:r>
            <a:endParaRPr lang="en-US" sz="1100" dirty="0"/>
          </a:p>
        </p:txBody>
      </p:sp>
      <p:sp>
        <p:nvSpPr>
          <p:cNvPr id="15" name="Shape 13"/>
          <p:cNvSpPr/>
          <p:nvPr/>
        </p:nvSpPr>
        <p:spPr>
          <a:xfrm>
            <a:off x="3163824" y="1188720"/>
            <a:ext cx="2743200" cy="1481328"/>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16" name="Shape 14"/>
          <p:cNvSpPr/>
          <p:nvPr/>
        </p:nvSpPr>
        <p:spPr>
          <a:xfrm>
            <a:off x="3163824" y="1188720"/>
            <a:ext cx="2743200" cy="45720"/>
          </a:xfrm>
          <a:prstGeom prst="rect">
            <a:avLst/>
          </a:prstGeom>
          <a:solidFill>
            <a:srgbClr val="F5A623"/>
          </a:solidFill>
          <a:ln w="12700">
            <a:solidFill>
              <a:srgbClr val="F5A623"/>
            </a:solidFill>
            <a:prstDash val="solid"/>
          </a:ln>
        </p:spPr>
        <p:txBody>
          <a:bodyPr/>
          <a:lstStyle/>
          <a:p>
            <a:endParaRPr lang="en-US"/>
          </a:p>
        </p:txBody>
      </p:sp>
      <p:sp>
        <p:nvSpPr>
          <p:cNvPr id="17" name="Text 15"/>
          <p:cNvSpPr/>
          <p:nvPr/>
        </p:nvSpPr>
        <p:spPr>
          <a:xfrm>
            <a:off x="3310128" y="1298448"/>
            <a:ext cx="2468880" cy="256032"/>
          </a:xfrm>
          <a:prstGeom prst="rect">
            <a:avLst/>
          </a:prstGeom>
          <a:noFill/>
          <a:ln/>
        </p:spPr>
        <p:txBody>
          <a:bodyPr wrap="square" lIns="0" tIns="0" rIns="0" bIns="0" rtlCol="0" anchor="ctr"/>
          <a:lstStyle/>
          <a:p>
            <a:pPr marL="0" indent="0">
              <a:buNone/>
            </a:pPr>
            <a:r>
              <a:rPr lang="en-US" sz="950" b="1" kern="0" spc="200" dirty="0">
                <a:solidFill>
                  <a:srgbClr val="F5A623"/>
                </a:solidFill>
                <a:latin typeface="Trebuchet MS" pitchFamily="34" charset="0"/>
                <a:ea typeface="Trebuchet MS" pitchFamily="34" charset="-122"/>
                <a:cs typeface="Trebuchet MS" pitchFamily="34" charset="-120"/>
              </a:rPr>
              <a:t>PHASE 2</a:t>
            </a:r>
            <a:endParaRPr lang="en-US" sz="950" dirty="0"/>
          </a:p>
        </p:txBody>
      </p:sp>
      <p:sp>
        <p:nvSpPr>
          <p:cNvPr id="18" name="Text 16"/>
          <p:cNvSpPr/>
          <p:nvPr/>
        </p:nvSpPr>
        <p:spPr>
          <a:xfrm>
            <a:off x="3310128" y="1536192"/>
            <a:ext cx="2468880" cy="365760"/>
          </a:xfrm>
          <a:prstGeom prst="rect">
            <a:avLst/>
          </a:prstGeom>
          <a:noFill/>
          <a:ln/>
        </p:spPr>
        <p:txBody>
          <a:bodyPr wrap="square" lIns="0" tIns="0" rIns="0" bIns="0" rtlCol="0" anchor="ctr"/>
          <a:lstStyle/>
          <a:p>
            <a:pPr marL="0" indent="0">
              <a:buNone/>
            </a:pPr>
            <a:r>
              <a:rPr lang="en-US" sz="1800" b="1" dirty="0">
                <a:solidFill>
                  <a:srgbClr val="1A2E4A"/>
                </a:solidFill>
                <a:latin typeface="Trebuchet MS" pitchFamily="34" charset="0"/>
                <a:ea typeface="Trebuchet MS" pitchFamily="34" charset="-122"/>
                <a:cs typeface="Trebuchet MS" pitchFamily="34" charset="-120"/>
              </a:rPr>
              <a:t>Train &amp; Integrate</a:t>
            </a:r>
            <a:endParaRPr lang="en-US" sz="1800" dirty="0"/>
          </a:p>
        </p:txBody>
      </p:sp>
      <p:sp>
        <p:nvSpPr>
          <p:cNvPr id="19" name="Text 17"/>
          <p:cNvSpPr/>
          <p:nvPr/>
        </p:nvSpPr>
        <p:spPr>
          <a:xfrm>
            <a:off x="3310128" y="1883664"/>
            <a:ext cx="2468880" cy="256032"/>
          </a:xfrm>
          <a:prstGeom prst="rect">
            <a:avLst/>
          </a:prstGeom>
          <a:noFill/>
          <a:ln/>
        </p:spPr>
        <p:txBody>
          <a:bodyPr wrap="square" lIns="0" tIns="0" rIns="0" bIns="0" rtlCol="0" anchor="ctr"/>
          <a:lstStyle/>
          <a:p>
            <a:pPr marL="0" indent="0">
              <a:buNone/>
            </a:pPr>
            <a:r>
              <a:rPr lang="en-US" sz="1150" i="1" dirty="0">
                <a:solidFill>
                  <a:srgbClr val="4A6080"/>
                </a:solidFill>
                <a:latin typeface="Calibri" pitchFamily="34" charset="0"/>
                <a:ea typeface="Calibri" pitchFamily="34" charset="-122"/>
                <a:cs typeface="Calibri" pitchFamily="34" charset="-120"/>
              </a:rPr>
              <a:t>Months 3–4</a:t>
            </a:r>
            <a:endParaRPr lang="en-US" sz="1150" dirty="0"/>
          </a:p>
        </p:txBody>
      </p:sp>
      <p:sp>
        <p:nvSpPr>
          <p:cNvPr id="20" name="Shape 18"/>
          <p:cNvSpPr/>
          <p:nvPr/>
        </p:nvSpPr>
        <p:spPr>
          <a:xfrm>
            <a:off x="3310128" y="2157984"/>
            <a:ext cx="2468880" cy="36576"/>
          </a:xfrm>
          <a:prstGeom prst="rect">
            <a:avLst/>
          </a:prstGeom>
          <a:solidFill>
            <a:srgbClr val="F5A623">
              <a:alpha val="45000"/>
            </a:srgbClr>
          </a:solidFill>
          <a:ln w="12700">
            <a:solidFill>
              <a:srgbClr val="F5A623">
                <a:alpha val="45000"/>
              </a:srgbClr>
            </a:solidFill>
            <a:prstDash val="solid"/>
          </a:ln>
        </p:spPr>
        <p:txBody>
          <a:bodyPr/>
          <a:lstStyle/>
          <a:p>
            <a:endParaRPr lang="en-US"/>
          </a:p>
        </p:txBody>
      </p:sp>
      <p:sp>
        <p:nvSpPr>
          <p:cNvPr id="21" name="Shape 19"/>
          <p:cNvSpPr/>
          <p:nvPr/>
        </p:nvSpPr>
        <p:spPr>
          <a:xfrm>
            <a:off x="4480560" y="2670048"/>
            <a:ext cx="54864" cy="146304"/>
          </a:xfrm>
          <a:prstGeom prst="rect">
            <a:avLst/>
          </a:prstGeom>
          <a:solidFill>
            <a:srgbClr val="F5A623">
              <a:alpha val="60000"/>
            </a:srgbClr>
          </a:solidFill>
          <a:ln w="12700">
            <a:solidFill>
              <a:srgbClr val="F5A623">
                <a:alpha val="60000"/>
              </a:srgbClr>
            </a:solidFill>
            <a:prstDash val="solid"/>
          </a:ln>
        </p:spPr>
        <p:txBody>
          <a:bodyPr/>
          <a:lstStyle/>
          <a:p>
            <a:endParaRPr lang="en-US"/>
          </a:p>
        </p:txBody>
      </p:sp>
      <p:sp>
        <p:nvSpPr>
          <p:cNvPr id="22" name="Shape 20"/>
          <p:cNvSpPr/>
          <p:nvPr/>
        </p:nvSpPr>
        <p:spPr>
          <a:xfrm>
            <a:off x="3621024" y="2670048"/>
            <a:ext cx="292608" cy="292608"/>
          </a:xfrm>
          <a:prstGeom prst="ellipse">
            <a:avLst/>
          </a:prstGeom>
          <a:solidFill>
            <a:srgbClr val="F5A623"/>
          </a:solidFill>
          <a:ln w="25400">
            <a:solidFill>
              <a:srgbClr val="FFFFFF"/>
            </a:solidFill>
            <a:prstDash val="solid"/>
          </a:ln>
        </p:spPr>
        <p:txBody>
          <a:bodyPr/>
          <a:lstStyle/>
          <a:p>
            <a:endParaRPr lang="en-US"/>
          </a:p>
        </p:txBody>
      </p:sp>
      <p:sp>
        <p:nvSpPr>
          <p:cNvPr id="23" name="Text 21"/>
          <p:cNvSpPr/>
          <p:nvPr/>
        </p:nvSpPr>
        <p:spPr>
          <a:xfrm>
            <a:off x="3163824" y="2980944"/>
            <a:ext cx="2743200" cy="1005840"/>
          </a:xfrm>
          <a:prstGeom prst="rect">
            <a:avLst/>
          </a:prstGeom>
          <a:noFill/>
          <a:ln/>
        </p:spPr>
        <p:txBody>
          <a:bodyPr wrap="square" lIns="0" tIns="76200" rIns="0" bIns="0" rtlCol="0" anchor="ctr"/>
          <a:lstStyle/>
          <a:p>
            <a:pPr marL="342900" indent="-342900">
              <a:spcAft>
                <a:spcPts val="400"/>
              </a:spcAft>
              <a:buSzPct val="100000"/>
              <a:buChar char="•"/>
            </a:pPr>
            <a:r>
              <a:rPr lang="en-US" sz="1100" dirty="0">
                <a:solidFill>
                  <a:srgbClr val="1A2E4A"/>
                </a:solidFill>
                <a:latin typeface="Calibri" pitchFamily="34" charset="0"/>
                <a:ea typeface="Calibri" pitchFamily="34" charset="-122"/>
                <a:cs typeface="Calibri" pitchFamily="34" charset="-120"/>
              </a:rPr>
              <a:t>Host lunch &amp; learn sessions</a:t>
            </a:r>
            <a:endParaRPr lang="en-US" sz="1100" dirty="0"/>
          </a:p>
          <a:p>
            <a:pPr marL="342900" indent="-342900">
              <a:spcAft>
                <a:spcPts val="400"/>
              </a:spcAft>
              <a:buSzPct val="100000"/>
              <a:buChar char="•"/>
            </a:pPr>
            <a:r>
              <a:rPr lang="en-US" sz="1100" dirty="0">
                <a:solidFill>
                  <a:srgbClr val="1A2E4A"/>
                </a:solidFill>
                <a:latin typeface="Calibri" pitchFamily="34" charset="0"/>
                <a:ea typeface="Calibri" pitchFamily="34" charset="-122"/>
                <a:cs typeface="Calibri" pitchFamily="34" charset="-120"/>
              </a:rPr>
              <a:t>Build internal use case library</a:t>
            </a:r>
            <a:endParaRPr lang="en-US" sz="1100" dirty="0"/>
          </a:p>
          <a:p>
            <a:pPr marL="342900" indent="-342900">
              <a:spcAft>
                <a:spcPts val="400"/>
              </a:spcAft>
              <a:buSzPct val="100000"/>
              <a:buChar char="•"/>
            </a:pPr>
            <a:r>
              <a:rPr lang="en-US" sz="1100" dirty="0">
                <a:solidFill>
                  <a:srgbClr val="1A2E4A"/>
                </a:solidFill>
                <a:latin typeface="Calibri" pitchFamily="34" charset="0"/>
                <a:ea typeface="Calibri" pitchFamily="34" charset="-122"/>
                <a:cs typeface="Calibri" pitchFamily="34" charset="-120"/>
              </a:rPr>
              <a:t>Increase pilot user group</a:t>
            </a:r>
            <a:endParaRPr lang="en-US" sz="1100" dirty="0"/>
          </a:p>
        </p:txBody>
      </p:sp>
      <p:sp>
        <p:nvSpPr>
          <p:cNvPr id="24" name="Shape 22"/>
          <p:cNvSpPr/>
          <p:nvPr/>
        </p:nvSpPr>
        <p:spPr>
          <a:xfrm>
            <a:off x="5989320" y="1188720"/>
            <a:ext cx="2743200" cy="1481328"/>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25" name="Shape 23"/>
          <p:cNvSpPr/>
          <p:nvPr/>
        </p:nvSpPr>
        <p:spPr>
          <a:xfrm>
            <a:off x="5989320" y="1188720"/>
            <a:ext cx="2743200" cy="45720"/>
          </a:xfrm>
          <a:prstGeom prst="rect">
            <a:avLst/>
          </a:prstGeom>
          <a:solidFill>
            <a:srgbClr val="A78BFA"/>
          </a:solidFill>
          <a:ln w="12700">
            <a:solidFill>
              <a:srgbClr val="A78BFA"/>
            </a:solidFill>
            <a:prstDash val="solid"/>
          </a:ln>
        </p:spPr>
        <p:txBody>
          <a:bodyPr/>
          <a:lstStyle/>
          <a:p>
            <a:endParaRPr lang="en-US"/>
          </a:p>
        </p:txBody>
      </p:sp>
      <p:sp>
        <p:nvSpPr>
          <p:cNvPr id="26" name="Text 24"/>
          <p:cNvSpPr/>
          <p:nvPr/>
        </p:nvSpPr>
        <p:spPr>
          <a:xfrm>
            <a:off x="6135624" y="1298448"/>
            <a:ext cx="2468880" cy="256032"/>
          </a:xfrm>
          <a:prstGeom prst="rect">
            <a:avLst/>
          </a:prstGeom>
          <a:noFill/>
          <a:ln/>
        </p:spPr>
        <p:txBody>
          <a:bodyPr wrap="square" lIns="0" tIns="0" rIns="0" bIns="0" rtlCol="0" anchor="ctr"/>
          <a:lstStyle/>
          <a:p>
            <a:pPr marL="0" indent="0">
              <a:buNone/>
            </a:pPr>
            <a:r>
              <a:rPr lang="en-US" sz="950" b="1" kern="0" spc="200" dirty="0">
                <a:solidFill>
                  <a:srgbClr val="A78BFA"/>
                </a:solidFill>
                <a:latin typeface="Trebuchet MS" pitchFamily="34" charset="0"/>
                <a:ea typeface="Trebuchet MS" pitchFamily="34" charset="-122"/>
                <a:cs typeface="Trebuchet MS" pitchFamily="34" charset="-120"/>
              </a:rPr>
              <a:t>PHASE 3</a:t>
            </a:r>
            <a:endParaRPr lang="en-US" sz="950" dirty="0"/>
          </a:p>
        </p:txBody>
      </p:sp>
      <p:sp>
        <p:nvSpPr>
          <p:cNvPr id="27" name="Text 25"/>
          <p:cNvSpPr/>
          <p:nvPr/>
        </p:nvSpPr>
        <p:spPr>
          <a:xfrm>
            <a:off x="6135624" y="1536192"/>
            <a:ext cx="2468880" cy="365760"/>
          </a:xfrm>
          <a:prstGeom prst="rect">
            <a:avLst/>
          </a:prstGeom>
          <a:noFill/>
          <a:ln/>
        </p:spPr>
        <p:txBody>
          <a:bodyPr wrap="square" lIns="0" tIns="0" rIns="0" bIns="0" rtlCol="0" anchor="ctr"/>
          <a:lstStyle/>
          <a:p>
            <a:pPr marL="0" indent="0">
              <a:buNone/>
            </a:pPr>
            <a:r>
              <a:rPr lang="en-US" sz="1800" b="1" dirty="0">
                <a:solidFill>
                  <a:srgbClr val="1A2E4A"/>
                </a:solidFill>
                <a:latin typeface="Trebuchet MS" pitchFamily="34" charset="0"/>
                <a:ea typeface="Trebuchet MS" pitchFamily="34" charset="-122"/>
                <a:cs typeface="Trebuchet MS" pitchFamily="34" charset="-120"/>
              </a:rPr>
              <a:t>Scale &amp; Optimize</a:t>
            </a:r>
            <a:endParaRPr lang="en-US" sz="1800" dirty="0"/>
          </a:p>
        </p:txBody>
      </p:sp>
      <p:sp>
        <p:nvSpPr>
          <p:cNvPr id="28" name="Text 26"/>
          <p:cNvSpPr/>
          <p:nvPr/>
        </p:nvSpPr>
        <p:spPr>
          <a:xfrm>
            <a:off x="6135624" y="1883664"/>
            <a:ext cx="2468880" cy="256032"/>
          </a:xfrm>
          <a:prstGeom prst="rect">
            <a:avLst/>
          </a:prstGeom>
          <a:noFill/>
          <a:ln/>
        </p:spPr>
        <p:txBody>
          <a:bodyPr wrap="square" lIns="0" tIns="0" rIns="0" bIns="0" rtlCol="0" anchor="ctr"/>
          <a:lstStyle/>
          <a:p>
            <a:pPr marL="0" indent="0">
              <a:buNone/>
            </a:pPr>
            <a:r>
              <a:rPr lang="en-US" sz="1150" i="1" dirty="0">
                <a:solidFill>
                  <a:srgbClr val="4A6080"/>
                </a:solidFill>
                <a:latin typeface="Calibri" pitchFamily="34" charset="0"/>
                <a:ea typeface="Calibri" pitchFamily="34" charset="-122"/>
                <a:cs typeface="Calibri" pitchFamily="34" charset="-120"/>
              </a:rPr>
              <a:t>Months 5–6</a:t>
            </a:r>
            <a:endParaRPr lang="en-US" sz="1150" dirty="0"/>
          </a:p>
        </p:txBody>
      </p:sp>
      <p:sp>
        <p:nvSpPr>
          <p:cNvPr id="29" name="Shape 27"/>
          <p:cNvSpPr/>
          <p:nvPr/>
        </p:nvSpPr>
        <p:spPr>
          <a:xfrm>
            <a:off x="6135624" y="2157984"/>
            <a:ext cx="2468880" cy="36576"/>
          </a:xfrm>
          <a:prstGeom prst="rect">
            <a:avLst/>
          </a:prstGeom>
          <a:solidFill>
            <a:srgbClr val="A78BFA">
              <a:alpha val="45000"/>
            </a:srgbClr>
          </a:solidFill>
          <a:ln w="12700">
            <a:solidFill>
              <a:srgbClr val="A78BFA">
                <a:alpha val="45000"/>
              </a:srgbClr>
            </a:solidFill>
            <a:prstDash val="solid"/>
          </a:ln>
        </p:spPr>
        <p:txBody>
          <a:bodyPr/>
          <a:lstStyle/>
          <a:p>
            <a:endParaRPr lang="en-US"/>
          </a:p>
        </p:txBody>
      </p:sp>
      <p:sp>
        <p:nvSpPr>
          <p:cNvPr id="30" name="Shape 28"/>
          <p:cNvSpPr/>
          <p:nvPr/>
        </p:nvSpPr>
        <p:spPr>
          <a:xfrm>
            <a:off x="7306056" y="2670048"/>
            <a:ext cx="54864" cy="146304"/>
          </a:xfrm>
          <a:prstGeom prst="rect">
            <a:avLst/>
          </a:prstGeom>
          <a:solidFill>
            <a:srgbClr val="A78BFA">
              <a:alpha val="60000"/>
            </a:srgbClr>
          </a:solidFill>
          <a:ln w="12700">
            <a:solidFill>
              <a:srgbClr val="A78BFA">
                <a:alpha val="60000"/>
              </a:srgbClr>
            </a:solidFill>
            <a:prstDash val="solid"/>
          </a:ln>
        </p:spPr>
        <p:txBody>
          <a:bodyPr/>
          <a:lstStyle/>
          <a:p>
            <a:endParaRPr lang="en-US"/>
          </a:p>
        </p:txBody>
      </p:sp>
      <p:sp>
        <p:nvSpPr>
          <p:cNvPr id="31" name="Shape 29"/>
          <p:cNvSpPr/>
          <p:nvPr/>
        </p:nvSpPr>
        <p:spPr>
          <a:xfrm>
            <a:off x="6437376" y="2670048"/>
            <a:ext cx="292608" cy="292608"/>
          </a:xfrm>
          <a:prstGeom prst="ellipse">
            <a:avLst/>
          </a:prstGeom>
          <a:solidFill>
            <a:srgbClr val="A78BFA"/>
          </a:solidFill>
          <a:ln w="25400">
            <a:solidFill>
              <a:srgbClr val="FFFFFF"/>
            </a:solidFill>
            <a:prstDash val="solid"/>
          </a:ln>
        </p:spPr>
        <p:txBody>
          <a:bodyPr/>
          <a:lstStyle/>
          <a:p>
            <a:endParaRPr lang="en-US"/>
          </a:p>
        </p:txBody>
      </p:sp>
      <p:sp>
        <p:nvSpPr>
          <p:cNvPr id="32" name="Text 30"/>
          <p:cNvSpPr/>
          <p:nvPr/>
        </p:nvSpPr>
        <p:spPr>
          <a:xfrm>
            <a:off x="5989320" y="2980944"/>
            <a:ext cx="2743200" cy="1005840"/>
          </a:xfrm>
          <a:prstGeom prst="rect">
            <a:avLst/>
          </a:prstGeom>
          <a:noFill/>
          <a:ln/>
        </p:spPr>
        <p:txBody>
          <a:bodyPr wrap="square" lIns="0" tIns="76200" rIns="0" bIns="0" rtlCol="0" anchor="ctr"/>
          <a:lstStyle/>
          <a:p>
            <a:pPr marL="342900" indent="-342900">
              <a:spcAft>
                <a:spcPts val="400"/>
              </a:spcAft>
              <a:buSzPct val="100000"/>
              <a:buChar char="•"/>
            </a:pPr>
            <a:r>
              <a:rPr lang="en-US" sz="1100" dirty="0">
                <a:solidFill>
                  <a:srgbClr val="1A2E4A"/>
                </a:solidFill>
                <a:latin typeface="Calibri" pitchFamily="34" charset="0"/>
                <a:ea typeface="Calibri" pitchFamily="34" charset="-122"/>
                <a:cs typeface="Calibri" pitchFamily="34" charset="-120"/>
              </a:rPr>
              <a:t>Full team onboarding &amp; access</a:t>
            </a:r>
            <a:endParaRPr lang="en-US" sz="1100" dirty="0"/>
          </a:p>
          <a:p>
            <a:pPr marL="342900" indent="-342900">
              <a:spcAft>
                <a:spcPts val="400"/>
              </a:spcAft>
              <a:buSzPct val="100000"/>
              <a:buChar char="•"/>
            </a:pPr>
            <a:r>
              <a:rPr lang="en-US" sz="1100" dirty="0">
                <a:solidFill>
                  <a:srgbClr val="1A2E4A"/>
                </a:solidFill>
                <a:latin typeface="Calibri" pitchFamily="34" charset="0"/>
                <a:ea typeface="Calibri" pitchFamily="34" charset="-122"/>
                <a:cs typeface="Calibri" pitchFamily="34" charset="-120"/>
              </a:rPr>
              <a:t>Measure ROI vs. vendor baseline</a:t>
            </a:r>
            <a:endParaRPr lang="en-US" sz="1100" dirty="0"/>
          </a:p>
          <a:p>
            <a:pPr marL="342900" indent="-342900">
              <a:spcAft>
                <a:spcPts val="400"/>
              </a:spcAft>
              <a:buSzPct val="100000"/>
              <a:buChar char="•"/>
            </a:pPr>
            <a:r>
              <a:rPr lang="en-US" sz="1100" dirty="0">
                <a:solidFill>
                  <a:srgbClr val="1A2E4A"/>
                </a:solidFill>
                <a:latin typeface="Calibri" pitchFamily="34" charset="0"/>
                <a:ea typeface="Calibri" pitchFamily="34" charset="-122"/>
                <a:cs typeface="Calibri" pitchFamily="34" charset="-120"/>
              </a:rPr>
              <a:t>Refine workflows; plan Year 2 strategy</a:t>
            </a:r>
            <a:endParaRPr lang="en-US" sz="1100" dirty="0"/>
          </a:p>
        </p:txBody>
      </p:sp>
      <p:sp>
        <p:nvSpPr>
          <p:cNvPr id="33" name="Shape 31"/>
          <p:cNvSpPr/>
          <p:nvPr/>
        </p:nvSpPr>
        <p:spPr>
          <a:xfrm>
            <a:off x="0" y="4498848"/>
            <a:ext cx="9144000" cy="640080"/>
          </a:xfrm>
          <a:prstGeom prst="rect">
            <a:avLst/>
          </a:prstGeom>
          <a:solidFill>
            <a:srgbClr val="0F2240"/>
          </a:solidFill>
          <a:ln w="12700">
            <a:solidFill>
              <a:srgbClr val="0F2240"/>
            </a:solidFill>
            <a:prstDash val="solid"/>
          </a:ln>
        </p:spPr>
        <p:txBody>
          <a:bodyPr/>
          <a:lstStyle/>
          <a:p>
            <a:endParaRPr lang="en-US"/>
          </a:p>
        </p:txBody>
      </p:sp>
      <p:sp>
        <p:nvSpPr>
          <p:cNvPr id="34" name="Text 32"/>
          <p:cNvSpPr/>
          <p:nvPr/>
        </p:nvSpPr>
        <p:spPr>
          <a:xfrm>
            <a:off x="365760" y="4535424"/>
            <a:ext cx="8412480" cy="50292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Assign a tool champion per phase to drive adoption, collect feedback, and report wins to leadership.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52A"/>
        </a:solidFill>
        <a:effectLst/>
      </p:bgPr>
    </p:bg>
    <p:spTree>
      <p:nvGrpSpPr>
        <p:cNvPr id="1" name=""/>
        <p:cNvGrpSpPr/>
        <p:nvPr/>
      </p:nvGrpSpPr>
      <p:grpSpPr>
        <a:xfrm>
          <a:off x="0" y="0"/>
          <a:ext cx="0" cy="0"/>
          <a:chOff x="0" y="0"/>
          <a:chExt cx="0" cy="0"/>
        </a:xfrm>
      </p:grpSpPr>
      <p:sp>
        <p:nvSpPr>
          <p:cNvPr id="2" name="Shape 0"/>
          <p:cNvSpPr/>
          <p:nvPr/>
        </p:nvSpPr>
        <p:spPr>
          <a:xfrm>
            <a:off x="457200" y="320040"/>
            <a:ext cx="64008" cy="621792"/>
          </a:xfrm>
          <a:prstGeom prst="rect">
            <a:avLst/>
          </a:prstGeom>
          <a:solidFill>
            <a:srgbClr val="00C2CB"/>
          </a:solidFill>
          <a:ln w="12700">
            <a:solidFill>
              <a:srgbClr val="00C2CB"/>
            </a:solidFill>
            <a:prstDash val="solid"/>
          </a:ln>
        </p:spPr>
        <p:txBody>
          <a:bodyPr/>
          <a:lstStyle/>
          <a:p>
            <a:endParaRPr lang="en-US"/>
          </a:p>
        </p:txBody>
      </p:sp>
      <p:sp>
        <p:nvSpPr>
          <p:cNvPr id="3" name="Text 1"/>
          <p:cNvSpPr/>
          <p:nvPr/>
        </p:nvSpPr>
        <p:spPr>
          <a:xfrm>
            <a:off x="603504" y="228600"/>
            <a:ext cx="8138160" cy="713232"/>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Risks &amp; Mitigation</a:t>
            </a:r>
            <a:endParaRPr lang="en-US" sz="3000" dirty="0"/>
          </a:p>
        </p:txBody>
      </p:sp>
      <p:sp>
        <p:nvSpPr>
          <p:cNvPr id="4" name="Text 2"/>
          <p:cNvSpPr/>
          <p:nvPr/>
        </p:nvSpPr>
        <p:spPr>
          <a:xfrm>
            <a:off x="603504" y="844231"/>
            <a:ext cx="8138160" cy="292608"/>
          </a:xfrm>
          <a:prstGeom prst="rect">
            <a:avLst/>
          </a:prstGeom>
          <a:noFill/>
          <a:ln/>
        </p:spPr>
        <p:txBody>
          <a:bodyPr wrap="square" lIns="0" tIns="0" rIns="0" bIns="0" rtlCol="0" anchor="ctr"/>
          <a:lstStyle/>
          <a:p>
            <a:pPr marL="0" indent="0">
              <a:buNone/>
            </a:pPr>
            <a:r>
              <a:rPr lang="en-US" sz="1300" i="1" dirty="0">
                <a:solidFill>
                  <a:srgbClr val="00C2CB"/>
                </a:solidFill>
                <a:latin typeface="Calibri" pitchFamily="34" charset="0"/>
                <a:ea typeface="Calibri" pitchFamily="34" charset="-122"/>
                <a:cs typeface="Calibri" pitchFamily="34" charset="-120"/>
              </a:rPr>
              <a:t>Proactively managing challenges in AI tool adoption</a:t>
            </a:r>
            <a:endParaRPr lang="en-US" sz="1300" dirty="0"/>
          </a:p>
        </p:txBody>
      </p:sp>
      <p:sp>
        <p:nvSpPr>
          <p:cNvPr id="5" name="Shape 3"/>
          <p:cNvSpPr/>
          <p:nvPr/>
        </p:nvSpPr>
        <p:spPr>
          <a:xfrm>
            <a:off x="365760" y="1234440"/>
            <a:ext cx="4251960" cy="1664208"/>
          </a:xfrm>
          <a:prstGeom prst="rect">
            <a:avLst/>
          </a:prstGeom>
          <a:solidFill>
            <a:srgbClr val="0F2240"/>
          </a:solidFill>
          <a:ln w="12700">
            <a:solidFill>
              <a:srgbClr val="1E3F6B"/>
            </a:solidFill>
            <a:prstDash val="solid"/>
          </a:ln>
          <a:effectLst>
            <a:outerShdw blurRad="101600" dist="38100" dir="8100000" algn="bl" rotWithShape="0">
              <a:srgbClr val="000000">
                <a:alpha val="2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502920" y="1417320"/>
            <a:ext cx="320040" cy="320040"/>
          </a:xfrm>
          <a:prstGeom prst="rect">
            <a:avLst/>
          </a:prstGeom>
        </p:spPr>
      </p:pic>
      <p:sp>
        <p:nvSpPr>
          <p:cNvPr id="7" name="Text 4"/>
          <p:cNvSpPr/>
          <p:nvPr/>
        </p:nvSpPr>
        <p:spPr>
          <a:xfrm>
            <a:off x="877824" y="1417320"/>
            <a:ext cx="1554480" cy="256032"/>
          </a:xfrm>
          <a:prstGeom prst="rect">
            <a:avLst/>
          </a:prstGeom>
          <a:noFill/>
          <a:ln/>
        </p:spPr>
        <p:txBody>
          <a:bodyPr wrap="square" lIns="0" tIns="0" rIns="0" bIns="0" rtlCol="0" anchor="ctr"/>
          <a:lstStyle/>
          <a:p>
            <a:pPr marL="0" indent="0">
              <a:buNone/>
            </a:pPr>
            <a:r>
              <a:rPr lang="en-US" sz="900" b="1" kern="0" spc="200" dirty="0">
                <a:solidFill>
                  <a:srgbClr val="E05C5C"/>
                </a:solidFill>
                <a:latin typeface="Trebuchet MS" pitchFamily="34" charset="0"/>
                <a:ea typeface="Trebuchet MS" pitchFamily="34" charset="-122"/>
                <a:cs typeface="Trebuchet MS" pitchFamily="34" charset="-120"/>
              </a:rPr>
              <a:t>RISK</a:t>
            </a:r>
            <a:endParaRPr lang="en-US" sz="900" dirty="0"/>
          </a:p>
        </p:txBody>
      </p:sp>
      <p:sp>
        <p:nvSpPr>
          <p:cNvPr id="8" name="Text 5"/>
          <p:cNvSpPr/>
          <p:nvPr/>
        </p:nvSpPr>
        <p:spPr>
          <a:xfrm>
            <a:off x="502920" y="1728216"/>
            <a:ext cx="1870862" cy="34747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Data Privacy &amp; Security</a:t>
            </a:r>
            <a:endParaRPr lang="en-US" sz="1300" dirty="0"/>
          </a:p>
        </p:txBody>
      </p:sp>
      <p:sp>
        <p:nvSpPr>
          <p:cNvPr id="9" name="Text 6"/>
          <p:cNvSpPr/>
          <p:nvPr/>
        </p:nvSpPr>
        <p:spPr>
          <a:xfrm>
            <a:off x="502920" y="2093976"/>
            <a:ext cx="1870862" cy="713232"/>
          </a:xfrm>
          <a:prstGeom prst="rect">
            <a:avLst/>
          </a:prstGeom>
          <a:noFill/>
          <a:ln/>
        </p:spPr>
        <p:txBody>
          <a:bodyPr wrap="square" lIns="0" tIns="0" rIns="0" bIns="0" rtlCol="0" anchor="ctr"/>
          <a:lstStyle/>
          <a:p>
            <a:pPr marL="0" indent="0">
              <a:buNone/>
            </a:pPr>
            <a:r>
              <a:rPr lang="en-US" sz="1050" dirty="0">
                <a:solidFill>
                  <a:srgbClr val="D0A8A8"/>
                </a:solidFill>
                <a:latin typeface="Calibri" pitchFamily="34" charset="0"/>
                <a:ea typeface="Calibri" pitchFamily="34" charset="-122"/>
                <a:cs typeface="Calibri" pitchFamily="34" charset="-120"/>
              </a:rPr>
              <a:t>Sensitive content or learner data may be exposed to third-party AI platforms without proper controls.</a:t>
            </a:r>
            <a:endParaRPr lang="en-US" sz="1050" dirty="0"/>
          </a:p>
        </p:txBody>
      </p:sp>
      <p:sp>
        <p:nvSpPr>
          <p:cNvPr id="10" name="Shape 7"/>
          <p:cNvSpPr/>
          <p:nvPr/>
        </p:nvSpPr>
        <p:spPr>
          <a:xfrm>
            <a:off x="2449220" y="1325880"/>
            <a:ext cx="22860" cy="1481328"/>
          </a:xfrm>
          <a:prstGeom prst="rect">
            <a:avLst/>
          </a:prstGeom>
          <a:solidFill>
            <a:srgbClr val="2E5080"/>
          </a:solidFill>
          <a:ln w="12700">
            <a:solidFill>
              <a:srgbClr val="2E5080"/>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625700" y="1417320"/>
            <a:ext cx="320040" cy="320040"/>
          </a:xfrm>
          <a:prstGeom prst="rect">
            <a:avLst/>
          </a:prstGeom>
        </p:spPr>
      </p:pic>
      <p:sp>
        <p:nvSpPr>
          <p:cNvPr id="12" name="Text 8"/>
          <p:cNvSpPr/>
          <p:nvPr/>
        </p:nvSpPr>
        <p:spPr>
          <a:xfrm>
            <a:off x="2991460" y="1417320"/>
            <a:ext cx="1737360" cy="256032"/>
          </a:xfrm>
          <a:prstGeom prst="rect">
            <a:avLst/>
          </a:prstGeom>
          <a:noFill/>
          <a:ln/>
        </p:spPr>
        <p:txBody>
          <a:bodyPr wrap="square" lIns="0" tIns="0" rIns="0" bIns="0" rtlCol="0" anchor="ctr"/>
          <a:lstStyle/>
          <a:p>
            <a:pPr marL="0" indent="0">
              <a:buNone/>
            </a:pPr>
            <a:r>
              <a:rPr lang="en-US" sz="900" b="1" kern="0" spc="200" dirty="0">
                <a:solidFill>
                  <a:srgbClr val="00C2CB"/>
                </a:solidFill>
                <a:latin typeface="Trebuchet MS" pitchFamily="34" charset="0"/>
                <a:ea typeface="Trebuchet MS" pitchFamily="34" charset="-122"/>
                <a:cs typeface="Trebuchet MS" pitchFamily="34" charset="-120"/>
              </a:rPr>
              <a:t>MITIGATION</a:t>
            </a:r>
            <a:endParaRPr lang="en-US" sz="900" dirty="0"/>
          </a:p>
        </p:txBody>
      </p:sp>
      <p:sp>
        <p:nvSpPr>
          <p:cNvPr id="13" name="Text 9"/>
          <p:cNvSpPr/>
          <p:nvPr/>
        </p:nvSpPr>
        <p:spPr>
          <a:xfrm>
            <a:off x="2625700" y="1728216"/>
            <a:ext cx="1955902" cy="1078992"/>
          </a:xfrm>
          <a:prstGeom prst="rect">
            <a:avLst/>
          </a:prstGeom>
          <a:noFill/>
          <a:ln/>
        </p:spPr>
        <p:txBody>
          <a:bodyPr wrap="square" lIns="0" tIns="0" rIns="0" bIns="0" rtlCol="0" anchor="ctr"/>
          <a:lstStyle/>
          <a:p>
            <a:pPr marL="0" indent="0">
              <a:buNone/>
            </a:pPr>
            <a:r>
              <a:rPr lang="en-US" sz="1050" dirty="0">
                <a:solidFill>
                  <a:srgbClr val="A8D0D8"/>
                </a:solidFill>
                <a:latin typeface="Calibri" pitchFamily="34" charset="0"/>
                <a:ea typeface="Calibri" pitchFamily="34" charset="-122"/>
                <a:cs typeface="Calibri" pitchFamily="34" charset="-120"/>
              </a:rPr>
              <a:t>Review vendor data policies; avoid uploading PII. Require enterprise/SSO tiers with data isolation &amp; DPA agreements.</a:t>
            </a:r>
            <a:endParaRPr lang="en-US" sz="1050" dirty="0"/>
          </a:p>
        </p:txBody>
      </p:sp>
      <p:sp>
        <p:nvSpPr>
          <p:cNvPr id="14" name="Shape 10"/>
          <p:cNvSpPr/>
          <p:nvPr/>
        </p:nvSpPr>
        <p:spPr>
          <a:xfrm>
            <a:off x="4800600" y="1234440"/>
            <a:ext cx="4251960" cy="1664208"/>
          </a:xfrm>
          <a:prstGeom prst="rect">
            <a:avLst/>
          </a:prstGeom>
          <a:solidFill>
            <a:srgbClr val="0F2240"/>
          </a:solidFill>
          <a:ln w="12700">
            <a:solidFill>
              <a:srgbClr val="1E3F6B"/>
            </a:solidFill>
            <a:prstDash val="solid"/>
          </a:ln>
          <a:effectLst>
            <a:outerShdw blurRad="101600" dist="38100" dir="8100000" algn="bl" rotWithShape="0">
              <a:srgbClr val="000000">
                <a:alpha val="28000"/>
              </a:srgbClr>
            </a:outerShdw>
          </a:effectLst>
        </p:spPr>
        <p:txBody>
          <a:bodyPr/>
          <a:lstStyle/>
          <a:p>
            <a:endParaRPr lang="en-US"/>
          </a:p>
        </p:txBody>
      </p:sp>
      <p:pic>
        <p:nvPicPr>
          <p:cNvPr id="15" name="Image 2" descr="preencoded.png"/>
          <p:cNvPicPr>
            <a:picLocks noChangeAspect="1"/>
          </p:cNvPicPr>
          <p:nvPr/>
        </p:nvPicPr>
        <p:blipFill>
          <a:blip r:embed="rId3"/>
          <a:stretch>
            <a:fillRect/>
          </a:stretch>
        </p:blipFill>
        <p:spPr>
          <a:xfrm>
            <a:off x="4937760" y="1417320"/>
            <a:ext cx="320040" cy="320040"/>
          </a:xfrm>
          <a:prstGeom prst="rect">
            <a:avLst/>
          </a:prstGeom>
        </p:spPr>
      </p:pic>
      <p:sp>
        <p:nvSpPr>
          <p:cNvPr id="16" name="Text 11"/>
          <p:cNvSpPr/>
          <p:nvPr/>
        </p:nvSpPr>
        <p:spPr>
          <a:xfrm>
            <a:off x="5312664" y="1417320"/>
            <a:ext cx="1554480" cy="256032"/>
          </a:xfrm>
          <a:prstGeom prst="rect">
            <a:avLst/>
          </a:prstGeom>
          <a:noFill/>
          <a:ln/>
        </p:spPr>
        <p:txBody>
          <a:bodyPr wrap="square" lIns="0" tIns="0" rIns="0" bIns="0" rtlCol="0" anchor="ctr"/>
          <a:lstStyle/>
          <a:p>
            <a:pPr marL="0" indent="0">
              <a:buNone/>
            </a:pPr>
            <a:r>
              <a:rPr lang="en-US" sz="900" b="1" kern="0" spc="200" dirty="0">
                <a:solidFill>
                  <a:srgbClr val="E05C5C"/>
                </a:solidFill>
                <a:latin typeface="Trebuchet MS" pitchFamily="34" charset="0"/>
                <a:ea typeface="Trebuchet MS" pitchFamily="34" charset="-122"/>
                <a:cs typeface="Trebuchet MS" pitchFamily="34" charset="-120"/>
              </a:rPr>
              <a:t>RISK</a:t>
            </a:r>
            <a:endParaRPr lang="en-US" sz="900" dirty="0"/>
          </a:p>
        </p:txBody>
      </p:sp>
      <p:sp>
        <p:nvSpPr>
          <p:cNvPr id="17" name="Text 12"/>
          <p:cNvSpPr/>
          <p:nvPr/>
        </p:nvSpPr>
        <p:spPr>
          <a:xfrm>
            <a:off x="4937760" y="1728216"/>
            <a:ext cx="1870862" cy="34747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AI Accuracy &amp; Hallucinations</a:t>
            </a:r>
            <a:endParaRPr lang="en-US" sz="1300" dirty="0"/>
          </a:p>
        </p:txBody>
      </p:sp>
      <p:sp>
        <p:nvSpPr>
          <p:cNvPr id="18" name="Text 13"/>
          <p:cNvSpPr/>
          <p:nvPr/>
        </p:nvSpPr>
        <p:spPr>
          <a:xfrm>
            <a:off x="4937760" y="2093976"/>
            <a:ext cx="1870862" cy="713232"/>
          </a:xfrm>
          <a:prstGeom prst="rect">
            <a:avLst/>
          </a:prstGeom>
          <a:noFill/>
          <a:ln/>
        </p:spPr>
        <p:txBody>
          <a:bodyPr wrap="square" lIns="0" tIns="0" rIns="0" bIns="0" rtlCol="0" anchor="ctr"/>
          <a:lstStyle/>
          <a:p>
            <a:pPr marL="0" indent="0">
              <a:buNone/>
            </a:pPr>
            <a:r>
              <a:rPr lang="en-US" sz="1050" dirty="0">
                <a:solidFill>
                  <a:srgbClr val="D0A8A8"/>
                </a:solidFill>
                <a:latin typeface="Calibri" pitchFamily="34" charset="0"/>
                <a:ea typeface="Calibri" pitchFamily="34" charset="-122"/>
                <a:cs typeface="Calibri" pitchFamily="34" charset="-120"/>
              </a:rPr>
              <a:t>AI-generated content may contain errors, outdated facts, or misleading summaries that reach learners.</a:t>
            </a:r>
            <a:endParaRPr lang="en-US" sz="1050" dirty="0"/>
          </a:p>
        </p:txBody>
      </p:sp>
      <p:sp>
        <p:nvSpPr>
          <p:cNvPr id="19" name="Shape 14"/>
          <p:cNvSpPr/>
          <p:nvPr/>
        </p:nvSpPr>
        <p:spPr>
          <a:xfrm>
            <a:off x="6884060" y="1325880"/>
            <a:ext cx="22860" cy="1481328"/>
          </a:xfrm>
          <a:prstGeom prst="rect">
            <a:avLst/>
          </a:prstGeom>
          <a:solidFill>
            <a:srgbClr val="2E5080"/>
          </a:solidFill>
          <a:ln w="12700">
            <a:solidFill>
              <a:srgbClr val="2E5080"/>
            </a:solidFill>
            <a:prstDash val="solid"/>
          </a:ln>
        </p:spPr>
        <p:txBody>
          <a:bodyPr/>
          <a:lstStyle/>
          <a:p>
            <a:endParaRPr lang="en-US"/>
          </a:p>
        </p:txBody>
      </p:sp>
      <p:pic>
        <p:nvPicPr>
          <p:cNvPr id="20" name="Image 3" descr="preencoded.png"/>
          <p:cNvPicPr>
            <a:picLocks noChangeAspect="1"/>
          </p:cNvPicPr>
          <p:nvPr/>
        </p:nvPicPr>
        <p:blipFill>
          <a:blip r:embed="rId4"/>
          <a:stretch>
            <a:fillRect/>
          </a:stretch>
        </p:blipFill>
        <p:spPr>
          <a:xfrm>
            <a:off x="7060540" y="1417320"/>
            <a:ext cx="320040" cy="320040"/>
          </a:xfrm>
          <a:prstGeom prst="rect">
            <a:avLst/>
          </a:prstGeom>
        </p:spPr>
      </p:pic>
      <p:sp>
        <p:nvSpPr>
          <p:cNvPr id="21" name="Text 15"/>
          <p:cNvSpPr/>
          <p:nvPr/>
        </p:nvSpPr>
        <p:spPr>
          <a:xfrm>
            <a:off x="7426300" y="1417320"/>
            <a:ext cx="1737360" cy="256032"/>
          </a:xfrm>
          <a:prstGeom prst="rect">
            <a:avLst/>
          </a:prstGeom>
          <a:noFill/>
          <a:ln/>
        </p:spPr>
        <p:txBody>
          <a:bodyPr wrap="square" lIns="0" tIns="0" rIns="0" bIns="0" rtlCol="0" anchor="ctr"/>
          <a:lstStyle/>
          <a:p>
            <a:pPr marL="0" indent="0">
              <a:buNone/>
            </a:pPr>
            <a:r>
              <a:rPr lang="en-US" sz="900" b="1" kern="0" spc="200" dirty="0">
                <a:solidFill>
                  <a:srgbClr val="00C2CB"/>
                </a:solidFill>
                <a:latin typeface="Trebuchet MS" pitchFamily="34" charset="0"/>
                <a:ea typeface="Trebuchet MS" pitchFamily="34" charset="-122"/>
                <a:cs typeface="Trebuchet MS" pitchFamily="34" charset="-120"/>
              </a:rPr>
              <a:t>MITIGATION</a:t>
            </a:r>
            <a:endParaRPr lang="en-US" sz="900" dirty="0"/>
          </a:p>
        </p:txBody>
      </p:sp>
      <p:sp>
        <p:nvSpPr>
          <p:cNvPr id="22" name="Text 16"/>
          <p:cNvSpPr/>
          <p:nvPr/>
        </p:nvSpPr>
        <p:spPr>
          <a:xfrm>
            <a:off x="7060540" y="1728216"/>
            <a:ext cx="1955902" cy="1078992"/>
          </a:xfrm>
          <a:prstGeom prst="rect">
            <a:avLst/>
          </a:prstGeom>
          <a:noFill/>
          <a:ln/>
        </p:spPr>
        <p:txBody>
          <a:bodyPr wrap="square" lIns="0" tIns="0" rIns="0" bIns="0" rtlCol="0" anchor="ctr"/>
          <a:lstStyle/>
          <a:p>
            <a:pPr marL="0" indent="0">
              <a:buNone/>
            </a:pPr>
            <a:r>
              <a:rPr lang="en-US" sz="1050" dirty="0">
                <a:solidFill>
                  <a:srgbClr val="A8D0D8"/>
                </a:solidFill>
                <a:latin typeface="Calibri" pitchFamily="34" charset="0"/>
                <a:ea typeface="Calibri" pitchFamily="34" charset="-122"/>
                <a:cs typeface="Calibri" pitchFamily="34" charset="-120"/>
              </a:rPr>
              <a:t>Mandate a human review step for all AI outputs before any content is published or distributed to learners.</a:t>
            </a:r>
            <a:endParaRPr lang="en-US" sz="1050" dirty="0"/>
          </a:p>
        </p:txBody>
      </p:sp>
      <p:sp>
        <p:nvSpPr>
          <p:cNvPr id="23" name="Shape 17"/>
          <p:cNvSpPr/>
          <p:nvPr/>
        </p:nvSpPr>
        <p:spPr>
          <a:xfrm>
            <a:off x="365760" y="3081528"/>
            <a:ext cx="4251960" cy="1664208"/>
          </a:xfrm>
          <a:prstGeom prst="rect">
            <a:avLst/>
          </a:prstGeom>
          <a:solidFill>
            <a:srgbClr val="0F2240"/>
          </a:solidFill>
          <a:ln w="12700">
            <a:solidFill>
              <a:srgbClr val="1E3F6B"/>
            </a:solidFill>
            <a:prstDash val="solid"/>
          </a:ln>
          <a:effectLst>
            <a:outerShdw blurRad="101600" dist="38100" dir="8100000" algn="bl" rotWithShape="0">
              <a:srgbClr val="000000">
                <a:alpha val="28000"/>
              </a:srgbClr>
            </a:outerShdw>
          </a:effectLst>
        </p:spPr>
        <p:txBody>
          <a:bodyPr/>
          <a:lstStyle/>
          <a:p>
            <a:endParaRPr lang="en-US"/>
          </a:p>
        </p:txBody>
      </p:sp>
      <p:pic>
        <p:nvPicPr>
          <p:cNvPr id="24" name="Image 4" descr="preencoded.png"/>
          <p:cNvPicPr>
            <a:picLocks noChangeAspect="1"/>
          </p:cNvPicPr>
          <p:nvPr/>
        </p:nvPicPr>
        <p:blipFill>
          <a:blip r:embed="rId3"/>
          <a:stretch>
            <a:fillRect/>
          </a:stretch>
        </p:blipFill>
        <p:spPr>
          <a:xfrm>
            <a:off x="502920" y="3264408"/>
            <a:ext cx="320040" cy="320040"/>
          </a:xfrm>
          <a:prstGeom prst="rect">
            <a:avLst/>
          </a:prstGeom>
        </p:spPr>
      </p:pic>
      <p:sp>
        <p:nvSpPr>
          <p:cNvPr id="25" name="Text 18"/>
          <p:cNvSpPr/>
          <p:nvPr/>
        </p:nvSpPr>
        <p:spPr>
          <a:xfrm>
            <a:off x="877824" y="3264408"/>
            <a:ext cx="1554480" cy="256032"/>
          </a:xfrm>
          <a:prstGeom prst="rect">
            <a:avLst/>
          </a:prstGeom>
          <a:noFill/>
          <a:ln/>
        </p:spPr>
        <p:txBody>
          <a:bodyPr wrap="square" lIns="0" tIns="0" rIns="0" bIns="0" rtlCol="0" anchor="ctr"/>
          <a:lstStyle/>
          <a:p>
            <a:pPr marL="0" indent="0">
              <a:buNone/>
            </a:pPr>
            <a:r>
              <a:rPr lang="en-US" sz="900" b="1" kern="0" spc="200" dirty="0">
                <a:solidFill>
                  <a:srgbClr val="E05C5C"/>
                </a:solidFill>
                <a:latin typeface="Trebuchet MS" pitchFamily="34" charset="0"/>
                <a:ea typeface="Trebuchet MS" pitchFamily="34" charset="-122"/>
                <a:cs typeface="Trebuchet MS" pitchFamily="34" charset="-120"/>
              </a:rPr>
              <a:t>RISK</a:t>
            </a:r>
            <a:endParaRPr lang="en-US" sz="900" dirty="0"/>
          </a:p>
        </p:txBody>
      </p:sp>
      <p:sp>
        <p:nvSpPr>
          <p:cNvPr id="26" name="Text 19"/>
          <p:cNvSpPr/>
          <p:nvPr/>
        </p:nvSpPr>
        <p:spPr>
          <a:xfrm>
            <a:off x="502920" y="3575304"/>
            <a:ext cx="1870862" cy="34747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Low Adoption &amp; Change Resistance</a:t>
            </a:r>
            <a:endParaRPr lang="en-US" sz="1300" dirty="0"/>
          </a:p>
        </p:txBody>
      </p:sp>
      <p:sp>
        <p:nvSpPr>
          <p:cNvPr id="27" name="Text 20"/>
          <p:cNvSpPr/>
          <p:nvPr/>
        </p:nvSpPr>
        <p:spPr>
          <a:xfrm>
            <a:off x="502920" y="3941064"/>
            <a:ext cx="1870862" cy="713232"/>
          </a:xfrm>
          <a:prstGeom prst="rect">
            <a:avLst/>
          </a:prstGeom>
          <a:noFill/>
          <a:ln/>
        </p:spPr>
        <p:txBody>
          <a:bodyPr wrap="square" lIns="0" tIns="0" rIns="0" bIns="0" rtlCol="0" anchor="ctr"/>
          <a:lstStyle/>
          <a:p>
            <a:pPr marL="0" indent="0">
              <a:buNone/>
            </a:pPr>
            <a:r>
              <a:rPr lang="en-US" sz="1050" dirty="0">
                <a:solidFill>
                  <a:srgbClr val="D0A8A8"/>
                </a:solidFill>
                <a:latin typeface="Calibri" pitchFamily="34" charset="0"/>
                <a:ea typeface="Calibri" pitchFamily="34" charset="-122"/>
                <a:cs typeface="Calibri" pitchFamily="34" charset="-120"/>
              </a:rPr>
              <a:t>Team members may resist new tools, feel overwhelmed by the learning curve, or revert to old habits.</a:t>
            </a:r>
            <a:endParaRPr lang="en-US" sz="1050" dirty="0"/>
          </a:p>
        </p:txBody>
      </p:sp>
      <p:sp>
        <p:nvSpPr>
          <p:cNvPr id="28" name="Shape 21"/>
          <p:cNvSpPr/>
          <p:nvPr/>
        </p:nvSpPr>
        <p:spPr>
          <a:xfrm>
            <a:off x="2449220" y="3172968"/>
            <a:ext cx="22860" cy="1481328"/>
          </a:xfrm>
          <a:prstGeom prst="rect">
            <a:avLst/>
          </a:prstGeom>
          <a:solidFill>
            <a:srgbClr val="2E5080"/>
          </a:solidFill>
          <a:ln w="12700">
            <a:solidFill>
              <a:srgbClr val="2E5080"/>
            </a:solidFill>
            <a:prstDash val="solid"/>
          </a:ln>
        </p:spPr>
        <p:txBody>
          <a:bodyPr/>
          <a:lstStyle/>
          <a:p>
            <a:endParaRPr lang="en-US"/>
          </a:p>
        </p:txBody>
      </p:sp>
      <p:pic>
        <p:nvPicPr>
          <p:cNvPr id="29" name="Image 5" descr="preencoded.png"/>
          <p:cNvPicPr>
            <a:picLocks noChangeAspect="1"/>
          </p:cNvPicPr>
          <p:nvPr/>
        </p:nvPicPr>
        <p:blipFill>
          <a:blip r:embed="rId4"/>
          <a:stretch>
            <a:fillRect/>
          </a:stretch>
        </p:blipFill>
        <p:spPr>
          <a:xfrm>
            <a:off x="2625700" y="3264408"/>
            <a:ext cx="320040" cy="320040"/>
          </a:xfrm>
          <a:prstGeom prst="rect">
            <a:avLst/>
          </a:prstGeom>
        </p:spPr>
      </p:pic>
      <p:sp>
        <p:nvSpPr>
          <p:cNvPr id="30" name="Text 22"/>
          <p:cNvSpPr/>
          <p:nvPr/>
        </p:nvSpPr>
        <p:spPr>
          <a:xfrm>
            <a:off x="2991460" y="3264408"/>
            <a:ext cx="1737360" cy="256032"/>
          </a:xfrm>
          <a:prstGeom prst="rect">
            <a:avLst/>
          </a:prstGeom>
          <a:noFill/>
          <a:ln/>
        </p:spPr>
        <p:txBody>
          <a:bodyPr wrap="square" lIns="0" tIns="0" rIns="0" bIns="0" rtlCol="0" anchor="ctr"/>
          <a:lstStyle/>
          <a:p>
            <a:pPr marL="0" indent="0">
              <a:buNone/>
            </a:pPr>
            <a:r>
              <a:rPr lang="en-US" sz="900" b="1" kern="0" spc="200" dirty="0">
                <a:solidFill>
                  <a:srgbClr val="00C2CB"/>
                </a:solidFill>
                <a:latin typeface="Trebuchet MS" pitchFamily="34" charset="0"/>
                <a:ea typeface="Trebuchet MS" pitchFamily="34" charset="-122"/>
                <a:cs typeface="Trebuchet MS" pitchFamily="34" charset="-120"/>
              </a:rPr>
              <a:t>MITIGATION</a:t>
            </a:r>
            <a:endParaRPr lang="en-US" sz="900" dirty="0"/>
          </a:p>
        </p:txBody>
      </p:sp>
      <p:sp>
        <p:nvSpPr>
          <p:cNvPr id="31" name="Text 23"/>
          <p:cNvSpPr/>
          <p:nvPr/>
        </p:nvSpPr>
        <p:spPr>
          <a:xfrm>
            <a:off x="2625700" y="3575304"/>
            <a:ext cx="1955902" cy="1078992"/>
          </a:xfrm>
          <a:prstGeom prst="rect">
            <a:avLst/>
          </a:prstGeom>
          <a:noFill/>
          <a:ln/>
        </p:spPr>
        <p:txBody>
          <a:bodyPr wrap="square" lIns="0" tIns="0" rIns="0" bIns="0" rtlCol="0" anchor="ctr"/>
          <a:lstStyle/>
          <a:p>
            <a:pPr marL="0" indent="0">
              <a:buNone/>
            </a:pPr>
            <a:r>
              <a:rPr lang="en-US" sz="1050" dirty="0">
                <a:solidFill>
                  <a:srgbClr val="A8D0D8"/>
                </a:solidFill>
                <a:latin typeface="Calibri" pitchFamily="34" charset="0"/>
                <a:ea typeface="Calibri" pitchFamily="34" charset="-122"/>
                <a:cs typeface="Calibri" pitchFamily="34" charset="-120"/>
              </a:rPr>
              <a:t>Appoint tool champions, run hands-on training, start small with volunteers, and visibly celebrate early wins.</a:t>
            </a:r>
            <a:endParaRPr lang="en-US" sz="1050" dirty="0"/>
          </a:p>
        </p:txBody>
      </p:sp>
      <p:sp>
        <p:nvSpPr>
          <p:cNvPr id="32" name="Shape 24"/>
          <p:cNvSpPr/>
          <p:nvPr/>
        </p:nvSpPr>
        <p:spPr>
          <a:xfrm>
            <a:off x="4800600" y="3081528"/>
            <a:ext cx="4251960" cy="1664208"/>
          </a:xfrm>
          <a:prstGeom prst="rect">
            <a:avLst/>
          </a:prstGeom>
          <a:solidFill>
            <a:srgbClr val="0F2240"/>
          </a:solidFill>
          <a:ln w="12700">
            <a:solidFill>
              <a:srgbClr val="1E3F6B"/>
            </a:solidFill>
            <a:prstDash val="solid"/>
          </a:ln>
          <a:effectLst>
            <a:outerShdw blurRad="101600" dist="38100" dir="8100000" algn="bl" rotWithShape="0">
              <a:srgbClr val="000000">
                <a:alpha val="28000"/>
              </a:srgbClr>
            </a:outerShdw>
          </a:effectLst>
        </p:spPr>
        <p:txBody>
          <a:bodyPr/>
          <a:lstStyle/>
          <a:p>
            <a:endParaRPr lang="en-US"/>
          </a:p>
        </p:txBody>
      </p:sp>
      <p:pic>
        <p:nvPicPr>
          <p:cNvPr id="33" name="Image 6" descr="preencoded.png"/>
          <p:cNvPicPr>
            <a:picLocks noChangeAspect="1"/>
          </p:cNvPicPr>
          <p:nvPr/>
        </p:nvPicPr>
        <p:blipFill>
          <a:blip r:embed="rId3"/>
          <a:stretch>
            <a:fillRect/>
          </a:stretch>
        </p:blipFill>
        <p:spPr>
          <a:xfrm>
            <a:off x="4937760" y="3264408"/>
            <a:ext cx="320040" cy="320040"/>
          </a:xfrm>
          <a:prstGeom prst="rect">
            <a:avLst/>
          </a:prstGeom>
        </p:spPr>
      </p:pic>
      <p:sp>
        <p:nvSpPr>
          <p:cNvPr id="34" name="Text 25"/>
          <p:cNvSpPr/>
          <p:nvPr/>
        </p:nvSpPr>
        <p:spPr>
          <a:xfrm>
            <a:off x="5312664" y="3264408"/>
            <a:ext cx="1554480" cy="256032"/>
          </a:xfrm>
          <a:prstGeom prst="rect">
            <a:avLst/>
          </a:prstGeom>
          <a:noFill/>
          <a:ln/>
        </p:spPr>
        <p:txBody>
          <a:bodyPr wrap="square" lIns="0" tIns="0" rIns="0" bIns="0" rtlCol="0" anchor="ctr"/>
          <a:lstStyle/>
          <a:p>
            <a:pPr marL="0" indent="0">
              <a:buNone/>
            </a:pPr>
            <a:r>
              <a:rPr lang="en-US" sz="900" b="1" kern="0" spc="200" dirty="0">
                <a:solidFill>
                  <a:srgbClr val="E05C5C"/>
                </a:solidFill>
                <a:latin typeface="Trebuchet MS" pitchFamily="34" charset="0"/>
                <a:ea typeface="Trebuchet MS" pitchFamily="34" charset="-122"/>
                <a:cs typeface="Trebuchet MS" pitchFamily="34" charset="-120"/>
              </a:rPr>
              <a:t>RISK</a:t>
            </a:r>
            <a:endParaRPr lang="en-US" sz="900" dirty="0"/>
          </a:p>
        </p:txBody>
      </p:sp>
      <p:sp>
        <p:nvSpPr>
          <p:cNvPr id="35" name="Text 26"/>
          <p:cNvSpPr/>
          <p:nvPr/>
        </p:nvSpPr>
        <p:spPr>
          <a:xfrm>
            <a:off x="4937760" y="3575304"/>
            <a:ext cx="1870862" cy="34747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Vendor Lock-in &amp; Cost Creep</a:t>
            </a:r>
            <a:endParaRPr lang="en-US" sz="1300" dirty="0"/>
          </a:p>
        </p:txBody>
      </p:sp>
      <p:sp>
        <p:nvSpPr>
          <p:cNvPr id="36" name="Text 27"/>
          <p:cNvSpPr/>
          <p:nvPr/>
        </p:nvSpPr>
        <p:spPr>
          <a:xfrm>
            <a:off x="4937760" y="3941064"/>
            <a:ext cx="1870862" cy="713232"/>
          </a:xfrm>
          <a:prstGeom prst="rect">
            <a:avLst/>
          </a:prstGeom>
          <a:noFill/>
          <a:ln/>
        </p:spPr>
        <p:txBody>
          <a:bodyPr wrap="square" lIns="0" tIns="0" rIns="0" bIns="0" rtlCol="0" anchor="ctr"/>
          <a:lstStyle/>
          <a:p>
            <a:pPr marL="0" indent="0">
              <a:buNone/>
            </a:pPr>
            <a:r>
              <a:rPr lang="en-US" sz="1050" dirty="0">
                <a:solidFill>
                  <a:srgbClr val="D0A8A8"/>
                </a:solidFill>
                <a:latin typeface="Calibri" pitchFamily="34" charset="0"/>
                <a:ea typeface="Calibri" pitchFamily="34" charset="-122"/>
                <a:cs typeface="Calibri" pitchFamily="34" charset="-120"/>
              </a:rPr>
              <a:t>Subscriptions can stack up and switching costs rise as critical workflows become dependent on a single vendor.</a:t>
            </a:r>
            <a:endParaRPr lang="en-US" sz="1050" dirty="0"/>
          </a:p>
        </p:txBody>
      </p:sp>
      <p:sp>
        <p:nvSpPr>
          <p:cNvPr id="37" name="Shape 28"/>
          <p:cNvSpPr/>
          <p:nvPr/>
        </p:nvSpPr>
        <p:spPr>
          <a:xfrm>
            <a:off x="6884060" y="3172968"/>
            <a:ext cx="22860" cy="1481328"/>
          </a:xfrm>
          <a:prstGeom prst="rect">
            <a:avLst/>
          </a:prstGeom>
          <a:solidFill>
            <a:srgbClr val="2E5080"/>
          </a:solidFill>
          <a:ln w="12700">
            <a:solidFill>
              <a:srgbClr val="2E5080"/>
            </a:solidFill>
            <a:prstDash val="solid"/>
          </a:ln>
        </p:spPr>
        <p:txBody>
          <a:bodyPr/>
          <a:lstStyle/>
          <a:p>
            <a:endParaRPr lang="en-US"/>
          </a:p>
        </p:txBody>
      </p:sp>
      <p:pic>
        <p:nvPicPr>
          <p:cNvPr id="38" name="Image 7" descr="preencoded.png"/>
          <p:cNvPicPr>
            <a:picLocks noChangeAspect="1"/>
          </p:cNvPicPr>
          <p:nvPr/>
        </p:nvPicPr>
        <p:blipFill>
          <a:blip r:embed="rId4"/>
          <a:stretch>
            <a:fillRect/>
          </a:stretch>
        </p:blipFill>
        <p:spPr>
          <a:xfrm>
            <a:off x="7060540" y="3264408"/>
            <a:ext cx="320040" cy="320040"/>
          </a:xfrm>
          <a:prstGeom prst="rect">
            <a:avLst/>
          </a:prstGeom>
        </p:spPr>
      </p:pic>
      <p:sp>
        <p:nvSpPr>
          <p:cNvPr id="39" name="Text 29"/>
          <p:cNvSpPr/>
          <p:nvPr/>
        </p:nvSpPr>
        <p:spPr>
          <a:xfrm>
            <a:off x="7426300" y="3264408"/>
            <a:ext cx="1737360" cy="256032"/>
          </a:xfrm>
          <a:prstGeom prst="rect">
            <a:avLst/>
          </a:prstGeom>
          <a:noFill/>
          <a:ln/>
        </p:spPr>
        <p:txBody>
          <a:bodyPr wrap="square" lIns="0" tIns="0" rIns="0" bIns="0" rtlCol="0" anchor="ctr"/>
          <a:lstStyle/>
          <a:p>
            <a:pPr marL="0" indent="0">
              <a:buNone/>
            </a:pPr>
            <a:r>
              <a:rPr lang="en-US" sz="900" b="1" kern="0" spc="200" dirty="0">
                <a:solidFill>
                  <a:srgbClr val="00C2CB"/>
                </a:solidFill>
                <a:latin typeface="Trebuchet MS" pitchFamily="34" charset="0"/>
                <a:ea typeface="Trebuchet MS" pitchFamily="34" charset="-122"/>
                <a:cs typeface="Trebuchet MS" pitchFamily="34" charset="-120"/>
              </a:rPr>
              <a:t>MITIGATION</a:t>
            </a:r>
            <a:endParaRPr lang="en-US" sz="900" dirty="0"/>
          </a:p>
        </p:txBody>
      </p:sp>
      <p:sp>
        <p:nvSpPr>
          <p:cNvPr id="40" name="Text 30"/>
          <p:cNvSpPr/>
          <p:nvPr/>
        </p:nvSpPr>
        <p:spPr>
          <a:xfrm>
            <a:off x="7060540" y="3575304"/>
            <a:ext cx="1955902" cy="1078992"/>
          </a:xfrm>
          <a:prstGeom prst="rect">
            <a:avLst/>
          </a:prstGeom>
          <a:noFill/>
          <a:ln/>
        </p:spPr>
        <p:txBody>
          <a:bodyPr wrap="square" lIns="0" tIns="0" rIns="0" bIns="0" rtlCol="0" anchor="ctr"/>
          <a:lstStyle/>
          <a:p>
            <a:pPr marL="0" indent="0">
              <a:buNone/>
            </a:pPr>
            <a:r>
              <a:rPr lang="en-US" sz="1050" dirty="0">
                <a:solidFill>
                  <a:srgbClr val="A8D0D8"/>
                </a:solidFill>
                <a:latin typeface="Calibri" pitchFamily="34" charset="0"/>
                <a:ea typeface="Calibri" pitchFamily="34" charset="-122"/>
                <a:cs typeface="Calibri" pitchFamily="34" charset="-120"/>
              </a:rPr>
              <a:t>Review ROI quarterly. Ensure data portability, document workflows independently, and avoid single-vendor dependency.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457200" y="256032"/>
            <a:ext cx="64008" cy="640080"/>
          </a:xfrm>
          <a:prstGeom prst="rect">
            <a:avLst/>
          </a:prstGeom>
          <a:solidFill>
            <a:srgbClr val="0097A7"/>
          </a:solidFill>
          <a:ln w="12700">
            <a:solidFill>
              <a:srgbClr val="0097A7"/>
            </a:solidFill>
            <a:prstDash val="solid"/>
          </a:ln>
        </p:spPr>
        <p:txBody>
          <a:bodyPr/>
          <a:lstStyle/>
          <a:p>
            <a:endParaRPr lang="en-US"/>
          </a:p>
        </p:txBody>
      </p:sp>
      <p:sp>
        <p:nvSpPr>
          <p:cNvPr id="3" name="Text 1"/>
          <p:cNvSpPr/>
          <p:nvPr/>
        </p:nvSpPr>
        <p:spPr>
          <a:xfrm>
            <a:off x="603504" y="164592"/>
            <a:ext cx="8138160" cy="749808"/>
          </a:xfrm>
          <a:prstGeom prst="rect">
            <a:avLst/>
          </a:prstGeom>
          <a:noFill/>
          <a:ln/>
        </p:spPr>
        <p:txBody>
          <a:bodyPr wrap="square" lIns="0" tIns="0" rIns="0" bIns="0" rtlCol="0" anchor="ctr"/>
          <a:lstStyle/>
          <a:p>
            <a:pPr marL="0" indent="0">
              <a:buNone/>
            </a:pPr>
            <a:r>
              <a:rPr lang="en-US" sz="3000" b="1" dirty="0">
                <a:solidFill>
                  <a:srgbClr val="1A2E4A"/>
                </a:solidFill>
                <a:latin typeface="Trebuchet MS" pitchFamily="34" charset="0"/>
                <a:ea typeface="Trebuchet MS" pitchFamily="34" charset="-122"/>
                <a:cs typeface="Trebuchet MS" pitchFamily="34" charset="-120"/>
              </a:rPr>
              <a:t>Success Metrics</a:t>
            </a:r>
            <a:endParaRPr lang="en-US" sz="3000" dirty="0"/>
          </a:p>
        </p:txBody>
      </p:sp>
      <p:sp>
        <p:nvSpPr>
          <p:cNvPr id="4" name="Text 2"/>
          <p:cNvSpPr/>
          <p:nvPr/>
        </p:nvSpPr>
        <p:spPr>
          <a:xfrm>
            <a:off x="603504" y="749808"/>
            <a:ext cx="8138160" cy="292608"/>
          </a:xfrm>
          <a:prstGeom prst="rect">
            <a:avLst/>
          </a:prstGeom>
          <a:noFill/>
          <a:ln/>
        </p:spPr>
        <p:txBody>
          <a:bodyPr wrap="square" lIns="0" tIns="0" rIns="0" bIns="0" rtlCol="0" anchor="ctr"/>
          <a:lstStyle/>
          <a:p>
            <a:pPr marL="0" indent="0">
              <a:buNone/>
            </a:pPr>
            <a:r>
              <a:rPr lang="en-US" sz="1300" i="1" dirty="0">
                <a:solidFill>
                  <a:srgbClr val="0097A7"/>
                </a:solidFill>
                <a:latin typeface="Calibri" pitchFamily="34" charset="0"/>
                <a:ea typeface="Calibri" pitchFamily="34" charset="-122"/>
                <a:cs typeface="Calibri" pitchFamily="34" charset="-120"/>
              </a:rPr>
              <a:t>How we'll know the AI tool rollout is working — reviewed quarterly</a:t>
            </a:r>
            <a:endParaRPr lang="en-US" sz="1300" dirty="0"/>
          </a:p>
        </p:txBody>
      </p:sp>
      <p:sp>
        <p:nvSpPr>
          <p:cNvPr id="5" name="Shape 3"/>
          <p:cNvSpPr/>
          <p:nvPr/>
        </p:nvSpPr>
        <p:spPr>
          <a:xfrm>
            <a:off x="365760" y="1143000"/>
            <a:ext cx="2633472" cy="1389888"/>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6" name="Shape 4"/>
          <p:cNvSpPr/>
          <p:nvPr/>
        </p:nvSpPr>
        <p:spPr>
          <a:xfrm>
            <a:off x="365760" y="1143000"/>
            <a:ext cx="2633472" cy="45720"/>
          </a:xfrm>
          <a:prstGeom prst="rect">
            <a:avLst/>
          </a:prstGeom>
          <a:solidFill>
            <a:srgbClr val="0097A7"/>
          </a:solidFill>
          <a:ln w="12700">
            <a:solidFill>
              <a:srgbClr val="0097A7"/>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12064" y="1371600"/>
            <a:ext cx="384048" cy="384048"/>
          </a:xfrm>
          <a:prstGeom prst="rect">
            <a:avLst/>
          </a:prstGeom>
        </p:spPr>
      </p:pic>
      <p:sp>
        <p:nvSpPr>
          <p:cNvPr id="8" name="Text 5"/>
          <p:cNvSpPr/>
          <p:nvPr/>
        </p:nvSpPr>
        <p:spPr>
          <a:xfrm>
            <a:off x="987552" y="1197864"/>
            <a:ext cx="1920240" cy="594360"/>
          </a:xfrm>
          <a:prstGeom prst="rect">
            <a:avLst/>
          </a:prstGeom>
          <a:noFill/>
          <a:ln/>
        </p:spPr>
        <p:txBody>
          <a:bodyPr wrap="square" lIns="0" tIns="0" rIns="0" bIns="0" rtlCol="0" anchor="ctr"/>
          <a:lstStyle/>
          <a:p>
            <a:pPr marL="0" indent="0">
              <a:buNone/>
            </a:pPr>
            <a:r>
              <a:rPr lang="en-US" sz="3000" b="1" dirty="0">
                <a:solidFill>
                  <a:srgbClr val="0097A7"/>
                </a:solidFill>
                <a:latin typeface="Trebuchet MS" pitchFamily="34" charset="0"/>
                <a:ea typeface="Trebuchet MS" pitchFamily="34" charset="-122"/>
                <a:cs typeface="Trebuchet MS" pitchFamily="34" charset="-120"/>
              </a:rPr>
              <a:t>≥ 20%</a:t>
            </a:r>
            <a:endParaRPr lang="en-US" sz="3000" dirty="0"/>
          </a:p>
        </p:txBody>
      </p:sp>
      <p:sp>
        <p:nvSpPr>
          <p:cNvPr id="9" name="Text 6"/>
          <p:cNvSpPr/>
          <p:nvPr/>
        </p:nvSpPr>
        <p:spPr>
          <a:xfrm>
            <a:off x="493776" y="1783080"/>
            <a:ext cx="2377440" cy="274320"/>
          </a:xfrm>
          <a:prstGeom prst="rect">
            <a:avLst/>
          </a:prstGeom>
          <a:noFill/>
          <a:ln/>
        </p:spPr>
        <p:txBody>
          <a:bodyPr wrap="square" lIns="0" tIns="0" rIns="0" bIns="0" rtlCol="0" anchor="ctr"/>
          <a:lstStyle/>
          <a:p>
            <a:pPr marL="0" indent="0">
              <a:buNone/>
            </a:pPr>
            <a:r>
              <a:rPr lang="en-US" sz="1250" b="1" dirty="0">
                <a:solidFill>
                  <a:srgbClr val="1A2E4A"/>
                </a:solidFill>
                <a:latin typeface="Trebuchet MS" pitchFamily="34" charset="0"/>
                <a:ea typeface="Trebuchet MS" pitchFamily="34" charset="-122"/>
                <a:cs typeface="Trebuchet MS" pitchFamily="34" charset="-120"/>
              </a:rPr>
              <a:t>Time Saved</a:t>
            </a:r>
            <a:endParaRPr lang="en-US" sz="1250" dirty="0"/>
          </a:p>
        </p:txBody>
      </p:sp>
      <p:sp>
        <p:nvSpPr>
          <p:cNvPr id="10" name="Text 7"/>
          <p:cNvSpPr/>
          <p:nvPr/>
        </p:nvSpPr>
        <p:spPr>
          <a:xfrm>
            <a:off x="493776" y="2057400"/>
            <a:ext cx="2377440" cy="402336"/>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Reduction in time spent on video production, meeting notes &amp; content creation per month</a:t>
            </a:r>
            <a:endParaRPr lang="en-US" sz="1000" dirty="0"/>
          </a:p>
        </p:txBody>
      </p:sp>
      <p:sp>
        <p:nvSpPr>
          <p:cNvPr id="11" name="Shape 8"/>
          <p:cNvSpPr/>
          <p:nvPr/>
        </p:nvSpPr>
        <p:spPr>
          <a:xfrm>
            <a:off x="3255264" y="1143000"/>
            <a:ext cx="2633472" cy="1389888"/>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12" name="Shape 9"/>
          <p:cNvSpPr/>
          <p:nvPr/>
        </p:nvSpPr>
        <p:spPr>
          <a:xfrm>
            <a:off x="3255264" y="1143000"/>
            <a:ext cx="2633472" cy="45720"/>
          </a:xfrm>
          <a:prstGeom prst="rect">
            <a:avLst/>
          </a:prstGeom>
          <a:solidFill>
            <a:srgbClr val="0097A7"/>
          </a:solidFill>
          <a:ln w="12700">
            <a:solidFill>
              <a:srgbClr val="0097A7"/>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401568" y="1371600"/>
            <a:ext cx="384048" cy="384048"/>
          </a:xfrm>
          <a:prstGeom prst="rect">
            <a:avLst/>
          </a:prstGeom>
        </p:spPr>
      </p:pic>
      <p:sp>
        <p:nvSpPr>
          <p:cNvPr id="14" name="Text 10"/>
          <p:cNvSpPr/>
          <p:nvPr/>
        </p:nvSpPr>
        <p:spPr>
          <a:xfrm>
            <a:off x="3877056" y="1197864"/>
            <a:ext cx="1920240" cy="594360"/>
          </a:xfrm>
          <a:prstGeom prst="rect">
            <a:avLst/>
          </a:prstGeom>
          <a:noFill/>
          <a:ln/>
        </p:spPr>
        <p:txBody>
          <a:bodyPr wrap="square" lIns="0" tIns="0" rIns="0" bIns="0" rtlCol="0" anchor="ctr"/>
          <a:lstStyle/>
          <a:p>
            <a:pPr marL="0" indent="0">
              <a:buNone/>
            </a:pPr>
            <a:r>
              <a:rPr lang="en-US" sz="3000" b="1" dirty="0">
                <a:solidFill>
                  <a:srgbClr val="0097A7"/>
                </a:solidFill>
                <a:latin typeface="Trebuchet MS" pitchFamily="34" charset="0"/>
                <a:ea typeface="Trebuchet MS" pitchFamily="34" charset="-122"/>
                <a:cs typeface="Trebuchet MS" pitchFamily="34" charset="-120"/>
              </a:rPr>
              <a:t>80%+</a:t>
            </a:r>
            <a:endParaRPr lang="en-US" sz="3000" dirty="0"/>
          </a:p>
        </p:txBody>
      </p:sp>
      <p:sp>
        <p:nvSpPr>
          <p:cNvPr id="15" name="Text 11"/>
          <p:cNvSpPr/>
          <p:nvPr/>
        </p:nvSpPr>
        <p:spPr>
          <a:xfrm>
            <a:off x="3383280" y="1783080"/>
            <a:ext cx="2377440" cy="274320"/>
          </a:xfrm>
          <a:prstGeom prst="rect">
            <a:avLst/>
          </a:prstGeom>
          <a:noFill/>
          <a:ln/>
        </p:spPr>
        <p:txBody>
          <a:bodyPr wrap="square" lIns="0" tIns="0" rIns="0" bIns="0" rtlCol="0" anchor="ctr"/>
          <a:lstStyle/>
          <a:p>
            <a:pPr marL="0" indent="0">
              <a:buNone/>
            </a:pPr>
            <a:r>
              <a:rPr lang="en-US" sz="1250" b="1" dirty="0">
                <a:solidFill>
                  <a:srgbClr val="1A2E4A"/>
                </a:solidFill>
                <a:latin typeface="Trebuchet MS" pitchFamily="34" charset="0"/>
                <a:ea typeface="Trebuchet MS" pitchFamily="34" charset="-122"/>
                <a:cs typeface="Trebuchet MS" pitchFamily="34" charset="-120"/>
              </a:rPr>
              <a:t>Team Adoption Rate</a:t>
            </a:r>
            <a:endParaRPr lang="en-US" sz="1250" dirty="0"/>
          </a:p>
        </p:txBody>
      </p:sp>
      <p:sp>
        <p:nvSpPr>
          <p:cNvPr id="16" name="Text 12"/>
          <p:cNvSpPr/>
          <p:nvPr/>
        </p:nvSpPr>
        <p:spPr>
          <a:xfrm>
            <a:off x="3383280" y="2057400"/>
            <a:ext cx="2377440" cy="402336"/>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Team members actively using at least 2 of the 3 new tools by end of Month 6</a:t>
            </a:r>
            <a:endParaRPr lang="en-US" sz="1000" dirty="0"/>
          </a:p>
        </p:txBody>
      </p:sp>
      <p:sp>
        <p:nvSpPr>
          <p:cNvPr id="17" name="Shape 13"/>
          <p:cNvSpPr/>
          <p:nvPr/>
        </p:nvSpPr>
        <p:spPr>
          <a:xfrm>
            <a:off x="6144768" y="1143000"/>
            <a:ext cx="2633472" cy="1389888"/>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18" name="Shape 14"/>
          <p:cNvSpPr/>
          <p:nvPr/>
        </p:nvSpPr>
        <p:spPr>
          <a:xfrm>
            <a:off x="6144768" y="1143000"/>
            <a:ext cx="2633472" cy="45720"/>
          </a:xfrm>
          <a:prstGeom prst="rect">
            <a:avLst/>
          </a:prstGeom>
          <a:solidFill>
            <a:srgbClr val="0097A7"/>
          </a:solidFill>
          <a:ln w="12700">
            <a:solidFill>
              <a:srgbClr val="0097A7"/>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291072" y="1371600"/>
            <a:ext cx="384048" cy="384048"/>
          </a:xfrm>
          <a:prstGeom prst="rect">
            <a:avLst/>
          </a:prstGeom>
        </p:spPr>
      </p:pic>
      <p:sp>
        <p:nvSpPr>
          <p:cNvPr id="20" name="Text 15"/>
          <p:cNvSpPr/>
          <p:nvPr/>
        </p:nvSpPr>
        <p:spPr>
          <a:xfrm>
            <a:off x="6766560" y="1197864"/>
            <a:ext cx="1920240" cy="594360"/>
          </a:xfrm>
          <a:prstGeom prst="rect">
            <a:avLst/>
          </a:prstGeom>
          <a:noFill/>
          <a:ln/>
        </p:spPr>
        <p:txBody>
          <a:bodyPr wrap="square" lIns="0" tIns="0" rIns="0" bIns="0" rtlCol="0" anchor="ctr"/>
          <a:lstStyle/>
          <a:p>
            <a:pPr marL="0" indent="0">
              <a:buNone/>
            </a:pPr>
            <a:r>
              <a:rPr lang="en-US" sz="3000" b="1" dirty="0">
                <a:solidFill>
                  <a:srgbClr val="0097A7"/>
                </a:solidFill>
                <a:latin typeface="Trebuchet MS" pitchFamily="34" charset="0"/>
                <a:ea typeface="Trebuchet MS" pitchFamily="34" charset="-122"/>
                <a:cs typeface="Trebuchet MS" pitchFamily="34" charset="-120"/>
              </a:rPr>
              <a:t>2×</a:t>
            </a:r>
            <a:endParaRPr lang="en-US" sz="3000" dirty="0"/>
          </a:p>
        </p:txBody>
      </p:sp>
      <p:sp>
        <p:nvSpPr>
          <p:cNvPr id="21" name="Text 16"/>
          <p:cNvSpPr/>
          <p:nvPr/>
        </p:nvSpPr>
        <p:spPr>
          <a:xfrm>
            <a:off x="6272784" y="1783080"/>
            <a:ext cx="2377440" cy="274320"/>
          </a:xfrm>
          <a:prstGeom prst="rect">
            <a:avLst/>
          </a:prstGeom>
          <a:noFill/>
          <a:ln/>
        </p:spPr>
        <p:txBody>
          <a:bodyPr wrap="square" lIns="0" tIns="0" rIns="0" bIns="0" rtlCol="0" anchor="ctr"/>
          <a:lstStyle/>
          <a:p>
            <a:pPr marL="0" indent="0">
              <a:buNone/>
            </a:pPr>
            <a:r>
              <a:rPr lang="en-US" sz="1250" b="1" dirty="0">
                <a:solidFill>
                  <a:srgbClr val="1A2E4A"/>
                </a:solidFill>
                <a:latin typeface="Trebuchet MS" pitchFamily="34" charset="0"/>
                <a:ea typeface="Trebuchet MS" pitchFamily="34" charset="-122"/>
                <a:cs typeface="Trebuchet MS" pitchFamily="34" charset="-120"/>
              </a:rPr>
              <a:t>Content Output</a:t>
            </a:r>
            <a:endParaRPr lang="en-US" sz="1250" dirty="0"/>
          </a:p>
        </p:txBody>
      </p:sp>
      <p:sp>
        <p:nvSpPr>
          <p:cNvPr id="22" name="Text 17"/>
          <p:cNvSpPr/>
          <p:nvPr/>
        </p:nvSpPr>
        <p:spPr>
          <a:xfrm>
            <a:off x="6272784" y="2057400"/>
            <a:ext cx="2377440" cy="402336"/>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Doubling of assets, videos, or materials produced vs. pre-adoption baseline output</a:t>
            </a:r>
            <a:endParaRPr lang="en-US" sz="1000" dirty="0"/>
          </a:p>
        </p:txBody>
      </p:sp>
      <p:sp>
        <p:nvSpPr>
          <p:cNvPr id="23" name="Shape 18"/>
          <p:cNvSpPr/>
          <p:nvPr/>
        </p:nvSpPr>
        <p:spPr>
          <a:xfrm>
            <a:off x="365760" y="2697480"/>
            <a:ext cx="2633472" cy="1389888"/>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24" name="Shape 19"/>
          <p:cNvSpPr/>
          <p:nvPr/>
        </p:nvSpPr>
        <p:spPr>
          <a:xfrm>
            <a:off x="365760" y="2697480"/>
            <a:ext cx="2633472" cy="45720"/>
          </a:xfrm>
          <a:prstGeom prst="rect">
            <a:avLst/>
          </a:prstGeom>
          <a:solidFill>
            <a:srgbClr val="F5A623"/>
          </a:solidFill>
          <a:ln w="12700">
            <a:solidFill>
              <a:srgbClr val="F5A623"/>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512064" y="2926080"/>
            <a:ext cx="384048" cy="384048"/>
          </a:xfrm>
          <a:prstGeom prst="rect">
            <a:avLst/>
          </a:prstGeom>
        </p:spPr>
      </p:pic>
      <p:sp>
        <p:nvSpPr>
          <p:cNvPr id="26" name="Text 20"/>
          <p:cNvSpPr/>
          <p:nvPr/>
        </p:nvSpPr>
        <p:spPr>
          <a:xfrm>
            <a:off x="987552" y="2752344"/>
            <a:ext cx="1920240" cy="594360"/>
          </a:xfrm>
          <a:prstGeom prst="rect">
            <a:avLst/>
          </a:prstGeom>
          <a:noFill/>
          <a:ln/>
        </p:spPr>
        <p:txBody>
          <a:bodyPr wrap="square" lIns="0" tIns="0" rIns="0" bIns="0" rtlCol="0" anchor="ctr"/>
          <a:lstStyle/>
          <a:p>
            <a:pPr marL="0" indent="0">
              <a:buNone/>
            </a:pPr>
            <a:r>
              <a:rPr lang="en-US" sz="3000" b="1" dirty="0">
                <a:solidFill>
                  <a:srgbClr val="F5A623"/>
                </a:solidFill>
                <a:latin typeface="Trebuchet MS" pitchFamily="34" charset="0"/>
                <a:ea typeface="Trebuchet MS" pitchFamily="34" charset="-122"/>
                <a:cs typeface="Trebuchet MS" pitchFamily="34" charset="-120"/>
              </a:rPr>
              <a:t>4.5/5</a:t>
            </a:r>
            <a:endParaRPr lang="en-US" sz="3000" dirty="0"/>
          </a:p>
        </p:txBody>
      </p:sp>
      <p:sp>
        <p:nvSpPr>
          <p:cNvPr id="27" name="Text 21"/>
          <p:cNvSpPr/>
          <p:nvPr/>
        </p:nvSpPr>
        <p:spPr>
          <a:xfrm>
            <a:off x="493776" y="3337560"/>
            <a:ext cx="2377440" cy="274320"/>
          </a:xfrm>
          <a:prstGeom prst="rect">
            <a:avLst/>
          </a:prstGeom>
          <a:noFill/>
          <a:ln/>
        </p:spPr>
        <p:txBody>
          <a:bodyPr wrap="square" lIns="0" tIns="0" rIns="0" bIns="0" rtlCol="0" anchor="ctr"/>
          <a:lstStyle/>
          <a:p>
            <a:pPr marL="0" indent="0">
              <a:buNone/>
            </a:pPr>
            <a:r>
              <a:rPr lang="en-US" sz="1250" b="1" dirty="0">
                <a:solidFill>
                  <a:srgbClr val="1A2E4A"/>
                </a:solidFill>
                <a:latin typeface="Trebuchet MS" pitchFamily="34" charset="0"/>
                <a:ea typeface="Trebuchet MS" pitchFamily="34" charset="-122"/>
                <a:cs typeface="Trebuchet MS" pitchFamily="34" charset="-120"/>
              </a:rPr>
              <a:t>Learner Satisfaction</a:t>
            </a:r>
            <a:endParaRPr lang="en-US" sz="1250" dirty="0"/>
          </a:p>
        </p:txBody>
      </p:sp>
      <p:sp>
        <p:nvSpPr>
          <p:cNvPr id="28" name="Text 22"/>
          <p:cNvSpPr/>
          <p:nvPr/>
        </p:nvSpPr>
        <p:spPr>
          <a:xfrm>
            <a:off x="493776" y="3611880"/>
            <a:ext cx="2377440" cy="402336"/>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Average learner rating on AI-assisted courses and AI-generated video content</a:t>
            </a:r>
            <a:endParaRPr lang="en-US" sz="1000" dirty="0"/>
          </a:p>
        </p:txBody>
      </p:sp>
      <p:sp>
        <p:nvSpPr>
          <p:cNvPr id="29" name="Shape 23"/>
          <p:cNvSpPr/>
          <p:nvPr/>
        </p:nvSpPr>
        <p:spPr>
          <a:xfrm>
            <a:off x="3255264" y="2697480"/>
            <a:ext cx="2633472" cy="1389888"/>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30" name="Shape 24"/>
          <p:cNvSpPr/>
          <p:nvPr/>
        </p:nvSpPr>
        <p:spPr>
          <a:xfrm>
            <a:off x="3255264" y="2697480"/>
            <a:ext cx="2633472" cy="45720"/>
          </a:xfrm>
          <a:prstGeom prst="rect">
            <a:avLst/>
          </a:prstGeom>
          <a:solidFill>
            <a:srgbClr val="F5A623"/>
          </a:solidFill>
          <a:ln w="12700">
            <a:solidFill>
              <a:srgbClr val="F5A623"/>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3401568" y="2926080"/>
            <a:ext cx="384048" cy="384048"/>
          </a:xfrm>
          <a:prstGeom prst="rect">
            <a:avLst/>
          </a:prstGeom>
        </p:spPr>
      </p:pic>
      <p:sp>
        <p:nvSpPr>
          <p:cNvPr id="32" name="Text 25"/>
          <p:cNvSpPr/>
          <p:nvPr/>
        </p:nvSpPr>
        <p:spPr>
          <a:xfrm>
            <a:off x="3877056" y="2752344"/>
            <a:ext cx="1920240" cy="594360"/>
          </a:xfrm>
          <a:prstGeom prst="rect">
            <a:avLst/>
          </a:prstGeom>
          <a:noFill/>
          <a:ln/>
        </p:spPr>
        <p:txBody>
          <a:bodyPr wrap="square" lIns="0" tIns="0" rIns="0" bIns="0" rtlCol="0" anchor="ctr"/>
          <a:lstStyle/>
          <a:p>
            <a:pPr marL="0" indent="0">
              <a:buNone/>
            </a:pPr>
            <a:r>
              <a:rPr lang="en-US" sz="3000" b="1" dirty="0">
                <a:solidFill>
                  <a:srgbClr val="F5A623"/>
                </a:solidFill>
                <a:latin typeface="Trebuchet MS" pitchFamily="34" charset="0"/>
                <a:ea typeface="Trebuchet MS" pitchFamily="34" charset="-122"/>
                <a:cs typeface="Trebuchet MS" pitchFamily="34" charset="-120"/>
              </a:rPr>
              <a:t>30%+</a:t>
            </a:r>
            <a:endParaRPr lang="en-US" sz="3000" dirty="0"/>
          </a:p>
        </p:txBody>
      </p:sp>
      <p:sp>
        <p:nvSpPr>
          <p:cNvPr id="33" name="Text 26"/>
          <p:cNvSpPr/>
          <p:nvPr/>
        </p:nvSpPr>
        <p:spPr>
          <a:xfrm>
            <a:off x="3383280" y="3337560"/>
            <a:ext cx="2377440" cy="274320"/>
          </a:xfrm>
          <a:prstGeom prst="rect">
            <a:avLst/>
          </a:prstGeom>
          <a:noFill/>
          <a:ln/>
        </p:spPr>
        <p:txBody>
          <a:bodyPr wrap="square" lIns="0" tIns="0" rIns="0" bIns="0" rtlCol="0" anchor="ctr"/>
          <a:lstStyle/>
          <a:p>
            <a:pPr marL="0" indent="0">
              <a:buNone/>
            </a:pPr>
            <a:r>
              <a:rPr lang="en-US" sz="1250" b="1" dirty="0">
                <a:solidFill>
                  <a:srgbClr val="1A2E4A"/>
                </a:solidFill>
                <a:latin typeface="Trebuchet MS" pitchFamily="34" charset="0"/>
                <a:ea typeface="Trebuchet MS" pitchFamily="34" charset="-122"/>
                <a:cs typeface="Trebuchet MS" pitchFamily="34" charset="-120"/>
              </a:rPr>
              <a:t>Vendor Cost Savings</a:t>
            </a:r>
            <a:endParaRPr lang="en-US" sz="1250" dirty="0"/>
          </a:p>
        </p:txBody>
      </p:sp>
      <p:sp>
        <p:nvSpPr>
          <p:cNvPr id="34" name="Text 27"/>
          <p:cNvSpPr/>
          <p:nvPr/>
        </p:nvSpPr>
        <p:spPr>
          <a:xfrm>
            <a:off x="3383280" y="3611880"/>
            <a:ext cx="2377440" cy="402336"/>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Reduction in external vendor video spend as Synthesia &amp; Descript capabilities mature</a:t>
            </a:r>
            <a:endParaRPr lang="en-US" sz="1000" dirty="0"/>
          </a:p>
        </p:txBody>
      </p:sp>
      <p:sp>
        <p:nvSpPr>
          <p:cNvPr id="35" name="Shape 28"/>
          <p:cNvSpPr/>
          <p:nvPr/>
        </p:nvSpPr>
        <p:spPr>
          <a:xfrm>
            <a:off x="6144768" y="2697480"/>
            <a:ext cx="2633472" cy="1389888"/>
          </a:xfrm>
          <a:prstGeom prst="rect">
            <a:avLst/>
          </a:prstGeom>
          <a:solidFill>
            <a:srgbClr val="FFFFFF"/>
          </a:solidFill>
          <a:ln w="12700">
            <a:solidFill>
              <a:srgbClr val="D0DCF0"/>
            </a:solidFill>
            <a:prstDash val="solid"/>
          </a:ln>
          <a:effectLst>
            <a:outerShdw blurRad="101600" dist="38100" dir="8100000" algn="bl" rotWithShape="0">
              <a:srgbClr val="000000">
                <a:alpha val="28000"/>
              </a:srgbClr>
            </a:outerShdw>
          </a:effectLst>
        </p:spPr>
        <p:txBody>
          <a:bodyPr/>
          <a:lstStyle/>
          <a:p>
            <a:endParaRPr lang="en-US"/>
          </a:p>
        </p:txBody>
      </p:sp>
      <p:sp>
        <p:nvSpPr>
          <p:cNvPr id="36" name="Shape 29"/>
          <p:cNvSpPr/>
          <p:nvPr/>
        </p:nvSpPr>
        <p:spPr>
          <a:xfrm>
            <a:off x="6144768" y="2697480"/>
            <a:ext cx="2633472" cy="45720"/>
          </a:xfrm>
          <a:prstGeom prst="rect">
            <a:avLst/>
          </a:prstGeom>
          <a:solidFill>
            <a:srgbClr val="E05C5C"/>
          </a:solidFill>
          <a:ln w="12700">
            <a:solidFill>
              <a:srgbClr val="E05C5C"/>
            </a:solidFill>
            <a:prstDash val="solid"/>
          </a:ln>
        </p:spPr>
        <p:txBody>
          <a:bodyPr/>
          <a:lstStyle/>
          <a:p>
            <a:endParaRPr lang="en-US"/>
          </a:p>
        </p:txBody>
      </p:sp>
      <p:pic>
        <p:nvPicPr>
          <p:cNvPr id="37" name="Image 5" descr="preencoded.png"/>
          <p:cNvPicPr>
            <a:picLocks noChangeAspect="1"/>
          </p:cNvPicPr>
          <p:nvPr/>
        </p:nvPicPr>
        <p:blipFill>
          <a:blip r:embed="rId8"/>
          <a:stretch>
            <a:fillRect/>
          </a:stretch>
        </p:blipFill>
        <p:spPr>
          <a:xfrm>
            <a:off x="6291072" y="2926080"/>
            <a:ext cx="384048" cy="384048"/>
          </a:xfrm>
          <a:prstGeom prst="rect">
            <a:avLst/>
          </a:prstGeom>
        </p:spPr>
      </p:pic>
      <p:sp>
        <p:nvSpPr>
          <p:cNvPr id="38" name="Text 30"/>
          <p:cNvSpPr/>
          <p:nvPr/>
        </p:nvSpPr>
        <p:spPr>
          <a:xfrm>
            <a:off x="6766560" y="2752344"/>
            <a:ext cx="1920240" cy="594360"/>
          </a:xfrm>
          <a:prstGeom prst="rect">
            <a:avLst/>
          </a:prstGeom>
          <a:noFill/>
          <a:ln/>
        </p:spPr>
        <p:txBody>
          <a:bodyPr wrap="square" lIns="0" tIns="0" rIns="0" bIns="0" rtlCol="0" anchor="ctr"/>
          <a:lstStyle/>
          <a:p>
            <a:pPr marL="0" indent="0">
              <a:buNone/>
            </a:pPr>
            <a:r>
              <a:rPr lang="en-US" sz="3000" b="1" dirty="0">
                <a:solidFill>
                  <a:srgbClr val="E05C5C"/>
                </a:solidFill>
                <a:latin typeface="Trebuchet MS" pitchFamily="34" charset="0"/>
                <a:ea typeface="Trebuchet MS" pitchFamily="34" charset="-122"/>
                <a:cs typeface="Trebuchet MS" pitchFamily="34" charset="-120"/>
              </a:rPr>
              <a:t>0</a:t>
            </a:r>
            <a:endParaRPr lang="en-US" sz="3000" dirty="0"/>
          </a:p>
        </p:txBody>
      </p:sp>
      <p:sp>
        <p:nvSpPr>
          <p:cNvPr id="39" name="Text 31"/>
          <p:cNvSpPr/>
          <p:nvPr/>
        </p:nvSpPr>
        <p:spPr>
          <a:xfrm>
            <a:off x="6272784" y="3337560"/>
            <a:ext cx="2377440" cy="274320"/>
          </a:xfrm>
          <a:prstGeom prst="rect">
            <a:avLst/>
          </a:prstGeom>
          <a:noFill/>
          <a:ln/>
        </p:spPr>
        <p:txBody>
          <a:bodyPr wrap="square" lIns="0" tIns="0" rIns="0" bIns="0" rtlCol="0" anchor="ctr"/>
          <a:lstStyle/>
          <a:p>
            <a:pPr marL="0" indent="0">
              <a:buNone/>
            </a:pPr>
            <a:r>
              <a:rPr lang="en-US" sz="1250" b="1" dirty="0">
                <a:solidFill>
                  <a:srgbClr val="1A2E4A"/>
                </a:solidFill>
                <a:latin typeface="Trebuchet MS" pitchFamily="34" charset="0"/>
                <a:ea typeface="Trebuchet MS" pitchFamily="34" charset="-122"/>
                <a:cs typeface="Trebuchet MS" pitchFamily="34" charset="-120"/>
              </a:rPr>
              <a:t>Zero Data Incidents</a:t>
            </a:r>
            <a:endParaRPr lang="en-US" sz="1250" dirty="0"/>
          </a:p>
        </p:txBody>
      </p:sp>
      <p:sp>
        <p:nvSpPr>
          <p:cNvPr id="40" name="Text 32"/>
          <p:cNvSpPr/>
          <p:nvPr/>
        </p:nvSpPr>
        <p:spPr>
          <a:xfrm>
            <a:off x="6272784" y="3611880"/>
            <a:ext cx="2377440" cy="402336"/>
          </a:xfrm>
          <a:prstGeom prst="rect">
            <a:avLst/>
          </a:prstGeom>
          <a:noFill/>
          <a:ln/>
        </p:spPr>
        <p:txBody>
          <a:bodyPr wrap="square" lIns="0" tIns="0" rIns="0" bIns="0" rtlCol="0" anchor="ctr"/>
          <a:lstStyle/>
          <a:p>
            <a:pPr marL="0" indent="0">
              <a:buNone/>
            </a:pPr>
            <a:r>
              <a:rPr lang="en-US" sz="1000" dirty="0">
                <a:solidFill>
                  <a:srgbClr val="4A6080"/>
                </a:solidFill>
                <a:latin typeface="Calibri" pitchFamily="34" charset="0"/>
                <a:ea typeface="Calibri" pitchFamily="34" charset="-122"/>
                <a:cs typeface="Calibri" pitchFamily="34" charset="-120"/>
              </a:rPr>
              <a:t>No data breaches, privacy violations, or compliance issues during the full rollout period</a:t>
            </a:r>
            <a:endParaRPr lang="en-US" sz="1000" dirty="0"/>
          </a:p>
        </p:txBody>
      </p:sp>
      <p:sp>
        <p:nvSpPr>
          <p:cNvPr id="41" name="Shape 33"/>
          <p:cNvSpPr/>
          <p:nvPr/>
        </p:nvSpPr>
        <p:spPr>
          <a:xfrm>
            <a:off x="0" y="4498848"/>
            <a:ext cx="9144000" cy="640080"/>
          </a:xfrm>
          <a:prstGeom prst="rect">
            <a:avLst/>
          </a:prstGeom>
          <a:solidFill>
            <a:srgbClr val="1A2E4A"/>
          </a:solidFill>
          <a:ln w="12700">
            <a:solidFill>
              <a:srgbClr val="1A2E4A"/>
            </a:solidFill>
            <a:prstDash val="solid"/>
          </a:ln>
        </p:spPr>
        <p:txBody>
          <a:bodyPr/>
          <a:lstStyle/>
          <a:p>
            <a:endParaRPr lang="en-US"/>
          </a:p>
        </p:txBody>
      </p:sp>
      <p:sp>
        <p:nvSpPr>
          <p:cNvPr id="42" name="Text 34"/>
          <p:cNvSpPr/>
          <p:nvPr/>
        </p:nvSpPr>
        <p:spPr>
          <a:xfrm>
            <a:off x="365760" y="4535424"/>
            <a:ext cx="8412480" cy="50292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Review metrics quarterly with leadership. Adjust the tool strategy based on data — not assumptions.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75B9CB64CD7C47B41F746646547B33" ma:contentTypeVersion="12" ma:contentTypeDescription="Create a new document." ma:contentTypeScope="" ma:versionID="51354516d3b672ae0d8b9a3f2710c302">
  <xsd:schema xmlns:xsd="http://www.w3.org/2001/XMLSchema" xmlns:xs="http://www.w3.org/2001/XMLSchema" xmlns:p="http://schemas.microsoft.com/office/2006/metadata/properties" xmlns:ns2="69c7e17f-4e9e-430d-90e0-3ef93dcbdb44" xmlns:ns3="17d28f16-eb5e-4587-81e0-682ed581eef1" targetNamespace="http://schemas.microsoft.com/office/2006/metadata/properties" ma:root="true" ma:fieldsID="cf335e2618e06b79f2f12a08e2dd74ae" ns2:_="" ns3:_="">
    <xsd:import namespace="69c7e17f-4e9e-430d-90e0-3ef93dcbdb44"/>
    <xsd:import namespace="17d28f16-eb5e-4587-81e0-682ed581eef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c7e17f-4e9e-430d-90e0-3ef93dcbdb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5ebeb2d-667f-43bd-86ca-2a4d877a177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7d28f16-eb5e-4587-81e0-682ed581eef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57522ba-6265-4042-bbfc-6e697f6f1b5b}" ma:internalName="TaxCatchAll" ma:showField="CatchAllData" ma:web="17d28f16-eb5e-4587-81e0-682ed581ee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7d28f16-eb5e-4587-81e0-682ed581eef1" xsi:nil="true"/>
    <lcf76f155ced4ddcb4097134ff3c332f xmlns="69c7e17f-4e9e-430d-90e0-3ef93dcbdb4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6A8273E-8F9E-4775-BB52-6ABA1C724C7E}"/>
</file>

<file path=customXml/itemProps2.xml><?xml version="1.0" encoding="utf-8"?>
<ds:datastoreItem xmlns:ds="http://schemas.openxmlformats.org/officeDocument/2006/customXml" ds:itemID="{A6E77EA1-E097-41D2-B9B5-00DFA9B7FE74}"/>
</file>

<file path=customXml/itemProps3.xml><?xml version="1.0" encoding="utf-8"?>
<ds:datastoreItem xmlns:ds="http://schemas.openxmlformats.org/officeDocument/2006/customXml" ds:itemID="{355806B0-596F-40E8-BA0A-E9CE0063F010}"/>
</file>

<file path=docMetadata/LabelInfo.xml><?xml version="1.0" encoding="utf-8"?>
<clbl:labelList xmlns:clbl="http://schemas.microsoft.com/office/2020/mipLabelMetadata">
  <clbl:label id="{20bd2185-7f4f-483c-8403-3480aaa4171f}" enabled="1" method="Standard" siteId="{72adb271-2fc7-4afe-a5ee-9de6a59f6bfb}" removed="0"/>
</clbl:labelList>
</file>

<file path=docProps/app.xml><?xml version="1.0" encoding="utf-8"?>
<Properties xmlns="http://schemas.openxmlformats.org/officeDocument/2006/extended-properties" xmlns:vt="http://schemas.openxmlformats.org/officeDocument/2006/docPropsVTypes">
  <TotalTime>61</TotalTime>
  <Words>2048</Words>
  <Application>Microsoft Office PowerPoint</Application>
  <PresentationFormat>On-screen Show (16:9)</PresentationFormat>
  <Paragraphs>127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AI Strategy</dc:title>
  <dc:subject>PptxGenJS Presentation</dc:subject>
  <dc:creator>PptxGenJS</dc:creator>
  <cp:lastModifiedBy>Paige Gregory</cp:lastModifiedBy>
  <cp:revision>2</cp:revision>
  <dcterms:created xsi:type="dcterms:W3CDTF">2026-04-03T16:46:53Z</dcterms:created>
  <dcterms:modified xsi:type="dcterms:W3CDTF">2026-04-03T17:50:58Z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0x0101001275B9CB64CD7C47B41F746646547B33</vt:lpwstr>
  </property>
</Properties>
</file>