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sldIdLst>
    <p:sldId id="2561" r:id="rId2"/>
    <p:sldId id="2563" r:id="rId3"/>
    <p:sldId id="2564" r:id="rId4"/>
    <p:sldId id="2565" r:id="rId5"/>
    <p:sldId id="2566" r:id="rId6"/>
    <p:sldId id="2567" r:id="rId7"/>
    <p:sldId id="256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I in Our Team: GTM Enablement Strategy" id="{165FAC06-4212-4F9F-BBB3-CD813F6D4F8C}">
          <p14:sldIdLst>
            <p14:sldId id="2561"/>
          </p14:sldIdLst>
        </p14:section>
        <p14:section name="AI Strategy for GTM Enablement" id="{D5C74980-6FD8-4BC7-A661-EFACA7761BDC}">
          <p14:sldIdLst>
            <p14:sldId id="2563"/>
            <p14:sldId id="2564"/>
            <p14:sldId id="2565"/>
            <p14:sldId id="2566"/>
            <p14:sldId id="2567"/>
            <p14:sldId id="25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2492" autoAdjust="0"/>
  </p:normalViewPr>
  <p:slideViewPr>
    <p:cSldViewPr snapToGrid="0">
      <p:cViewPr varScale="1">
        <p:scale>
          <a:sx n="53" d="100"/>
          <a:sy n="53" d="100"/>
        </p:scale>
        <p:origin x="115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17"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customXml" Target="../customXml/item1.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lley Hood" userId="96cc61fb-cc8b-4959-9856-87b3bfc6dee1" providerId="ADAL" clId="{E469BC76-B792-4996-8753-D0C443EC8BD4}"/>
    <pc:docChg chg="custSel modSld">
      <pc:chgData name="Calley Hood" userId="96cc61fb-cc8b-4959-9856-87b3bfc6dee1" providerId="ADAL" clId="{E469BC76-B792-4996-8753-D0C443EC8BD4}" dt="2026-04-03T17:05:25.956" v="12" actId="113"/>
      <pc:docMkLst>
        <pc:docMk/>
      </pc:docMkLst>
      <pc:sldChg chg="modSp mod">
        <pc:chgData name="Calley Hood" userId="96cc61fb-cc8b-4959-9856-87b3bfc6dee1" providerId="ADAL" clId="{E469BC76-B792-4996-8753-D0C443EC8BD4}" dt="2026-04-03T17:04:44.241" v="3" actId="27636"/>
        <pc:sldMkLst>
          <pc:docMk/>
          <pc:sldMk cId="2431144690" sldId="2561"/>
        </pc:sldMkLst>
        <pc:spChg chg="mod">
          <ac:chgData name="Calley Hood" userId="96cc61fb-cc8b-4959-9856-87b3bfc6dee1" providerId="ADAL" clId="{E469BC76-B792-4996-8753-D0C443EC8BD4}" dt="2026-04-03T17:04:41.975" v="1" actId="113"/>
          <ac:spMkLst>
            <pc:docMk/>
            <pc:sldMk cId="2431144690" sldId="2561"/>
            <ac:spMk id="7" creationId="{0CD99426-A4CA-4F5F-BC21-38169E47ED4F}"/>
          </ac:spMkLst>
        </pc:spChg>
        <pc:spChg chg="mod">
          <ac:chgData name="Calley Hood" userId="96cc61fb-cc8b-4959-9856-87b3bfc6dee1" providerId="ADAL" clId="{E469BC76-B792-4996-8753-D0C443EC8BD4}" dt="2026-04-03T17:04:44.241" v="3" actId="27636"/>
          <ac:spMkLst>
            <pc:docMk/>
            <pc:sldMk cId="2431144690" sldId="2561"/>
            <ac:spMk id="8" creationId="{22D86E55-3B1F-450E-9807-4448CC8D0584}"/>
          </ac:spMkLst>
        </pc:spChg>
      </pc:sldChg>
      <pc:sldChg chg="modSp mod">
        <pc:chgData name="Calley Hood" userId="96cc61fb-cc8b-4959-9856-87b3bfc6dee1" providerId="ADAL" clId="{E469BC76-B792-4996-8753-D0C443EC8BD4}" dt="2026-04-03T17:04:51.148" v="5" actId="113"/>
        <pc:sldMkLst>
          <pc:docMk/>
          <pc:sldMk cId="3054426492" sldId="2563"/>
        </pc:sldMkLst>
        <pc:spChg chg="mod">
          <ac:chgData name="Calley Hood" userId="96cc61fb-cc8b-4959-9856-87b3bfc6dee1" providerId="ADAL" clId="{E469BC76-B792-4996-8753-D0C443EC8BD4}" dt="2026-04-03T17:04:48.264" v="4" actId="113"/>
          <ac:spMkLst>
            <pc:docMk/>
            <pc:sldMk cId="3054426492" sldId="2563"/>
            <ac:spMk id="4" creationId="{1648D8E7-8B2C-9653-9510-4EFB8E8DF382}"/>
          </ac:spMkLst>
        </pc:spChg>
        <pc:spChg chg="mod">
          <ac:chgData name="Calley Hood" userId="96cc61fb-cc8b-4959-9856-87b3bfc6dee1" providerId="ADAL" clId="{E469BC76-B792-4996-8753-D0C443EC8BD4}" dt="2026-04-03T17:04:51.148" v="5" actId="113"/>
          <ac:spMkLst>
            <pc:docMk/>
            <pc:sldMk cId="3054426492" sldId="2563"/>
            <ac:spMk id="6" creationId="{A70184BE-4D53-40E0-8642-68160B2895A9}"/>
          </ac:spMkLst>
        </pc:spChg>
        <pc:spChg chg="mod">
          <ac:chgData name="Calley Hood" userId="96cc61fb-cc8b-4959-9856-87b3bfc6dee1" providerId="ADAL" clId="{E469BC76-B792-4996-8753-D0C443EC8BD4}" dt="2026-04-03T17:04:27.166" v="0" actId="1076"/>
          <ac:spMkLst>
            <pc:docMk/>
            <pc:sldMk cId="3054426492" sldId="2563"/>
            <ac:spMk id="7" creationId="{75810412-A92C-405F-B98D-C96553D45F7F}"/>
          </ac:spMkLst>
        </pc:spChg>
      </pc:sldChg>
      <pc:sldChg chg="modSp mod">
        <pc:chgData name="Calley Hood" userId="96cc61fb-cc8b-4959-9856-87b3bfc6dee1" providerId="ADAL" clId="{E469BC76-B792-4996-8753-D0C443EC8BD4}" dt="2026-04-03T17:04:59.192" v="6" actId="113"/>
        <pc:sldMkLst>
          <pc:docMk/>
          <pc:sldMk cId="621040150" sldId="2564"/>
        </pc:sldMkLst>
        <pc:spChg chg="mod">
          <ac:chgData name="Calley Hood" userId="96cc61fb-cc8b-4959-9856-87b3bfc6dee1" providerId="ADAL" clId="{E469BC76-B792-4996-8753-D0C443EC8BD4}" dt="2026-04-03T17:04:59.192" v="6" actId="113"/>
          <ac:spMkLst>
            <pc:docMk/>
            <pc:sldMk cId="621040150" sldId="2564"/>
            <ac:spMk id="7" creationId="{66865C26-5795-4C66-A6DA-EA731CFC76F0}"/>
          </ac:spMkLst>
        </pc:spChg>
      </pc:sldChg>
      <pc:sldChg chg="modSp mod">
        <pc:chgData name="Calley Hood" userId="96cc61fb-cc8b-4959-9856-87b3bfc6dee1" providerId="ADAL" clId="{E469BC76-B792-4996-8753-D0C443EC8BD4}" dt="2026-04-03T17:05:16.706" v="10" actId="113"/>
        <pc:sldMkLst>
          <pc:docMk/>
          <pc:sldMk cId="4028719813" sldId="2565"/>
        </pc:sldMkLst>
        <pc:spChg chg="mod">
          <ac:chgData name="Calley Hood" userId="96cc61fb-cc8b-4959-9856-87b3bfc6dee1" providerId="ADAL" clId="{E469BC76-B792-4996-8753-D0C443EC8BD4}" dt="2026-04-03T17:05:16.706" v="10" actId="113"/>
          <ac:spMkLst>
            <pc:docMk/>
            <pc:sldMk cId="4028719813" sldId="2565"/>
            <ac:spMk id="7" creationId="{4F1FF973-18EC-4379-8C8D-BE3B140E91DC}"/>
          </ac:spMkLst>
        </pc:spChg>
      </pc:sldChg>
      <pc:sldChg chg="modSp mod">
        <pc:chgData name="Calley Hood" userId="96cc61fb-cc8b-4959-9856-87b3bfc6dee1" providerId="ADAL" clId="{E469BC76-B792-4996-8753-D0C443EC8BD4}" dt="2026-04-03T17:05:22.259" v="11" actId="113"/>
        <pc:sldMkLst>
          <pc:docMk/>
          <pc:sldMk cId="2796687078" sldId="2566"/>
        </pc:sldMkLst>
        <pc:spChg chg="mod">
          <ac:chgData name="Calley Hood" userId="96cc61fb-cc8b-4959-9856-87b3bfc6dee1" providerId="ADAL" clId="{E469BC76-B792-4996-8753-D0C443EC8BD4}" dt="2026-04-03T17:05:22.259" v="11" actId="113"/>
          <ac:spMkLst>
            <pc:docMk/>
            <pc:sldMk cId="2796687078" sldId="2566"/>
            <ac:spMk id="4" creationId="{D98B53AB-80B6-9CA5-EDB6-FB205127F575}"/>
          </ac:spMkLst>
        </pc:spChg>
      </pc:sldChg>
      <pc:sldChg chg="modSp mod">
        <pc:chgData name="Calley Hood" userId="96cc61fb-cc8b-4959-9856-87b3bfc6dee1" providerId="ADAL" clId="{E469BC76-B792-4996-8753-D0C443EC8BD4}" dt="2026-04-03T17:05:25.956" v="12" actId="113"/>
        <pc:sldMkLst>
          <pc:docMk/>
          <pc:sldMk cId="1781785208" sldId="2567"/>
        </pc:sldMkLst>
        <pc:spChg chg="mod">
          <ac:chgData name="Calley Hood" userId="96cc61fb-cc8b-4959-9856-87b3bfc6dee1" providerId="ADAL" clId="{E469BC76-B792-4996-8753-D0C443EC8BD4}" dt="2026-04-03T17:05:25.956" v="12" actId="113"/>
          <ac:spMkLst>
            <pc:docMk/>
            <pc:sldMk cId="1781785208" sldId="2567"/>
            <ac:spMk id="7" creationId="{B8A7DCC7-65B7-407C-A991-A05007412D5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D4FE85-D636-4FD5-9285-4CE92700938B}" type="datetimeFigureOut">
              <a:t>4/3/2026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985FD3-8F4C-41C8-BFEF-248FCFCDE7A7}" type="slidenum">
              <a:t>‹#›</a:t>
            </a:fld>
            <a:endParaRPr lang="en-US"/>
          </a:p>
        </p:txBody>
      </p:sp>
    </p:spTree>
    <p:extLst>
      <p:ext uri="{BB962C8B-B14F-4D97-AF65-F5344CB8AC3E}">
        <p14:creationId xmlns:p14="http://schemas.microsoft.com/office/powerpoint/2010/main" val="32201568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Current State of AI Usage in GTM Enablement, AI Opportunity for the GTM Enablement Team, Recommended Copilot Tools and Use Cases, Phased Implementation Roadmap, Risks and Mitigation Strategies, Measuring Success and Impact</a:t>
            </a:r>
          </a:p>
          <a:p>
            <a:endParaRPr lang="en-US" dirty="0"/>
          </a:p>
          <a:p>
            <a:r>
              <a:rPr lang="en-US" dirty="0"/>
              <a:t>Image source: Microsoft 365 content library</a:t>
            </a:r>
          </a:p>
        </p:txBody>
      </p:sp>
      <p:sp>
        <p:nvSpPr>
          <p:cNvPr id="4" name="Slide Number Placeholder 3"/>
          <p:cNvSpPr>
            <a:spLocks noGrp="1"/>
          </p:cNvSpPr>
          <p:nvPr>
            <p:ph type="sldNum" sz="quarter" idx="5"/>
          </p:nvPr>
        </p:nvSpPr>
        <p:spPr/>
        <p:txBody>
          <a:bodyPr/>
          <a:lstStyle/>
          <a:p>
            <a:fld id="{B797A110-9514-4244-962A-39B69711911E}" type="slidenum">
              <a:t>1</a:t>
            </a:fld>
            <a:endParaRPr lang="en-US"/>
          </a:p>
        </p:txBody>
      </p:sp>
    </p:spTree>
    <p:extLst>
      <p:ext uri="{BB962C8B-B14F-4D97-AF65-F5344CB8AC3E}">
        <p14:creationId xmlns:p14="http://schemas.microsoft.com/office/powerpoint/2010/main" val="7388143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GTM Enablement team currently operates in an environment where content creation, instructional design, and project coordination are largely manual and time intensive. As Instructional Designers, much of the team’s effort is spent drafting slide decks, creating facilitator and learner guides, synthesizing subject matter expert input, and coordinating across cross‑functional partners for launches and readiness initiatives. While Microsoft Copilot is available to the team as part of the broader enterprise toolset, its use today is largely ad hoc and individual rather than standardized or embedded into defined workflows. Team members may occasionally use Copilot to rewrite content, summarize a document, or generate ideas, but there is no shared strategy, guidance, or consistent application across projects. This results in uneven quality, missed opportunities for efficiency, and limited ability to scale enablement efforts as business demands increase. Additionally, without a clear framework for AI usage, some team members may be hesitant to rely on Copilot for core deliverables, while others may not fully understand its potential within tools like PowerPoint, Word, and Teams. The absence of a team‑specific AI approach also means that valuable learning and best practices are not being captured or shared. As GTM initiatives grow more complex and timelines continue to compress, the current state creates pressure on the team’s capacity and limits the amount of time available for higher‑value work such as learning experience design, stakeholder alignment, and measurement of enablement impact. This current state highlights a clear opportunity to move from sporadic AI usage to an intentional, responsible, and standardized approach using Microsoft Copilot to better support the team’s mission.</a:t>
            </a:r>
          </a:p>
        </p:txBody>
      </p:sp>
      <p:sp>
        <p:nvSpPr>
          <p:cNvPr id="4" name="Slide Number Placeholder 3"/>
          <p:cNvSpPr>
            <a:spLocks noGrp="1"/>
          </p:cNvSpPr>
          <p:nvPr>
            <p:ph type="sldNum" sz="quarter" idx="5"/>
          </p:nvPr>
        </p:nvSpPr>
        <p:spPr/>
        <p:txBody>
          <a:bodyPr/>
          <a:lstStyle/>
          <a:p>
            <a:fld id="{B797A110-9514-4244-962A-39B69711911E}" type="slidenum">
              <a:t>2</a:t>
            </a:fld>
            <a:endParaRPr lang="en-US"/>
          </a:p>
        </p:txBody>
      </p:sp>
    </p:spTree>
    <p:extLst>
      <p:ext uri="{BB962C8B-B14F-4D97-AF65-F5344CB8AC3E}">
        <p14:creationId xmlns:p14="http://schemas.microsoft.com/office/powerpoint/2010/main" val="21433782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AI presents a significant opportunity for the GTM Enablement team to increase efficiency, improve consistency, and elevate the overall quality of enablement deliverables. By intentionally integrating Microsoft Copilot into daily workflows, the team can shift time away from repetitive, manual tasks and refocus efforts on strategic instructional design and business impact. One major opportunity lies in content creation, where Copilot can generate first drafts of slide decks, learning outlines, facilitator guides, and playbooks, allowing Instructional Designers to spend more time refining learning flow, engagement strategies, and assessment methods. AI also creates an opportunity to improve project management by summarizing meetings, identifying action items, drafting project plans, and tracking progress across cross‑functional initiatives. This is especially valuable in GTM environments where alignment, speed, and clarity are critical. Another key opportunity is scalability. As the organization grows and GTM motions evolve, Copilot can help the team respond more quickly to new training requests, product launches, and enablement needs without proportionally increasing workload. Additionally, AI can support personalization by helping tailor content for different audiences such as sellers, partners, and leaders, ensuring messaging remains consistent while meeting varied needs. Importantly, the opportunity is not about replacing human expertise, but about augmenting it. Instructional judgment, business context, and learner empathy remain central to effective enablement. Copilot serves as a force multiplier that accelerates ideation, drafting, and synthesis, enabling the team to deliver higher‑quality outcomes at greater speed. By embracing this opportunity, the GTM Enablement team can model responsible AI adoption, demonstrate measurable value, and position itself as a strategic partner to the business. 
 Image source: Microsoft 365 content library</a:t>
            </a:r>
          </a:p>
        </p:txBody>
      </p:sp>
      <p:sp>
        <p:nvSpPr>
          <p:cNvPr id="4" name="Slide Number Placeholder 3"/>
          <p:cNvSpPr>
            <a:spLocks noGrp="1"/>
          </p:cNvSpPr>
          <p:nvPr>
            <p:ph type="sldNum" sz="quarter" idx="5"/>
          </p:nvPr>
        </p:nvSpPr>
        <p:spPr/>
        <p:txBody>
          <a:bodyPr/>
          <a:lstStyle/>
          <a:p>
            <a:fld id="{B797A110-9514-4244-962A-39B69711911E}" type="slidenum">
              <a:t>3</a:t>
            </a:fld>
            <a:endParaRPr lang="en-US"/>
          </a:p>
        </p:txBody>
      </p:sp>
    </p:spTree>
    <p:extLst>
      <p:ext uri="{BB962C8B-B14F-4D97-AF65-F5344CB8AC3E}">
        <p14:creationId xmlns:p14="http://schemas.microsoft.com/office/powerpoint/2010/main" val="2396326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recommended approach for AI adoption within the GTM Enablement team focuses exclusively on Microsoft Copilot experiences embedded within existing Microsoft 365 tools, ensuring security, compliance, and ease of adoption. Copilot in PowerPoint is a primary tool for accelerating enablement storytelling. It can generate first‑draft slide decks from prompts or existing documents, rewrite slides for different audiences, and produce speaker notes aligned to GTM narratives. This significantly reduces slide production time while maintaining alignment with business messaging. Copilot in Word is another critical tool for content creation and instructional design. It supports drafting facilitator guides, learner materials, course outlines, and learning objectives, as well as summarizing SME input into enablement‑ready content. This enables faster turnaround while improving consistency across deliverables. Copilot in Teams, often paired with Planner or Loop, supports project management and execution. It can summarize meetings, capture decisions, generate action items, draft follow‑up communications, and help create project plans for launches and readiness initiatives. Together, these tools cover the core workflows of the GTM Enablement team: content creation, learning design, and project coordination. By standardizing how Copilot is used across these tools, the team can maximize value without introducing new platforms or increasing tool complexity. This Copilot‑only approach also reinforces responsible AI usage within approved enterprise systems, making it both practical and scalable. 
 Image source: Microsoft 365 content library</a:t>
            </a:r>
          </a:p>
        </p:txBody>
      </p:sp>
      <p:sp>
        <p:nvSpPr>
          <p:cNvPr id="4" name="Slide Number Placeholder 3"/>
          <p:cNvSpPr>
            <a:spLocks noGrp="1"/>
          </p:cNvSpPr>
          <p:nvPr>
            <p:ph type="sldNum" sz="quarter" idx="5"/>
          </p:nvPr>
        </p:nvSpPr>
        <p:spPr/>
        <p:txBody>
          <a:bodyPr/>
          <a:lstStyle/>
          <a:p>
            <a:fld id="{B797A110-9514-4244-962A-39B69711911E}" type="slidenum">
              <a:t>4</a:t>
            </a:fld>
            <a:endParaRPr lang="en-US"/>
          </a:p>
        </p:txBody>
      </p:sp>
    </p:spTree>
    <p:extLst>
      <p:ext uri="{BB962C8B-B14F-4D97-AF65-F5344CB8AC3E}">
        <p14:creationId xmlns:p14="http://schemas.microsoft.com/office/powerpoint/2010/main" val="24409734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phased implementation roadmap ensures that AI adoption within the GTM Enablement team is thoughtful, sustainable, and aligned to real business needs. Phase one, Learn, focuses on building foundational understanding. During this phase, the team identifies high‑value use cases, shares example prompts, and builds basic Copilot fluency within PowerPoint, Word, and Teams. This phase emphasizes experimentation and learning without pressure for perfection. Phase two, Apply, moves into active piloting. The team intentionally uses Copilot on selected projects such as enablement decks, training guides, or launch plans. Workflows begin to take shape, and best practices are documented. Feedback is gathered to understand what works well and where human review is most critical. Phase three, Scale, focuses on standardization and sharing. Successful workflows are formalized, prompt libraries are created, and examples of impact are shared across the team and with stakeholders. At this stage, Copilot usage becomes a normal part of how the team works rather than an optional enhancement. This phased approach reduces risk, builds confidence, and ensures that AI adoption supports, rather than disrupts, the team’s core responsibilities. It also creates a repeatable model that can evolve as Copilot capabilities continue to expand.</a:t>
            </a:r>
          </a:p>
        </p:txBody>
      </p:sp>
      <p:sp>
        <p:nvSpPr>
          <p:cNvPr id="4" name="Slide Number Placeholder 3"/>
          <p:cNvSpPr>
            <a:spLocks noGrp="1"/>
          </p:cNvSpPr>
          <p:nvPr>
            <p:ph type="sldNum" sz="quarter" idx="5"/>
          </p:nvPr>
        </p:nvSpPr>
        <p:spPr/>
        <p:txBody>
          <a:bodyPr/>
          <a:lstStyle/>
          <a:p>
            <a:fld id="{B797A110-9514-4244-962A-39B69711911E}" type="slidenum">
              <a:t>5</a:t>
            </a:fld>
            <a:endParaRPr lang="en-US"/>
          </a:p>
        </p:txBody>
      </p:sp>
    </p:spTree>
    <p:extLst>
      <p:ext uri="{BB962C8B-B14F-4D97-AF65-F5344CB8AC3E}">
        <p14:creationId xmlns:p14="http://schemas.microsoft.com/office/powerpoint/2010/main" val="2719530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While AI offers significant benefits, responsible adoption requires an understanding of potential risks and clear mitigation strategies. One key risk is inconsistent or inaccurate output, particularly when prompts lack context or clarity. This risk is mitigated by maintaining human review as a required step for all enablement deliverables and by developing shared prompt standards. Another risk is over‑reliance on AI, which could reduce critical thinking or instructional judgment. This is addressed by reinforcing that Copilot is a drafting and support tool, not a replacement for expertise. Data sensitivity is another important consideration, especially when working with confidential GTM plans or customer information. This risk is mitigated by using Microsoft‑approved Copilot tools within secure environments and following existing data handling guidelines. There is also a change management risk, where uneven adoption could create confusion or resistance. Clear communication, shared examples, and leadership support help mitigate this risk. By proactively addressing these challenges, the GTM Enablement team can build trust in AI‑supported workflows while ensuring quality, accuracy, and ethical use. Responsible AI practices strengthen credibility and ensure that Copilot enhances, rather than undermines, enablement outcomes. 
 Image source: Microsoft 365 content library</a:t>
            </a:r>
          </a:p>
        </p:txBody>
      </p:sp>
      <p:sp>
        <p:nvSpPr>
          <p:cNvPr id="4" name="Slide Number Placeholder 3"/>
          <p:cNvSpPr>
            <a:spLocks noGrp="1"/>
          </p:cNvSpPr>
          <p:nvPr>
            <p:ph type="sldNum" sz="quarter" idx="5"/>
          </p:nvPr>
        </p:nvSpPr>
        <p:spPr/>
        <p:txBody>
          <a:bodyPr/>
          <a:lstStyle/>
          <a:p>
            <a:fld id="{B797A110-9514-4244-962A-39B69711911E}" type="slidenum">
              <a:t>6</a:t>
            </a:fld>
            <a:endParaRPr lang="en-US"/>
          </a:p>
        </p:txBody>
      </p:sp>
    </p:spTree>
    <p:extLst>
      <p:ext uri="{BB962C8B-B14F-4D97-AF65-F5344CB8AC3E}">
        <p14:creationId xmlns:p14="http://schemas.microsoft.com/office/powerpoint/2010/main" val="2579413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Success for AI adoption within the GTM Enablement team should be measured using a combination of quantitative and qualitative metrics. Quantitatively, key indicators include time saved per enablement asset, faster project delivery timelines, reduction in rework, and increased throughput without additional headcount. These metrics help demonstrate operational efficiency and scalability. Qualitative measures are equally important and include team confidence in using Copilot, perceived quality of deliverables, and stakeholder satisfaction with enablement outputs. Feedback from sales, partners, and leaders can provide valuable insight into whether AI‑supported content is clearer, more consistent, and more effective. Another success indicator is adoption maturity, such as the number of projects using standardized Copilot workflows or the reuse of documented prompts and best practices. Over time, success should also be reflected in the team’s ability to focus more on strategic work, such as learning experience design, measurement, and continuous improvement. By clearly defining and tracking these success metrics, the team can demonstrate the tangible value of AI, reinforce responsible usage, and continuously refine its approach as tools and needs evolve.</a:t>
            </a:r>
          </a:p>
        </p:txBody>
      </p:sp>
      <p:sp>
        <p:nvSpPr>
          <p:cNvPr id="4" name="Slide Number Placeholder 3"/>
          <p:cNvSpPr>
            <a:spLocks noGrp="1"/>
          </p:cNvSpPr>
          <p:nvPr>
            <p:ph type="sldNum" sz="quarter" idx="5"/>
          </p:nvPr>
        </p:nvSpPr>
        <p:spPr/>
        <p:txBody>
          <a:bodyPr/>
          <a:lstStyle/>
          <a:p>
            <a:fld id="{B797A110-9514-4244-962A-39B69711911E}" type="slidenum">
              <a:t>7</a:t>
            </a:fld>
            <a:endParaRPr lang="en-US"/>
          </a:p>
        </p:txBody>
      </p:sp>
    </p:spTree>
    <p:extLst>
      <p:ext uri="{BB962C8B-B14F-4D97-AF65-F5344CB8AC3E}">
        <p14:creationId xmlns:p14="http://schemas.microsoft.com/office/powerpoint/2010/main" val="10226739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4/3/2026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4/3/2026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4/3/2026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3.jpe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4.jpe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5.jpe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6.jpeg"/><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76D216A-0C17-460E-A365-1952DA6BD8F0}"/>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Shot of a group of programmers working together on a computer code at night">
            <a:extLst>
              <a:ext uri="{FF2B5EF4-FFF2-40B4-BE49-F238E27FC236}">
                <a16:creationId xmlns:a16="http://schemas.microsoft.com/office/drawing/2014/main" id="{1E0A41CC-357B-4263-80B2-A70AA1CC1F27}"/>
              </a:ext>
            </a:extLst>
          </p:cNvPr>
          <p:cNvPicPr>
            <a:picLocks noGrp="1" noChangeAspect="1"/>
          </p:cNvPicPr>
          <p:nvPr>
            <p:ph sz="half" idx="2"/>
          </p:nvPr>
        </p:nvPicPr>
        <p:blipFill>
          <a:blip r:embed="rId5"/>
          <a:stretch>
            <a:fillRect/>
          </a:stretch>
        </p:blipFill>
        <p:spPr>
          <a:xfrm>
            <a:off x="5334000" y="0"/>
            <a:ext cx="6858000" cy="6858000"/>
          </a:xfrm>
          <a:prstGeom prst="rect">
            <a:avLst/>
          </a:prstGeom>
        </p:spPr>
      </p:pic>
      <p:sp>
        <p:nvSpPr>
          <p:cNvPr id="7" name="TextBox 6">
            <a:extLst>
              <a:ext uri="{FF2B5EF4-FFF2-40B4-BE49-F238E27FC236}">
                <a16:creationId xmlns:a16="http://schemas.microsoft.com/office/drawing/2014/main" id="{0CD99426-A4CA-4F5F-BC21-38169E47ED4F}"/>
              </a:ext>
            </a:extLst>
          </p:cNvPr>
          <p:cNvSpPr txBox="1"/>
          <p:nvPr/>
        </p:nvSpPr>
        <p:spPr>
          <a:xfrm>
            <a:off x="471488" y="2373139"/>
            <a:ext cx="4391025" cy="670470"/>
          </a:xfrm>
          <a:prstGeom prst="rect">
            <a:avLst/>
          </a:prstGeom>
          <a:noFill/>
        </p:spPr>
        <p:txBody>
          <a:bodyPr wrap="square" rtlCol="0">
            <a:normAutofit fontScale="92500" lnSpcReduction="20000"/>
          </a:bodyPr>
          <a:lstStyle/>
          <a:p>
            <a:pPr marL="0" algn="l">
              <a:buNone/>
            </a:pPr>
            <a:r>
              <a:rPr sz="4800" b="1" dirty="0">
                <a:solidFill>
                  <a:srgbClr val="105237"/>
                </a:solidFill>
                <a:effectLst/>
                <a:latin typeface="Avenir Next LT Pro" panose="020B0504020202020204" pitchFamily="34" charset="0"/>
              </a:rPr>
              <a:t>AI in Our Team</a:t>
            </a:r>
            <a:r>
              <a:rPr b="1" dirty="0">
                <a:effectLst/>
              </a:rPr>
              <a:t> </a:t>
            </a:r>
            <a:endParaRPr lang="en-US" b="1" dirty="0"/>
          </a:p>
        </p:txBody>
      </p:sp>
      <p:sp>
        <p:nvSpPr>
          <p:cNvPr id="8" name="TextBox 7">
            <a:extLst>
              <a:ext uri="{FF2B5EF4-FFF2-40B4-BE49-F238E27FC236}">
                <a16:creationId xmlns:a16="http://schemas.microsoft.com/office/drawing/2014/main" id="{22D86E55-3B1F-450E-9807-4448CC8D0584}"/>
              </a:ext>
            </a:extLst>
          </p:cNvPr>
          <p:cNvSpPr txBox="1"/>
          <p:nvPr/>
        </p:nvSpPr>
        <p:spPr>
          <a:xfrm>
            <a:off x="1177842" y="3043609"/>
            <a:ext cx="2978317" cy="406536"/>
          </a:xfrm>
          <a:prstGeom prst="rect">
            <a:avLst/>
          </a:prstGeom>
          <a:noFill/>
        </p:spPr>
        <p:txBody>
          <a:bodyPr wrap="square" rtlCol="0">
            <a:normAutofit fontScale="92500"/>
          </a:bodyPr>
          <a:lstStyle/>
          <a:p>
            <a:pPr marL="0" algn="l">
              <a:buNone/>
            </a:pPr>
            <a:r>
              <a:rPr sz="1800" b="1" dirty="0">
                <a:solidFill>
                  <a:srgbClr val="105237"/>
                </a:solidFill>
                <a:effectLst/>
                <a:latin typeface="Avenir Next LT Pro" panose="020B0504020202020204" pitchFamily="34" charset="0"/>
              </a:rPr>
              <a:t>GTM Enablement Strategy</a:t>
            </a:r>
            <a:r>
              <a:rPr b="1" dirty="0">
                <a:effectLst/>
              </a:rPr>
              <a:t> </a:t>
            </a:r>
            <a:endParaRPr lang="en-US" b="1" dirty="0"/>
          </a:p>
        </p:txBody>
      </p:sp>
    </p:spTree>
    <p:extLst>
      <p:ext uri="{BB962C8B-B14F-4D97-AF65-F5344CB8AC3E}">
        <p14:creationId xmlns:p14="http://schemas.microsoft.com/office/powerpoint/2010/main" val="24311446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D7A9C2F-5A3B-4904-9D94-7362E5B99876}"/>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1648D8E7-8B2C-9653-9510-4EFB8E8DF382}"/>
              </a:ext>
            </a:extLst>
          </p:cNvPr>
          <p:cNvSpPr>
            <a:spLocks noGrp="1"/>
          </p:cNvSpPr>
          <p:nvPr>
            <p:ph sz="half" idx="2"/>
          </p:nvPr>
        </p:nvSpPr>
        <p:spPr>
          <a:xfrm>
            <a:off x="619125" y="619125"/>
            <a:ext cx="10953750" cy="511968"/>
          </a:xfrm>
        </p:spPr>
        <p:txBody>
          <a:bodyPr>
            <a:normAutofit fontScale="92500" lnSpcReduction="10000"/>
          </a:bodyPr>
          <a:lstStyle/>
          <a:p>
            <a:pPr marL="0" marR="0" indent="0" algn="l">
              <a:buNone/>
            </a:pPr>
            <a:r>
              <a:rPr sz="3600" b="1" dirty="0">
                <a:solidFill>
                  <a:srgbClr val="105237"/>
                </a:solidFill>
                <a:effectLst/>
                <a:latin typeface="Avenir Next LT Pro" panose="020B0504020202020204" pitchFamily="34" charset="0"/>
              </a:rPr>
              <a:t>Current State: AI in GTM Enablement </a:t>
            </a:r>
            <a:endParaRPr lang="en-US" b="1" dirty="0"/>
          </a:p>
        </p:txBody>
      </p:sp>
      <p:sp>
        <p:nvSpPr>
          <p:cNvPr id="6" name="TextBox 5">
            <a:extLst>
              <a:ext uri="{FF2B5EF4-FFF2-40B4-BE49-F238E27FC236}">
                <a16:creationId xmlns:a16="http://schemas.microsoft.com/office/drawing/2014/main" id="{A70184BE-4D53-40E0-8642-68160B2895A9}"/>
              </a:ext>
            </a:extLst>
          </p:cNvPr>
          <p:cNvSpPr txBox="1"/>
          <p:nvPr/>
        </p:nvSpPr>
        <p:spPr>
          <a:xfrm>
            <a:off x="619125" y="1131093"/>
            <a:ext cx="10953750" cy="381000"/>
          </a:xfrm>
          <a:prstGeom prst="rect">
            <a:avLst/>
          </a:prstGeom>
          <a:noFill/>
        </p:spPr>
        <p:txBody>
          <a:bodyPr wrap="square" rtlCol="0">
            <a:normAutofit/>
          </a:bodyPr>
          <a:lstStyle/>
          <a:p>
            <a:pPr marL="0" marR="0" algn="l">
              <a:spcBef>
                <a:spcPts val="750"/>
              </a:spcBef>
              <a:buNone/>
            </a:pPr>
            <a:r>
              <a:rPr sz="1800" b="1" dirty="0">
                <a:solidFill>
                  <a:srgbClr val="105237"/>
                </a:solidFill>
                <a:effectLst/>
                <a:latin typeface="Avenir Next LT Pro" panose="020B0504020202020204" pitchFamily="34" charset="0"/>
              </a:rPr>
              <a:t>Copilot exists, but usage is inconsistent and unscaled </a:t>
            </a:r>
            <a:endParaRPr lang="en-US" b="1" dirty="0"/>
          </a:p>
        </p:txBody>
      </p:sp>
      <p:sp>
        <p:nvSpPr>
          <p:cNvPr id="7" name="TextBox 6">
            <a:extLst>
              <a:ext uri="{FF2B5EF4-FFF2-40B4-BE49-F238E27FC236}">
                <a16:creationId xmlns:a16="http://schemas.microsoft.com/office/drawing/2014/main" id="{75810412-A92C-405F-B98D-C96553D45F7F}"/>
              </a:ext>
            </a:extLst>
          </p:cNvPr>
          <p:cNvSpPr txBox="1"/>
          <p:nvPr/>
        </p:nvSpPr>
        <p:spPr>
          <a:xfrm>
            <a:off x="619125" y="2072878"/>
            <a:ext cx="10953750" cy="4224337"/>
          </a:xfrm>
          <a:prstGeom prst="rect">
            <a:avLst/>
          </a:prstGeom>
          <a:noFill/>
        </p:spPr>
        <p:txBody>
          <a:bodyPr wrap="square" rtlCol="0">
            <a:normAutofit/>
          </a:bodyPr>
          <a:lstStyle/>
          <a:p>
            <a:pPr marL="0" marR="0" algn="l">
              <a:spcBef>
                <a:spcPts val="2550"/>
              </a:spcBef>
              <a:buNone/>
            </a:pPr>
            <a:r>
              <a:rPr sz="1650" b="1" dirty="0">
                <a:solidFill>
                  <a:srgbClr val="105237"/>
                </a:solidFill>
                <a:effectLst/>
                <a:latin typeface="Avenir Next LT Pro" panose="020B0504020202020204" pitchFamily="34" charset="0"/>
              </a:rPr>
              <a:t>Work is largely manual and time-intensive </a:t>
            </a:r>
            <a:endParaRPr dirty="0">
              <a:effectLst/>
            </a:endParaRPr>
          </a:p>
          <a:p>
            <a:pPr marL="0" marR="0" algn="l">
              <a:spcBef>
                <a:spcPts val="600"/>
              </a:spcBef>
              <a:buNone/>
            </a:pPr>
            <a:r>
              <a:rPr sz="1350" b="0" dirty="0">
                <a:solidFill>
                  <a:srgbClr val="105237"/>
                </a:solidFill>
                <a:effectLst/>
                <a:latin typeface="Avenir Next LT Pro" panose="020B0504020202020204" pitchFamily="34" charset="0"/>
              </a:rPr>
              <a:t>Instructional Designers spend significant time drafting slide decks, building facilitator and learner guides, synthesizing SME inputs, and coordinating cross-functional partners for launches and readiness. </a:t>
            </a:r>
            <a:endParaRPr dirty="0">
              <a:effectLst/>
            </a:endParaRPr>
          </a:p>
          <a:p>
            <a:pPr marL="0" marR="0" algn="l">
              <a:spcBef>
                <a:spcPts val="1650"/>
              </a:spcBef>
              <a:buNone/>
            </a:pPr>
            <a:r>
              <a:rPr sz="1650" b="1" dirty="0">
                <a:solidFill>
                  <a:srgbClr val="105237"/>
                </a:solidFill>
                <a:effectLst/>
                <a:latin typeface="Avenir Next LT Pro" panose="020B0504020202020204" pitchFamily="34" charset="0"/>
              </a:rPr>
              <a:t>Copilot usage is ad hoc (not workflow-based) </a:t>
            </a:r>
            <a:endParaRPr dirty="0">
              <a:effectLst/>
            </a:endParaRPr>
          </a:p>
          <a:p>
            <a:pPr marL="0" marR="0" algn="l">
              <a:spcBef>
                <a:spcPts val="600"/>
              </a:spcBef>
              <a:buNone/>
            </a:pPr>
            <a:r>
              <a:rPr sz="1350" b="0" dirty="0">
                <a:solidFill>
                  <a:srgbClr val="105237"/>
                </a:solidFill>
                <a:effectLst/>
                <a:latin typeface="Avenir Next LT Pro" panose="020B0504020202020204" pitchFamily="34" charset="0"/>
              </a:rPr>
              <a:t>Team members may use Copilot to rewrite content, summarize documents, or generate ideas, but there is no shared strategy, guidance, or consistent application across tools like PowerPoint, Word, and Teams. </a:t>
            </a:r>
            <a:endParaRPr dirty="0">
              <a:effectLst/>
            </a:endParaRPr>
          </a:p>
          <a:p>
            <a:pPr marL="0" marR="0" algn="l">
              <a:spcBef>
                <a:spcPts val="1650"/>
              </a:spcBef>
              <a:buNone/>
            </a:pPr>
            <a:r>
              <a:rPr sz="1650" b="1" dirty="0">
                <a:solidFill>
                  <a:srgbClr val="105237"/>
                </a:solidFill>
                <a:effectLst/>
                <a:latin typeface="Avenir Next LT Pro" panose="020B0504020202020204" pitchFamily="34" charset="0"/>
              </a:rPr>
              <a:t>Impact: uneven quality and limited scalability </a:t>
            </a:r>
            <a:endParaRPr dirty="0">
              <a:effectLst/>
            </a:endParaRPr>
          </a:p>
          <a:p>
            <a:pPr marL="0" marR="0" algn="l">
              <a:spcBef>
                <a:spcPts val="600"/>
              </a:spcBef>
              <a:buNone/>
            </a:pPr>
            <a:r>
              <a:rPr sz="1350" b="0" dirty="0">
                <a:solidFill>
                  <a:srgbClr val="105237"/>
                </a:solidFill>
                <a:effectLst/>
                <a:latin typeface="Avenir Next LT Pro" panose="020B0504020202020204" pitchFamily="34" charset="0"/>
              </a:rPr>
              <a:t>Inconsistent adoption creates missed efficiency gains, uneven outputs, and hesitancy without a clear framework. Best practices are not captured or shared, increasing capacity pressure as GTM complexity rises and timelines compress. </a:t>
            </a:r>
            <a:endParaRPr dirty="0">
              <a:effectLst/>
            </a:endParaRPr>
          </a:p>
          <a:p>
            <a:pPr marL="0" marR="0" algn="l">
              <a:spcBef>
                <a:spcPts val="1650"/>
              </a:spcBef>
              <a:buNone/>
            </a:pPr>
            <a:r>
              <a:rPr sz="1650" b="1" dirty="0">
                <a:solidFill>
                  <a:srgbClr val="105237"/>
                </a:solidFill>
                <a:effectLst/>
                <a:latin typeface="Avenir Next LT Pro" panose="020B0504020202020204" pitchFamily="34" charset="0"/>
              </a:rPr>
              <a:t>Opportunity: standardized, responsible Copilot approach </a:t>
            </a:r>
            <a:endParaRPr dirty="0">
              <a:effectLst/>
            </a:endParaRPr>
          </a:p>
          <a:p>
            <a:pPr marL="0" marR="0" algn="l">
              <a:spcBef>
                <a:spcPts val="600"/>
              </a:spcBef>
              <a:buNone/>
            </a:pPr>
            <a:r>
              <a:rPr sz="1350" b="0" dirty="0">
                <a:solidFill>
                  <a:srgbClr val="105237"/>
                </a:solidFill>
                <a:effectLst/>
                <a:latin typeface="Avenir Next LT Pro" panose="020B0504020202020204" pitchFamily="34" charset="0"/>
              </a:rPr>
              <a:t>Moving from sporadic usage to defined workflows would free time for higher-value work (learning experience design, stakeholder alignment, and impact measurement) while improving consistency and scale. </a:t>
            </a:r>
            <a:endParaRPr lang="en-US" dirty="0"/>
          </a:p>
        </p:txBody>
      </p:sp>
    </p:spTree>
    <p:extLst>
      <p:ext uri="{BB962C8B-B14F-4D97-AF65-F5344CB8AC3E}">
        <p14:creationId xmlns:p14="http://schemas.microsoft.com/office/powerpoint/2010/main" val="3054426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540E232-3D9B-471D-9C9E-10258F7B9894}"/>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Group of mixed race business people working together in the creative office. Team building concept. Office life">
            <a:extLst>
              <a:ext uri="{FF2B5EF4-FFF2-40B4-BE49-F238E27FC236}">
                <a16:creationId xmlns:a16="http://schemas.microsoft.com/office/drawing/2014/main" id="{1C38BF3F-7290-41E6-B58D-4BA5380726AB}"/>
              </a:ext>
            </a:extLst>
          </p:cNvPr>
          <p:cNvPicPr>
            <a:picLocks noGrp="1" noChangeAspect="1"/>
          </p:cNvPicPr>
          <p:nvPr>
            <p:ph sz="half" idx="2"/>
          </p:nvPr>
        </p:nvPicPr>
        <p:blipFill>
          <a:blip r:embed="rId5"/>
          <a:srcRect l="1" r="26315"/>
          <a:stretch>
            <a:fillRect/>
          </a:stretch>
        </p:blipFill>
        <p:spPr>
          <a:xfrm>
            <a:off x="5629275" y="0"/>
            <a:ext cx="7688179" cy="6858000"/>
          </a:xfrm>
          <a:prstGeom prst="rect">
            <a:avLst/>
          </a:prstGeom>
        </p:spPr>
      </p:pic>
      <p:sp>
        <p:nvSpPr>
          <p:cNvPr id="7" name="TextBox 6">
            <a:extLst>
              <a:ext uri="{FF2B5EF4-FFF2-40B4-BE49-F238E27FC236}">
                <a16:creationId xmlns:a16="http://schemas.microsoft.com/office/drawing/2014/main" id="{66865C26-5795-4C66-A6DA-EA731CFC76F0}"/>
              </a:ext>
            </a:extLst>
          </p:cNvPr>
          <p:cNvSpPr txBox="1"/>
          <p:nvPr/>
        </p:nvSpPr>
        <p:spPr>
          <a:xfrm>
            <a:off x="619125" y="581025"/>
            <a:ext cx="4391025" cy="987325"/>
          </a:xfrm>
          <a:prstGeom prst="rect">
            <a:avLst/>
          </a:prstGeom>
          <a:noFill/>
        </p:spPr>
        <p:txBody>
          <a:bodyPr wrap="square" rtlCol="0">
            <a:normAutofit fontScale="92500" lnSpcReduction="20000"/>
          </a:bodyPr>
          <a:lstStyle/>
          <a:p>
            <a:pPr marL="0" algn="l">
              <a:buNone/>
            </a:pPr>
            <a:r>
              <a:rPr sz="3600" b="1" dirty="0">
                <a:solidFill>
                  <a:srgbClr val="105237"/>
                </a:solidFill>
                <a:effectLst/>
                <a:latin typeface="Avenir Next LT Pro" panose="020B0504020202020204" pitchFamily="34" charset="0"/>
              </a:rPr>
              <a:t>AI Opportunity for GTM Enablement </a:t>
            </a:r>
            <a:endParaRPr lang="en-US" b="1" dirty="0"/>
          </a:p>
        </p:txBody>
      </p:sp>
      <p:sp>
        <p:nvSpPr>
          <p:cNvPr id="8" name="TextBox 7">
            <a:extLst>
              <a:ext uri="{FF2B5EF4-FFF2-40B4-BE49-F238E27FC236}">
                <a16:creationId xmlns:a16="http://schemas.microsoft.com/office/drawing/2014/main" id="{3D46ECBB-0A82-4B6A-86E8-61709FC681AF}"/>
              </a:ext>
            </a:extLst>
          </p:cNvPr>
          <p:cNvSpPr txBox="1"/>
          <p:nvPr/>
        </p:nvSpPr>
        <p:spPr>
          <a:xfrm>
            <a:off x="619125" y="1873150"/>
            <a:ext cx="4391025" cy="228600"/>
          </a:xfrm>
          <a:prstGeom prst="rect">
            <a:avLst/>
          </a:prstGeom>
          <a:noFill/>
        </p:spPr>
        <p:txBody>
          <a:bodyPr wrap="square" rtlCol="0">
            <a:noAutofit/>
          </a:bodyPr>
          <a:lstStyle/>
          <a:p>
            <a:pPr marL="0" algn="l">
              <a:buNone/>
            </a:pPr>
            <a:r>
              <a:rPr sz="1600" b="1" dirty="0">
                <a:solidFill>
                  <a:srgbClr val="105237"/>
                </a:solidFill>
                <a:effectLst/>
                <a:latin typeface="Avenir Next LT Pro" panose="020B0504020202020204" pitchFamily="34" charset="0"/>
              </a:rPr>
              <a:t>Faster drafting, higher consistency </a:t>
            </a:r>
            <a:endParaRPr lang="en-US" sz="1600" dirty="0"/>
          </a:p>
        </p:txBody>
      </p:sp>
      <p:sp>
        <p:nvSpPr>
          <p:cNvPr id="9" name="TextBox 8">
            <a:extLst>
              <a:ext uri="{FF2B5EF4-FFF2-40B4-BE49-F238E27FC236}">
                <a16:creationId xmlns:a16="http://schemas.microsoft.com/office/drawing/2014/main" id="{B9EB60B0-BB0C-4057-B9FF-C3E595924EA3}"/>
              </a:ext>
            </a:extLst>
          </p:cNvPr>
          <p:cNvSpPr txBox="1"/>
          <p:nvPr/>
        </p:nvSpPr>
        <p:spPr>
          <a:xfrm>
            <a:off x="619125" y="2197000"/>
            <a:ext cx="4391025" cy="904875"/>
          </a:xfrm>
          <a:prstGeom prst="rect">
            <a:avLst/>
          </a:prstGeom>
          <a:noFill/>
        </p:spPr>
        <p:txBody>
          <a:bodyPr wrap="square" rtlCol="0">
            <a:normAutofit lnSpcReduction="10000"/>
          </a:bodyPr>
          <a:lstStyle/>
          <a:p>
            <a:pPr marL="0" marR="0" algn="l">
              <a:spcBef>
                <a:spcPts val="750"/>
              </a:spcBef>
              <a:buNone/>
            </a:pPr>
            <a:r>
              <a:rPr sz="1425" b="0">
                <a:solidFill>
                  <a:srgbClr val="105237"/>
                </a:solidFill>
                <a:effectLst/>
                <a:latin typeface="Avenir Next LT Pro" panose="020B0504020202020204" pitchFamily="34" charset="0"/>
              </a:rPr>
              <a:t>Copilot can generate first drafts for decks, outlines, facilitator guides, and playbooks—freeing time for instructional design, engagement, and assessment quality. </a:t>
            </a:r>
            <a:endParaRPr lang="en-US"/>
          </a:p>
        </p:txBody>
      </p:sp>
      <p:sp>
        <p:nvSpPr>
          <p:cNvPr id="10" name="TextBox 9">
            <a:extLst>
              <a:ext uri="{FF2B5EF4-FFF2-40B4-BE49-F238E27FC236}">
                <a16:creationId xmlns:a16="http://schemas.microsoft.com/office/drawing/2014/main" id="{FB57D9C9-DE53-420F-8E38-8255020B50E0}"/>
              </a:ext>
            </a:extLst>
          </p:cNvPr>
          <p:cNvSpPr txBox="1"/>
          <p:nvPr/>
        </p:nvSpPr>
        <p:spPr>
          <a:xfrm>
            <a:off x="619125" y="3254275"/>
            <a:ext cx="4391025" cy="228600"/>
          </a:xfrm>
          <a:prstGeom prst="rect">
            <a:avLst/>
          </a:prstGeom>
          <a:noFill/>
        </p:spPr>
        <p:txBody>
          <a:bodyPr wrap="square" rtlCol="0">
            <a:noAutofit/>
          </a:bodyPr>
          <a:lstStyle/>
          <a:p>
            <a:pPr marL="0" marR="0" algn="l">
              <a:spcBef>
                <a:spcPts val="1200"/>
              </a:spcBef>
              <a:buNone/>
            </a:pPr>
            <a:r>
              <a:rPr sz="1600" b="1" dirty="0">
                <a:solidFill>
                  <a:srgbClr val="105237"/>
                </a:solidFill>
                <a:effectLst/>
                <a:latin typeface="Avenir Next LT Pro" panose="020B0504020202020204" pitchFamily="34" charset="0"/>
              </a:rPr>
              <a:t>Stronger project management </a:t>
            </a:r>
            <a:endParaRPr lang="en-US" sz="1600" dirty="0"/>
          </a:p>
        </p:txBody>
      </p:sp>
      <p:sp>
        <p:nvSpPr>
          <p:cNvPr id="11" name="TextBox 10">
            <a:extLst>
              <a:ext uri="{FF2B5EF4-FFF2-40B4-BE49-F238E27FC236}">
                <a16:creationId xmlns:a16="http://schemas.microsoft.com/office/drawing/2014/main" id="{682A256E-C266-4451-AC0C-A3AE303EB95D}"/>
              </a:ext>
            </a:extLst>
          </p:cNvPr>
          <p:cNvSpPr txBox="1"/>
          <p:nvPr/>
        </p:nvSpPr>
        <p:spPr>
          <a:xfrm>
            <a:off x="619125" y="3578125"/>
            <a:ext cx="4391025" cy="678656"/>
          </a:xfrm>
          <a:prstGeom prst="rect">
            <a:avLst/>
          </a:prstGeom>
          <a:noFill/>
        </p:spPr>
        <p:txBody>
          <a:bodyPr wrap="square" rtlCol="0">
            <a:normAutofit fontScale="92500" lnSpcReduction="10000"/>
          </a:bodyPr>
          <a:lstStyle/>
          <a:p>
            <a:pPr marL="0" marR="0" algn="l">
              <a:spcBef>
                <a:spcPts val="750"/>
              </a:spcBef>
              <a:buNone/>
            </a:pPr>
            <a:r>
              <a:rPr sz="1425" b="0">
                <a:solidFill>
                  <a:srgbClr val="105237"/>
                </a:solidFill>
                <a:effectLst/>
                <a:latin typeface="Avenir Next LT Pro" panose="020B0504020202020204" pitchFamily="34" charset="0"/>
              </a:rPr>
              <a:t>Summarize meetings, capture action items, draft project plans, and track progress—improving speed and clarity across cross-functional GTM work. </a:t>
            </a:r>
            <a:endParaRPr lang="en-US"/>
          </a:p>
        </p:txBody>
      </p:sp>
      <p:sp>
        <p:nvSpPr>
          <p:cNvPr id="12" name="TextBox 11">
            <a:extLst>
              <a:ext uri="{FF2B5EF4-FFF2-40B4-BE49-F238E27FC236}">
                <a16:creationId xmlns:a16="http://schemas.microsoft.com/office/drawing/2014/main" id="{C5DEAB4F-FE27-4D47-B075-4732ABD856AE}"/>
              </a:ext>
            </a:extLst>
          </p:cNvPr>
          <p:cNvSpPr txBox="1"/>
          <p:nvPr/>
        </p:nvSpPr>
        <p:spPr>
          <a:xfrm>
            <a:off x="619125" y="4409182"/>
            <a:ext cx="4391025" cy="457200"/>
          </a:xfrm>
          <a:prstGeom prst="rect">
            <a:avLst/>
          </a:prstGeom>
          <a:noFill/>
        </p:spPr>
        <p:txBody>
          <a:bodyPr wrap="square" rtlCol="0">
            <a:noAutofit/>
          </a:bodyPr>
          <a:lstStyle/>
          <a:p>
            <a:pPr marL="0" marR="0" algn="l">
              <a:spcBef>
                <a:spcPts val="1200"/>
              </a:spcBef>
              <a:buNone/>
            </a:pPr>
            <a:r>
              <a:rPr sz="1600" b="1" dirty="0">
                <a:solidFill>
                  <a:srgbClr val="105237"/>
                </a:solidFill>
                <a:effectLst/>
                <a:latin typeface="Avenir Next LT Pro" panose="020B0504020202020204" pitchFamily="34" charset="0"/>
              </a:rPr>
              <a:t>Scale and personalize—without replacing expertise </a:t>
            </a:r>
            <a:endParaRPr lang="en-US" sz="1600" dirty="0"/>
          </a:p>
        </p:txBody>
      </p:sp>
      <p:sp>
        <p:nvSpPr>
          <p:cNvPr id="13" name="TextBox 12">
            <a:extLst>
              <a:ext uri="{FF2B5EF4-FFF2-40B4-BE49-F238E27FC236}">
                <a16:creationId xmlns:a16="http://schemas.microsoft.com/office/drawing/2014/main" id="{B3176AB2-1376-40C5-851A-FF9AABE5A4AF}"/>
              </a:ext>
            </a:extLst>
          </p:cNvPr>
          <p:cNvSpPr txBox="1"/>
          <p:nvPr/>
        </p:nvSpPr>
        <p:spPr>
          <a:xfrm>
            <a:off x="619125" y="4961632"/>
            <a:ext cx="4391025" cy="1131093"/>
          </a:xfrm>
          <a:prstGeom prst="rect">
            <a:avLst/>
          </a:prstGeom>
          <a:noFill/>
        </p:spPr>
        <p:txBody>
          <a:bodyPr wrap="square" rtlCol="0">
            <a:normAutofit lnSpcReduction="10000"/>
          </a:bodyPr>
          <a:lstStyle/>
          <a:p>
            <a:pPr marL="0" marR="0" algn="l">
              <a:spcBef>
                <a:spcPts val="750"/>
              </a:spcBef>
              <a:buNone/>
            </a:pPr>
            <a:r>
              <a:rPr sz="1425" b="0">
                <a:solidFill>
                  <a:srgbClr val="105237"/>
                </a:solidFill>
                <a:effectLst/>
                <a:latin typeface="Avenir Next LT Pro" panose="020B0504020202020204" pitchFamily="34" charset="0"/>
              </a:rPr>
              <a:t>Respond faster to launches and new requests while tailoring content for sellers, partners, and leaders. Human judgment and learner empathy remain central; Copilot accelerates ideation, drafting, and synthesis. </a:t>
            </a:r>
            <a:endParaRPr lang="en-US"/>
          </a:p>
        </p:txBody>
      </p:sp>
    </p:spTree>
    <p:extLst>
      <p:ext uri="{BB962C8B-B14F-4D97-AF65-F5344CB8AC3E}">
        <p14:creationId xmlns:p14="http://schemas.microsoft.com/office/powerpoint/2010/main" val="621040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9F048F3-82D0-450D-961A-ECB5D9E68799}"/>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Side view closeup of IT programmer writing code on laptop screen while working in software production studio with focus on male hands typing at keyboard, copy space">
            <a:extLst>
              <a:ext uri="{FF2B5EF4-FFF2-40B4-BE49-F238E27FC236}">
                <a16:creationId xmlns:a16="http://schemas.microsoft.com/office/drawing/2014/main" id="{0F1C64F9-1AF4-4B04-AD81-4B5E5EB391C6}"/>
              </a:ext>
            </a:extLst>
          </p:cNvPr>
          <p:cNvPicPr>
            <a:picLocks noGrp="1" noChangeAspect="1"/>
          </p:cNvPicPr>
          <p:nvPr>
            <p:ph sz="half" idx="2"/>
          </p:nvPr>
        </p:nvPicPr>
        <p:blipFill>
          <a:blip r:embed="rId5"/>
          <a:stretch>
            <a:fillRect/>
          </a:stretch>
        </p:blipFill>
        <p:spPr>
          <a:xfrm>
            <a:off x="5334000" y="0"/>
            <a:ext cx="6858000" cy="6858000"/>
          </a:xfrm>
          <a:prstGeom prst="rect">
            <a:avLst/>
          </a:prstGeom>
        </p:spPr>
      </p:pic>
      <p:sp>
        <p:nvSpPr>
          <p:cNvPr id="7" name="TextBox 6">
            <a:extLst>
              <a:ext uri="{FF2B5EF4-FFF2-40B4-BE49-F238E27FC236}">
                <a16:creationId xmlns:a16="http://schemas.microsoft.com/office/drawing/2014/main" id="{4F1FF973-18EC-4379-8C8D-BE3B140E91DC}"/>
              </a:ext>
            </a:extLst>
          </p:cNvPr>
          <p:cNvSpPr txBox="1"/>
          <p:nvPr/>
        </p:nvSpPr>
        <p:spPr>
          <a:xfrm>
            <a:off x="619125" y="581025"/>
            <a:ext cx="4391025" cy="1508670"/>
          </a:xfrm>
          <a:prstGeom prst="rect">
            <a:avLst/>
          </a:prstGeom>
          <a:noFill/>
        </p:spPr>
        <p:txBody>
          <a:bodyPr wrap="square" rtlCol="0">
            <a:normAutofit fontScale="92500" lnSpcReduction="10000"/>
          </a:bodyPr>
          <a:lstStyle/>
          <a:p>
            <a:pPr marL="0" algn="l">
              <a:buNone/>
            </a:pPr>
            <a:r>
              <a:rPr sz="3600" b="1" dirty="0">
                <a:solidFill>
                  <a:srgbClr val="105237"/>
                </a:solidFill>
                <a:effectLst/>
                <a:latin typeface="Avenir Next LT Pro" panose="020B0504020202020204" pitchFamily="34" charset="0"/>
              </a:rPr>
              <a:t>Recommended Copilot Tools &amp; </a:t>
            </a:r>
            <a:endParaRPr lang="en-US" sz="3600" b="1" dirty="0">
              <a:solidFill>
                <a:srgbClr val="105237"/>
              </a:solidFill>
              <a:effectLst/>
              <a:latin typeface="Avenir Next LT Pro" panose="020B0504020202020204" pitchFamily="34" charset="0"/>
            </a:endParaRPr>
          </a:p>
          <a:p>
            <a:pPr marL="0" algn="l">
              <a:buNone/>
            </a:pPr>
            <a:r>
              <a:rPr sz="3600" b="1" dirty="0">
                <a:solidFill>
                  <a:srgbClr val="105237"/>
                </a:solidFill>
                <a:effectLst/>
                <a:latin typeface="Avenir Next LT Pro" panose="020B0504020202020204" pitchFamily="34" charset="0"/>
              </a:rPr>
              <a:t>Use Cases </a:t>
            </a:r>
            <a:endParaRPr lang="en-US" b="1" dirty="0"/>
          </a:p>
        </p:txBody>
      </p:sp>
      <p:sp>
        <p:nvSpPr>
          <p:cNvPr id="8" name="TextBox 7">
            <a:extLst>
              <a:ext uri="{FF2B5EF4-FFF2-40B4-BE49-F238E27FC236}">
                <a16:creationId xmlns:a16="http://schemas.microsoft.com/office/drawing/2014/main" id="{4952BCA6-AEA7-4960-B1DD-4356DF90DDCF}"/>
              </a:ext>
            </a:extLst>
          </p:cNvPr>
          <p:cNvSpPr txBox="1"/>
          <p:nvPr/>
        </p:nvSpPr>
        <p:spPr>
          <a:xfrm>
            <a:off x="619125" y="2413545"/>
            <a:ext cx="4391025" cy="228600"/>
          </a:xfrm>
          <a:prstGeom prst="rect">
            <a:avLst/>
          </a:prstGeom>
          <a:noFill/>
        </p:spPr>
        <p:txBody>
          <a:bodyPr wrap="square" rtlCol="0">
            <a:noAutofit/>
          </a:bodyPr>
          <a:lstStyle/>
          <a:p>
            <a:pPr marL="0" algn="l">
              <a:buNone/>
            </a:pPr>
            <a:r>
              <a:rPr sz="1600" b="1" dirty="0">
                <a:solidFill>
                  <a:srgbClr val="105237"/>
                </a:solidFill>
                <a:effectLst/>
                <a:latin typeface="Avenir Next LT Pro" panose="020B0504020202020204" pitchFamily="34" charset="0"/>
              </a:rPr>
              <a:t>Copilot in PowerPoint </a:t>
            </a:r>
            <a:endParaRPr lang="en-US" sz="1600" dirty="0"/>
          </a:p>
        </p:txBody>
      </p:sp>
      <p:sp>
        <p:nvSpPr>
          <p:cNvPr id="9" name="TextBox 8">
            <a:extLst>
              <a:ext uri="{FF2B5EF4-FFF2-40B4-BE49-F238E27FC236}">
                <a16:creationId xmlns:a16="http://schemas.microsoft.com/office/drawing/2014/main" id="{0420FDA5-3F13-450F-B3E7-74E25F6059DC}"/>
              </a:ext>
            </a:extLst>
          </p:cNvPr>
          <p:cNvSpPr txBox="1"/>
          <p:nvPr/>
        </p:nvSpPr>
        <p:spPr>
          <a:xfrm>
            <a:off x="619125" y="2737395"/>
            <a:ext cx="4391025" cy="714375"/>
          </a:xfrm>
          <a:prstGeom prst="rect">
            <a:avLst/>
          </a:prstGeom>
          <a:noFill/>
        </p:spPr>
        <p:txBody>
          <a:bodyPr wrap="square" rtlCol="0">
            <a:normAutofit lnSpcReduction="10000"/>
          </a:bodyPr>
          <a:lstStyle/>
          <a:p>
            <a:pPr marL="0" marR="0" algn="l">
              <a:spcBef>
                <a:spcPts val="750"/>
              </a:spcBef>
              <a:buNone/>
            </a:pPr>
            <a:r>
              <a:rPr sz="1500" b="0">
                <a:solidFill>
                  <a:srgbClr val="105237"/>
                </a:solidFill>
                <a:effectLst/>
                <a:latin typeface="Avenir Next LT Pro" panose="020B0504020202020204" pitchFamily="34" charset="0"/>
              </a:rPr>
              <a:t>Generate first-draft decks from prompts or docs, rewrite for different audiences, and produce speaker notes aligned to GTM narratives. </a:t>
            </a:r>
            <a:endParaRPr lang="en-US"/>
          </a:p>
        </p:txBody>
      </p:sp>
      <p:sp>
        <p:nvSpPr>
          <p:cNvPr id="10" name="TextBox 9">
            <a:extLst>
              <a:ext uri="{FF2B5EF4-FFF2-40B4-BE49-F238E27FC236}">
                <a16:creationId xmlns:a16="http://schemas.microsoft.com/office/drawing/2014/main" id="{F63C8B8C-411D-4646-B567-2CFE0B7D0698}"/>
              </a:ext>
            </a:extLst>
          </p:cNvPr>
          <p:cNvSpPr txBox="1"/>
          <p:nvPr/>
        </p:nvSpPr>
        <p:spPr>
          <a:xfrm>
            <a:off x="619125" y="3604170"/>
            <a:ext cx="4391025" cy="228600"/>
          </a:xfrm>
          <a:prstGeom prst="rect">
            <a:avLst/>
          </a:prstGeom>
          <a:noFill/>
        </p:spPr>
        <p:txBody>
          <a:bodyPr wrap="square" rtlCol="0">
            <a:noAutofit/>
          </a:bodyPr>
          <a:lstStyle/>
          <a:p>
            <a:pPr marL="0" marR="0" algn="l">
              <a:spcBef>
                <a:spcPts val="1200"/>
              </a:spcBef>
              <a:buNone/>
            </a:pPr>
            <a:r>
              <a:rPr sz="1600" b="1" dirty="0">
                <a:solidFill>
                  <a:srgbClr val="105237"/>
                </a:solidFill>
                <a:effectLst/>
                <a:latin typeface="Avenir Next LT Pro" panose="020B0504020202020204" pitchFamily="34" charset="0"/>
              </a:rPr>
              <a:t>Copilot in Word </a:t>
            </a:r>
            <a:endParaRPr lang="en-US" sz="1600" dirty="0"/>
          </a:p>
        </p:txBody>
      </p:sp>
      <p:sp>
        <p:nvSpPr>
          <p:cNvPr id="11" name="TextBox 10">
            <a:extLst>
              <a:ext uri="{FF2B5EF4-FFF2-40B4-BE49-F238E27FC236}">
                <a16:creationId xmlns:a16="http://schemas.microsoft.com/office/drawing/2014/main" id="{39723FC3-A2B1-4EC6-AFA3-F38A6641EF11}"/>
              </a:ext>
            </a:extLst>
          </p:cNvPr>
          <p:cNvSpPr txBox="1"/>
          <p:nvPr/>
        </p:nvSpPr>
        <p:spPr>
          <a:xfrm>
            <a:off x="619125" y="3928020"/>
            <a:ext cx="4391025" cy="714375"/>
          </a:xfrm>
          <a:prstGeom prst="rect">
            <a:avLst/>
          </a:prstGeom>
          <a:noFill/>
        </p:spPr>
        <p:txBody>
          <a:bodyPr wrap="square" rtlCol="0">
            <a:normAutofit lnSpcReduction="10000"/>
          </a:bodyPr>
          <a:lstStyle/>
          <a:p>
            <a:pPr marL="0" marR="0" algn="l">
              <a:spcBef>
                <a:spcPts val="750"/>
              </a:spcBef>
              <a:buNone/>
            </a:pPr>
            <a:r>
              <a:rPr sz="1500" b="0">
                <a:solidFill>
                  <a:srgbClr val="105237"/>
                </a:solidFill>
                <a:effectLst/>
                <a:latin typeface="Avenir Next LT Pro" panose="020B0504020202020204" pitchFamily="34" charset="0"/>
              </a:rPr>
              <a:t>Draft facilitator guides, learner materials, outlines, and objectives; summarize SME input into consistent, enablement-ready content. </a:t>
            </a:r>
            <a:endParaRPr lang="en-US"/>
          </a:p>
        </p:txBody>
      </p:sp>
      <p:sp>
        <p:nvSpPr>
          <p:cNvPr id="12" name="TextBox 11">
            <a:extLst>
              <a:ext uri="{FF2B5EF4-FFF2-40B4-BE49-F238E27FC236}">
                <a16:creationId xmlns:a16="http://schemas.microsoft.com/office/drawing/2014/main" id="{54FE420A-465B-4C6E-B1A7-29724A1B4174}"/>
              </a:ext>
            </a:extLst>
          </p:cNvPr>
          <p:cNvSpPr txBox="1"/>
          <p:nvPr/>
        </p:nvSpPr>
        <p:spPr>
          <a:xfrm>
            <a:off x="619125" y="4794795"/>
            <a:ext cx="4391025" cy="228600"/>
          </a:xfrm>
          <a:prstGeom prst="rect">
            <a:avLst/>
          </a:prstGeom>
          <a:noFill/>
        </p:spPr>
        <p:txBody>
          <a:bodyPr wrap="square" rtlCol="0">
            <a:noAutofit/>
          </a:bodyPr>
          <a:lstStyle/>
          <a:p>
            <a:pPr marL="0" marR="0" algn="l">
              <a:spcBef>
                <a:spcPts val="1200"/>
              </a:spcBef>
              <a:buNone/>
            </a:pPr>
            <a:r>
              <a:rPr sz="1600" b="1" dirty="0">
                <a:solidFill>
                  <a:srgbClr val="105237"/>
                </a:solidFill>
                <a:effectLst/>
                <a:latin typeface="Avenir Next LT Pro" panose="020B0504020202020204" pitchFamily="34" charset="0"/>
              </a:rPr>
              <a:t>Copilot in Teams (with Planner/Loop) </a:t>
            </a:r>
            <a:endParaRPr lang="en-US" sz="1600" dirty="0"/>
          </a:p>
        </p:txBody>
      </p:sp>
      <p:sp>
        <p:nvSpPr>
          <p:cNvPr id="13" name="TextBox 12">
            <a:extLst>
              <a:ext uri="{FF2B5EF4-FFF2-40B4-BE49-F238E27FC236}">
                <a16:creationId xmlns:a16="http://schemas.microsoft.com/office/drawing/2014/main" id="{0F2030B2-CA16-402B-9181-1AE414920108}"/>
              </a:ext>
            </a:extLst>
          </p:cNvPr>
          <p:cNvSpPr txBox="1"/>
          <p:nvPr/>
        </p:nvSpPr>
        <p:spPr>
          <a:xfrm>
            <a:off x="619125" y="5118645"/>
            <a:ext cx="4391025" cy="714375"/>
          </a:xfrm>
          <a:prstGeom prst="rect">
            <a:avLst/>
          </a:prstGeom>
          <a:noFill/>
        </p:spPr>
        <p:txBody>
          <a:bodyPr wrap="square" rtlCol="0">
            <a:normAutofit lnSpcReduction="10000"/>
          </a:bodyPr>
          <a:lstStyle/>
          <a:p>
            <a:pPr marL="0" marR="0" algn="l">
              <a:spcBef>
                <a:spcPts val="750"/>
              </a:spcBef>
              <a:buNone/>
            </a:pPr>
            <a:r>
              <a:rPr sz="1500" b="0">
                <a:solidFill>
                  <a:srgbClr val="105237"/>
                </a:solidFill>
                <a:effectLst/>
                <a:latin typeface="Avenir Next LT Pro" panose="020B0504020202020204" pitchFamily="34" charset="0"/>
              </a:rPr>
              <a:t>Summarize meetings, capture decisions, generate action items, draft follow-ups, and build launch/readiness project plans. </a:t>
            </a:r>
            <a:endParaRPr lang="en-US"/>
          </a:p>
        </p:txBody>
      </p:sp>
    </p:spTree>
    <p:extLst>
      <p:ext uri="{BB962C8B-B14F-4D97-AF65-F5344CB8AC3E}">
        <p14:creationId xmlns:p14="http://schemas.microsoft.com/office/powerpoint/2010/main" val="4028719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C0DCC62-D002-4CE7-8B27-FE921A6D6200}"/>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D98B53AB-80B6-9CA5-EDB6-FB205127F575}"/>
              </a:ext>
            </a:extLst>
          </p:cNvPr>
          <p:cNvSpPr>
            <a:spLocks noGrp="1"/>
          </p:cNvSpPr>
          <p:nvPr>
            <p:ph sz="half" idx="2"/>
          </p:nvPr>
        </p:nvSpPr>
        <p:spPr>
          <a:xfrm>
            <a:off x="619125" y="581025"/>
            <a:ext cx="10972800" cy="658266"/>
          </a:xfrm>
        </p:spPr>
        <p:txBody>
          <a:bodyPr>
            <a:normAutofit fontScale="92500" lnSpcReduction="10000"/>
          </a:bodyPr>
          <a:lstStyle/>
          <a:p>
            <a:pPr marL="0" indent="0" algn="l">
              <a:buNone/>
            </a:pPr>
            <a:r>
              <a:rPr sz="4800" b="1" dirty="0">
                <a:solidFill>
                  <a:srgbClr val="105237"/>
                </a:solidFill>
                <a:effectLst/>
                <a:latin typeface="Avenir Next LT Pro" panose="020B0504020202020204" pitchFamily="34" charset="0"/>
              </a:rPr>
              <a:t>Phased Implementation Roadmap </a:t>
            </a:r>
            <a:endParaRPr lang="en-US" b="1" dirty="0"/>
          </a:p>
        </p:txBody>
      </p:sp>
      <p:sp>
        <p:nvSpPr>
          <p:cNvPr id="6" name="TextBox 5">
            <a:extLst>
              <a:ext uri="{FF2B5EF4-FFF2-40B4-BE49-F238E27FC236}">
                <a16:creationId xmlns:a16="http://schemas.microsoft.com/office/drawing/2014/main" id="{3F57AAC9-04E9-4CE8-9EAC-1B7959BD669B}"/>
              </a:ext>
            </a:extLst>
          </p:cNvPr>
          <p:cNvSpPr txBox="1"/>
          <p:nvPr/>
        </p:nvSpPr>
        <p:spPr>
          <a:xfrm>
            <a:off x="619125" y="2905273"/>
            <a:ext cx="3505200" cy="2277070"/>
          </a:xfrm>
          <a:prstGeom prst="rect">
            <a:avLst/>
          </a:prstGeom>
          <a:noFill/>
        </p:spPr>
        <p:txBody>
          <a:bodyPr wrap="square" rtlCol="0">
            <a:normAutofit lnSpcReduction="10000"/>
          </a:bodyPr>
          <a:lstStyle/>
          <a:p>
            <a:pPr marL="0" algn="l">
              <a:spcAft>
                <a:spcPts val="1500"/>
              </a:spcAft>
              <a:buNone/>
            </a:pPr>
            <a:r>
              <a:rPr sz="5400" b="1">
                <a:solidFill>
                  <a:srgbClr val="105237"/>
                </a:solidFill>
                <a:effectLst/>
                <a:latin typeface="Avenir Next LT Pro" panose="020B0504020202020204" pitchFamily="34" charset="0"/>
              </a:rPr>
              <a:t>01</a:t>
            </a:r>
            <a:r>
              <a:rPr>
                <a:effectLst/>
              </a:rPr>
              <a:t> </a:t>
            </a:r>
          </a:p>
          <a:p>
            <a:pPr marL="0" algn="l">
              <a:spcAft>
                <a:spcPts val="750"/>
              </a:spcAft>
              <a:buNone/>
            </a:pPr>
            <a:r>
              <a:rPr sz="1650" b="1">
                <a:solidFill>
                  <a:srgbClr val="105237"/>
                </a:solidFill>
                <a:effectLst/>
                <a:latin typeface="Avenir Next LT Pro" panose="020B0504020202020204" pitchFamily="34" charset="0"/>
              </a:rPr>
              <a:t>Phase 1: Learn </a:t>
            </a:r>
            <a:endParaRPr>
              <a:effectLst/>
            </a:endParaRPr>
          </a:p>
          <a:p>
            <a:pPr marL="0" algn="l">
              <a:buNone/>
            </a:pPr>
            <a:r>
              <a:rPr sz="1350" b="0">
                <a:solidFill>
                  <a:srgbClr val="105237"/>
                </a:solidFill>
                <a:effectLst/>
                <a:latin typeface="Avenir Next LT Pro" panose="020B0504020202020204" pitchFamily="34" charset="0"/>
              </a:rPr>
              <a:t>Build Copilot fluency and identify high‑value use cases. Share example prompts across PowerPoint, Word, and Teams. Experiment and learn without pressure for perfection. </a:t>
            </a:r>
            <a:endParaRPr lang="en-US"/>
          </a:p>
        </p:txBody>
      </p:sp>
      <p:sp>
        <p:nvSpPr>
          <p:cNvPr id="7" name="TextBox 6">
            <a:extLst>
              <a:ext uri="{FF2B5EF4-FFF2-40B4-BE49-F238E27FC236}">
                <a16:creationId xmlns:a16="http://schemas.microsoft.com/office/drawing/2014/main" id="{2638425D-740E-448B-AE2B-4DBE860B78A0}"/>
              </a:ext>
            </a:extLst>
          </p:cNvPr>
          <p:cNvSpPr txBox="1"/>
          <p:nvPr/>
        </p:nvSpPr>
        <p:spPr>
          <a:xfrm>
            <a:off x="4352925" y="2905273"/>
            <a:ext cx="3505200" cy="2277070"/>
          </a:xfrm>
          <a:prstGeom prst="rect">
            <a:avLst/>
          </a:prstGeom>
          <a:noFill/>
        </p:spPr>
        <p:txBody>
          <a:bodyPr wrap="square" rtlCol="0">
            <a:normAutofit lnSpcReduction="10000"/>
          </a:bodyPr>
          <a:lstStyle/>
          <a:p>
            <a:pPr marL="0" algn="l">
              <a:spcAft>
                <a:spcPts val="1500"/>
              </a:spcAft>
              <a:buNone/>
            </a:pPr>
            <a:r>
              <a:rPr sz="5400" b="1">
                <a:solidFill>
                  <a:srgbClr val="105237"/>
                </a:solidFill>
                <a:effectLst/>
                <a:latin typeface="Avenir Next LT Pro" panose="020B0504020202020204" pitchFamily="34" charset="0"/>
              </a:rPr>
              <a:t>02</a:t>
            </a:r>
            <a:r>
              <a:rPr>
                <a:effectLst/>
              </a:rPr>
              <a:t> </a:t>
            </a:r>
          </a:p>
          <a:p>
            <a:pPr marL="0" algn="l">
              <a:spcAft>
                <a:spcPts val="750"/>
              </a:spcAft>
              <a:buNone/>
            </a:pPr>
            <a:r>
              <a:rPr sz="1650" b="1">
                <a:solidFill>
                  <a:srgbClr val="105237"/>
                </a:solidFill>
                <a:effectLst/>
                <a:latin typeface="Avenir Next LT Pro" panose="020B0504020202020204" pitchFamily="34" charset="0"/>
              </a:rPr>
              <a:t>Phase 2: Apply </a:t>
            </a:r>
            <a:endParaRPr>
              <a:effectLst/>
            </a:endParaRPr>
          </a:p>
          <a:p>
            <a:pPr marL="0" algn="l">
              <a:buNone/>
            </a:pPr>
            <a:r>
              <a:rPr sz="1350" b="0">
                <a:solidFill>
                  <a:srgbClr val="105237"/>
                </a:solidFill>
                <a:effectLst/>
                <a:latin typeface="Avenir Next LT Pro" panose="020B0504020202020204" pitchFamily="34" charset="0"/>
              </a:rPr>
              <a:t>Pilot Copilot on real work (enablement decks, training guides, launch plans). Shape workflows, document best practices, and gather feedback on where human review matters most. </a:t>
            </a:r>
            <a:endParaRPr lang="en-US"/>
          </a:p>
        </p:txBody>
      </p:sp>
      <p:sp>
        <p:nvSpPr>
          <p:cNvPr id="8" name="TextBox 7">
            <a:extLst>
              <a:ext uri="{FF2B5EF4-FFF2-40B4-BE49-F238E27FC236}">
                <a16:creationId xmlns:a16="http://schemas.microsoft.com/office/drawing/2014/main" id="{B923ED15-1BB5-4B89-A282-117ECF19238C}"/>
              </a:ext>
            </a:extLst>
          </p:cNvPr>
          <p:cNvSpPr txBox="1"/>
          <p:nvPr/>
        </p:nvSpPr>
        <p:spPr>
          <a:xfrm>
            <a:off x="8086725" y="2905273"/>
            <a:ext cx="3505200" cy="2277070"/>
          </a:xfrm>
          <a:prstGeom prst="rect">
            <a:avLst/>
          </a:prstGeom>
          <a:noFill/>
        </p:spPr>
        <p:txBody>
          <a:bodyPr wrap="square" rtlCol="0">
            <a:normAutofit lnSpcReduction="10000"/>
          </a:bodyPr>
          <a:lstStyle/>
          <a:p>
            <a:pPr marL="0" algn="l">
              <a:spcAft>
                <a:spcPts val="1500"/>
              </a:spcAft>
              <a:buNone/>
            </a:pPr>
            <a:r>
              <a:rPr sz="5400" b="1">
                <a:solidFill>
                  <a:srgbClr val="105237"/>
                </a:solidFill>
                <a:effectLst/>
                <a:latin typeface="Avenir Next LT Pro" panose="020B0504020202020204" pitchFamily="34" charset="0"/>
              </a:rPr>
              <a:t>03</a:t>
            </a:r>
            <a:r>
              <a:rPr>
                <a:effectLst/>
              </a:rPr>
              <a:t> </a:t>
            </a:r>
          </a:p>
          <a:p>
            <a:pPr marL="0" algn="l">
              <a:spcAft>
                <a:spcPts val="750"/>
              </a:spcAft>
              <a:buNone/>
            </a:pPr>
            <a:r>
              <a:rPr sz="1650" b="1">
                <a:solidFill>
                  <a:srgbClr val="105237"/>
                </a:solidFill>
                <a:effectLst/>
                <a:latin typeface="Avenir Next LT Pro" panose="020B0504020202020204" pitchFamily="34" charset="0"/>
              </a:rPr>
              <a:t>Phase 3: Scale </a:t>
            </a:r>
            <a:endParaRPr>
              <a:effectLst/>
            </a:endParaRPr>
          </a:p>
          <a:p>
            <a:pPr marL="0" algn="l">
              <a:buNone/>
            </a:pPr>
            <a:r>
              <a:rPr sz="1350" b="0">
                <a:solidFill>
                  <a:srgbClr val="105237"/>
                </a:solidFill>
                <a:effectLst/>
                <a:latin typeface="Avenir Next LT Pro" panose="020B0504020202020204" pitchFamily="34" charset="0"/>
              </a:rPr>
              <a:t>Standardize what works with prompt libraries and reusable examples. Share impact with stakeholders. Make Copilot a normal, repeatable part of daily GTM Enablement work. </a:t>
            </a:r>
            <a:endParaRPr lang="en-US"/>
          </a:p>
        </p:txBody>
      </p:sp>
    </p:spTree>
    <p:extLst>
      <p:ext uri="{BB962C8B-B14F-4D97-AF65-F5344CB8AC3E}">
        <p14:creationId xmlns:p14="http://schemas.microsoft.com/office/powerpoint/2010/main" val="2796687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8DDFB6D-4221-48F7-9D87-D97A6A3A3BCD}"/>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11905"/>
            <a:ext cx="12192000" cy="6858000"/>
          </a:xfrm>
          <a:prstGeom prst="rect">
            <a:avLst/>
          </a:prstGeom>
        </p:spPr>
      </p:pic>
      <p:pic>
        <p:nvPicPr>
          <p:cNvPr id="6" name="Content Placeholder 5" descr="Metaverse Social Networks Avatars VR Glasses People &amp; Activities Social Connect Metaverse 3D Illustrations">
            <a:extLst>
              <a:ext uri="{FF2B5EF4-FFF2-40B4-BE49-F238E27FC236}">
                <a16:creationId xmlns:a16="http://schemas.microsoft.com/office/drawing/2014/main" id="{85B848EE-63A0-4008-B23C-6CF327E80CCA}"/>
              </a:ext>
            </a:extLst>
          </p:cNvPr>
          <p:cNvPicPr>
            <a:picLocks noGrp="1" noChangeAspect="1"/>
          </p:cNvPicPr>
          <p:nvPr>
            <p:ph sz="half" idx="2"/>
          </p:nvPr>
        </p:nvPicPr>
        <p:blipFill>
          <a:blip r:embed="rId5"/>
          <a:srcRect r="25263"/>
          <a:stretch>
            <a:fillRect/>
          </a:stretch>
        </p:blipFill>
        <p:spPr>
          <a:xfrm>
            <a:off x="5334000" y="0"/>
            <a:ext cx="6858000" cy="6858000"/>
          </a:xfrm>
          <a:prstGeom prst="rect">
            <a:avLst/>
          </a:prstGeom>
        </p:spPr>
      </p:pic>
      <p:sp>
        <p:nvSpPr>
          <p:cNvPr id="7" name="TextBox 6">
            <a:extLst>
              <a:ext uri="{FF2B5EF4-FFF2-40B4-BE49-F238E27FC236}">
                <a16:creationId xmlns:a16="http://schemas.microsoft.com/office/drawing/2014/main" id="{B8A7DCC7-65B7-407C-A991-A05007412D5F}"/>
              </a:ext>
            </a:extLst>
          </p:cNvPr>
          <p:cNvSpPr txBox="1"/>
          <p:nvPr/>
        </p:nvSpPr>
        <p:spPr>
          <a:xfrm>
            <a:off x="619125" y="581025"/>
            <a:ext cx="4391025" cy="987325"/>
          </a:xfrm>
          <a:prstGeom prst="rect">
            <a:avLst/>
          </a:prstGeom>
          <a:noFill/>
        </p:spPr>
        <p:txBody>
          <a:bodyPr wrap="square" rtlCol="0">
            <a:normAutofit fontScale="92500" lnSpcReduction="20000"/>
          </a:bodyPr>
          <a:lstStyle/>
          <a:p>
            <a:pPr marL="0" algn="l">
              <a:buNone/>
            </a:pPr>
            <a:r>
              <a:rPr sz="3600" b="1" dirty="0">
                <a:solidFill>
                  <a:srgbClr val="105237"/>
                </a:solidFill>
                <a:effectLst/>
                <a:latin typeface="Avenir Next LT Pro" panose="020B0504020202020204" pitchFamily="34" charset="0"/>
              </a:rPr>
              <a:t>Risks &amp; Mitigation Strategies</a:t>
            </a:r>
            <a:r>
              <a:rPr b="1" dirty="0">
                <a:effectLst/>
              </a:rPr>
              <a:t> </a:t>
            </a:r>
            <a:endParaRPr lang="en-US" b="1" dirty="0"/>
          </a:p>
        </p:txBody>
      </p:sp>
      <p:sp>
        <p:nvSpPr>
          <p:cNvPr id="8" name="TextBox 7">
            <a:extLst>
              <a:ext uri="{FF2B5EF4-FFF2-40B4-BE49-F238E27FC236}">
                <a16:creationId xmlns:a16="http://schemas.microsoft.com/office/drawing/2014/main" id="{0B7D9EAC-5BBC-4455-9D84-1636253B74DA}"/>
              </a:ext>
            </a:extLst>
          </p:cNvPr>
          <p:cNvSpPr txBox="1"/>
          <p:nvPr/>
        </p:nvSpPr>
        <p:spPr>
          <a:xfrm>
            <a:off x="619125" y="1816000"/>
            <a:ext cx="4391025" cy="217140"/>
          </a:xfrm>
          <a:prstGeom prst="rect">
            <a:avLst/>
          </a:prstGeom>
          <a:noFill/>
        </p:spPr>
        <p:txBody>
          <a:bodyPr wrap="square" rtlCol="0">
            <a:noAutofit/>
          </a:bodyPr>
          <a:lstStyle/>
          <a:p>
            <a:pPr marL="0" algn="l">
              <a:buNone/>
            </a:pPr>
            <a:r>
              <a:rPr sz="2000" b="1" dirty="0">
                <a:solidFill>
                  <a:srgbClr val="105237"/>
                </a:solidFill>
                <a:effectLst/>
                <a:latin typeface="Avenir Next LT Pro" panose="020B0504020202020204" pitchFamily="34" charset="0"/>
              </a:rPr>
              <a:t>Inaccurate or inconsistent output</a:t>
            </a:r>
            <a:r>
              <a:rPr sz="2000" dirty="0">
                <a:effectLst/>
              </a:rPr>
              <a:t> </a:t>
            </a:r>
            <a:endParaRPr lang="en-US" sz="2000" dirty="0"/>
          </a:p>
        </p:txBody>
      </p:sp>
      <p:sp>
        <p:nvSpPr>
          <p:cNvPr id="9" name="TextBox 8">
            <a:extLst>
              <a:ext uri="{FF2B5EF4-FFF2-40B4-BE49-F238E27FC236}">
                <a16:creationId xmlns:a16="http://schemas.microsoft.com/office/drawing/2014/main" id="{0D2AD375-C08F-4B26-BD23-1C967B3CC1D4}"/>
              </a:ext>
            </a:extLst>
          </p:cNvPr>
          <p:cNvSpPr txBox="1"/>
          <p:nvPr/>
        </p:nvSpPr>
        <p:spPr>
          <a:xfrm>
            <a:off x="619115" y="2337959"/>
            <a:ext cx="4391025" cy="863265"/>
          </a:xfrm>
          <a:prstGeom prst="rect">
            <a:avLst/>
          </a:prstGeom>
          <a:noFill/>
        </p:spPr>
        <p:txBody>
          <a:bodyPr wrap="square" rtlCol="0">
            <a:noAutofit/>
          </a:bodyPr>
          <a:lstStyle/>
          <a:p>
            <a:pPr marL="0" marR="0" algn="l">
              <a:spcBef>
                <a:spcPts val="600"/>
              </a:spcBef>
              <a:buNone/>
            </a:pPr>
            <a:r>
              <a:rPr sz="1600" b="0" dirty="0">
                <a:solidFill>
                  <a:srgbClr val="105237"/>
                </a:solidFill>
                <a:effectLst/>
                <a:latin typeface="Avenir Next LT Pro" panose="020B0504020202020204" pitchFamily="34" charset="0"/>
              </a:rPr>
              <a:t>Mitigate with required human review for all deliverables and shared prompt standards that add context and clarity.</a:t>
            </a:r>
            <a:r>
              <a:rPr sz="1600" dirty="0">
                <a:effectLst/>
              </a:rPr>
              <a:t> </a:t>
            </a:r>
            <a:endParaRPr lang="en-US" sz="1600" dirty="0"/>
          </a:p>
        </p:txBody>
      </p:sp>
      <p:sp>
        <p:nvSpPr>
          <p:cNvPr id="10" name="TextBox 9">
            <a:extLst>
              <a:ext uri="{FF2B5EF4-FFF2-40B4-BE49-F238E27FC236}">
                <a16:creationId xmlns:a16="http://schemas.microsoft.com/office/drawing/2014/main" id="{3D957B09-FD82-4CE9-B830-2BCCCCE69130}"/>
              </a:ext>
            </a:extLst>
          </p:cNvPr>
          <p:cNvSpPr txBox="1"/>
          <p:nvPr/>
        </p:nvSpPr>
        <p:spPr>
          <a:xfrm>
            <a:off x="619116" y="3325650"/>
            <a:ext cx="4391025" cy="404303"/>
          </a:xfrm>
          <a:prstGeom prst="rect">
            <a:avLst/>
          </a:prstGeom>
          <a:noFill/>
        </p:spPr>
        <p:txBody>
          <a:bodyPr wrap="square" rtlCol="0">
            <a:noAutofit/>
          </a:bodyPr>
          <a:lstStyle/>
          <a:p>
            <a:pPr marL="0" marR="0" algn="l">
              <a:spcBef>
                <a:spcPts val="1050"/>
              </a:spcBef>
              <a:buNone/>
            </a:pPr>
            <a:r>
              <a:rPr sz="2000" b="1" dirty="0">
                <a:solidFill>
                  <a:srgbClr val="105237"/>
                </a:solidFill>
                <a:effectLst/>
                <a:latin typeface="Avenir Next LT Pro" panose="020B0504020202020204" pitchFamily="34" charset="0"/>
              </a:rPr>
              <a:t>Over-reliance on AI</a:t>
            </a:r>
            <a:r>
              <a:rPr sz="2000" dirty="0">
                <a:effectLst/>
              </a:rPr>
              <a:t> </a:t>
            </a:r>
            <a:endParaRPr lang="en-US" sz="2000" dirty="0"/>
          </a:p>
        </p:txBody>
      </p:sp>
      <p:sp>
        <p:nvSpPr>
          <p:cNvPr id="11" name="TextBox 10">
            <a:extLst>
              <a:ext uri="{FF2B5EF4-FFF2-40B4-BE49-F238E27FC236}">
                <a16:creationId xmlns:a16="http://schemas.microsoft.com/office/drawing/2014/main" id="{AD28CEE9-4183-4AB0-90E6-9D1B406291D0}"/>
              </a:ext>
            </a:extLst>
          </p:cNvPr>
          <p:cNvSpPr txBox="1"/>
          <p:nvPr/>
        </p:nvSpPr>
        <p:spPr>
          <a:xfrm>
            <a:off x="619117" y="3790440"/>
            <a:ext cx="4391025" cy="863266"/>
          </a:xfrm>
          <a:prstGeom prst="rect">
            <a:avLst/>
          </a:prstGeom>
          <a:noFill/>
        </p:spPr>
        <p:txBody>
          <a:bodyPr wrap="square" rtlCol="0">
            <a:noAutofit/>
          </a:bodyPr>
          <a:lstStyle/>
          <a:p>
            <a:pPr marL="0" marR="0" algn="l">
              <a:spcBef>
                <a:spcPts val="600"/>
              </a:spcBef>
              <a:buNone/>
            </a:pPr>
            <a:r>
              <a:rPr sz="1600" b="0" dirty="0">
                <a:solidFill>
                  <a:srgbClr val="105237"/>
                </a:solidFill>
                <a:effectLst/>
                <a:latin typeface="Avenir Next LT Pro" panose="020B0504020202020204" pitchFamily="34" charset="0"/>
              </a:rPr>
              <a:t>Reinforce Copilot as a drafting and support tool—expert judgment remains the decision-maker.</a:t>
            </a:r>
            <a:r>
              <a:rPr sz="1600" dirty="0">
                <a:effectLst/>
              </a:rPr>
              <a:t> </a:t>
            </a:r>
            <a:endParaRPr lang="en-US" sz="1600" dirty="0"/>
          </a:p>
        </p:txBody>
      </p:sp>
      <p:sp>
        <p:nvSpPr>
          <p:cNvPr id="12" name="TextBox 11">
            <a:extLst>
              <a:ext uri="{FF2B5EF4-FFF2-40B4-BE49-F238E27FC236}">
                <a16:creationId xmlns:a16="http://schemas.microsoft.com/office/drawing/2014/main" id="{256FB7DA-089B-45B8-A78E-4B0393EDC865}"/>
              </a:ext>
            </a:extLst>
          </p:cNvPr>
          <p:cNvSpPr txBox="1"/>
          <p:nvPr/>
        </p:nvSpPr>
        <p:spPr>
          <a:xfrm>
            <a:off x="619118" y="4838891"/>
            <a:ext cx="4391025" cy="863266"/>
          </a:xfrm>
          <a:prstGeom prst="rect">
            <a:avLst/>
          </a:prstGeom>
          <a:noFill/>
        </p:spPr>
        <p:txBody>
          <a:bodyPr wrap="square" rtlCol="0">
            <a:noAutofit/>
          </a:bodyPr>
          <a:lstStyle/>
          <a:p>
            <a:pPr marL="0" marR="0" algn="l">
              <a:spcBef>
                <a:spcPts val="1050"/>
              </a:spcBef>
              <a:buNone/>
            </a:pPr>
            <a:r>
              <a:rPr sz="2000" b="1" dirty="0">
                <a:solidFill>
                  <a:srgbClr val="105237"/>
                </a:solidFill>
                <a:effectLst/>
                <a:latin typeface="Avenir Next LT Pro" panose="020B0504020202020204" pitchFamily="34" charset="0"/>
              </a:rPr>
              <a:t>Data sensitivity &amp; uneven adoption</a:t>
            </a:r>
            <a:r>
              <a:rPr sz="2000" dirty="0">
                <a:effectLst/>
              </a:rPr>
              <a:t> </a:t>
            </a:r>
            <a:endParaRPr lang="en-US" sz="2000" dirty="0"/>
          </a:p>
        </p:txBody>
      </p:sp>
      <p:sp>
        <p:nvSpPr>
          <p:cNvPr id="13" name="TextBox 12">
            <a:extLst>
              <a:ext uri="{FF2B5EF4-FFF2-40B4-BE49-F238E27FC236}">
                <a16:creationId xmlns:a16="http://schemas.microsoft.com/office/drawing/2014/main" id="{6E68CB10-28B6-43F4-BEAB-3671DEA43A87}"/>
              </a:ext>
            </a:extLst>
          </p:cNvPr>
          <p:cNvSpPr txBox="1"/>
          <p:nvPr/>
        </p:nvSpPr>
        <p:spPr>
          <a:xfrm>
            <a:off x="619119" y="5552856"/>
            <a:ext cx="4391025" cy="1136293"/>
          </a:xfrm>
          <a:prstGeom prst="rect">
            <a:avLst/>
          </a:prstGeom>
          <a:noFill/>
        </p:spPr>
        <p:txBody>
          <a:bodyPr wrap="square" rtlCol="0">
            <a:noAutofit/>
          </a:bodyPr>
          <a:lstStyle/>
          <a:p>
            <a:pPr marL="0" marR="0" algn="l">
              <a:spcBef>
                <a:spcPts val="600"/>
              </a:spcBef>
              <a:buNone/>
            </a:pPr>
            <a:r>
              <a:rPr sz="1600" b="0" dirty="0">
                <a:solidFill>
                  <a:srgbClr val="105237"/>
                </a:solidFill>
                <a:effectLst/>
                <a:latin typeface="Avenir Next LT Pro" panose="020B0504020202020204" pitchFamily="34" charset="0"/>
              </a:rPr>
              <a:t>Use Microsoft-approved tools in secure environments, follow data guidelines, and drive change with clear comms, examples, and leadership support.</a:t>
            </a:r>
            <a:r>
              <a:rPr sz="1600" dirty="0">
                <a:effectLst/>
              </a:rPr>
              <a:t> </a:t>
            </a:r>
            <a:endParaRPr lang="en-US" sz="1600" dirty="0"/>
          </a:p>
        </p:txBody>
      </p:sp>
    </p:spTree>
    <p:extLst>
      <p:ext uri="{BB962C8B-B14F-4D97-AF65-F5344CB8AC3E}">
        <p14:creationId xmlns:p14="http://schemas.microsoft.com/office/powerpoint/2010/main" val="17817852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5BCBEA3-AC25-4866-A812-825994D53785}"/>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CAC6FA80-1752-695D-2C52-3D4657926B5A}"/>
              </a:ext>
            </a:extLst>
          </p:cNvPr>
          <p:cNvSpPr>
            <a:spLocks noGrp="1"/>
          </p:cNvSpPr>
          <p:nvPr>
            <p:ph sz="half" idx="2"/>
          </p:nvPr>
        </p:nvSpPr>
        <p:spPr>
          <a:xfrm>
            <a:off x="619125" y="619125"/>
            <a:ext cx="12172950" cy="502890"/>
          </a:xfrm>
        </p:spPr>
        <p:txBody>
          <a:bodyPr>
            <a:normAutofit fontScale="92500" lnSpcReduction="10000"/>
          </a:bodyPr>
          <a:lstStyle/>
          <a:p>
            <a:pPr marL="0" marR="0" indent="0" algn="l">
              <a:buNone/>
            </a:pPr>
            <a:r>
              <a:rPr sz="3600" b="1">
                <a:solidFill>
                  <a:srgbClr val="105237"/>
                </a:solidFill>
                <a:effectLst/>
                <a:latin typeface="Avenir Next LT Pro" panose="020B0504020202020204" pitchFamily="34" charset="0"/>
              </a:rPr>
              <a:t>Measuring Success and Impact </a:t>
            </a:r>
            <a:endParaRPr lang="en-US"/>
          </a:p>
        </p:txBody>
      </p:sp>
      <p:sp>
        <p:nvSpPr>
          <p:cNvPr id="6" name="TextBox 5">
            <a:extLst>
              <a:ext uri="{FF2B5EF4-FFF2-40B4-BE49-F238E27FC236}">
                <a16:creationId xmlns:a16="http://schemas.microsoft.com/office/drawing/2014/main" id="{8CDF293E-0D69-42D0-981F-2CBDA15A79BE}"/>
              </a:ext>
            </a:extLst>
          </p:cNvPr>
          <p:cNvSpPr txBox="1"/>
          <p:nvPr/>
        </p:nvSpPr>
        <p:spPr>
          <a:xfrm>
            <a:off x="619125" y="1933575"/>
            <a:ext cx="11316201" cy="4563478"/>
          </a:xfrm>
          <a:prstGeom prst="rect">
            <a:avLst/>
          </a:prstGeom>
          <a:noFill/>
        </p:spPr>
        <p:txBody>
          <a:bodyPr wrap="square" rtlCol="0">
            <a:normAutofit/>
          </a:bodyPr>
          <a:lstStyle/>
          <a:p>
            <a:pPr marL="0" marR="0" algn="l">
              <a:spcBef>
                <a:spcPts val="1350"/>
              </a:spcBef>
              <a:buNone/>
            </a:pPr>
            <a:r>
              <a:rPr sz="2000" b="1" dirty="0">
                <a:solidFill>
                  <a:srgbClr val="105237"/>
                </a:solidFill>
                <a:effectLst/>
                <a:latin typeface="Avenir Next LT Pro" panose="020B0504020202020204" pitchFamily="34" charset="0"/>
              </a:rPr>
              <a:t>Quantitative metrics (efficiency and scale) </a:t>
            </a:r>
            <a:endParaRPr sz="2000" dirty="0">
              <a:effectLst/>
            </a:endParaRPr>
          </a:p>
          <a:p>
            <a:pPr marL="0" marR="0" algn="l">
              <a:spcBef>
                <a:spcPts val="450"/>
              </a:spcBef>
              <a:buNone/>
            </a:pPr>
            <a:r>
              <a:rPr sz="1350" b="0" dirty="0">
                <a:solidFill>
                  <a:srgbClr val="105237"/>
                </a:solidFill>
                <a:effectLst/>
                <a:latin typeface="Avenir Next LT Pro" panose="020B0504020202020204" pitchFamily="34" charset="0"/>
              </a:rPr>
              <a:t>Track time saved per enablement asset, faster delivery timelines, reduction in rework, and higher throughput without additional headcount to prove operational efficiency and scalability. </a:t>
            </a:r>
            <a:endParaRPr dirty="0">
              <a:effectLst/>
            </a:endParaRPr>
          </a:p>
          <a:p>
            <a:pPr marL="0" marR="0" algn="l">
              <a:spcBef>
                <a:spcPts val="1350"/>
              </a:spcBef>
              <a:buNone/>
            </a:pPr>
            <a:r>
              <a:rPr sz="2000" b="1" dirty="0">
                <a:solidFill>
                  <a:srgbClr val="105237"/>
                </a:solidFill>
                <a:effectLst/>
                <a:latin typeface="Avenir Next LT Pro" panose="020B0504020202020204" pitchFamily="34" charset="0"/>
              </a:rPr>
              <a:t>Qualitative metrics (confidence and quality) </a:t>
            </a:r>
            <a:endParaRPr sz="2000" dirty="0">
              <a:effectLst/>
            </a:endParaRPr>
          </a:p>
          <a:p>
            <a:pPr marL="0" marR="0" algn="l">
              <a:spcBef>
                <a:spcPts val="450"/>
              </a:spcBef>
              <a:buNone/>
            </a:pPr>
            <a:r>
              <a:rPr sz="1350" b="0" dirty="0">
                <a:solidFill>
                  <a:srgbClr val="105237"/>
                </a:solidFill>
                <a:effectLst/>
                <a:latin typeface="Avenir Next LT Pro" panose="020B0504020202020204" pitchFamily="34" charset="0"/>
              </a:rPr>
              <a:t>Measure team confidence using Copilot, perceived quality of deliverables, and stakeholder satisfaction. Feedback from sales, partners, and leaders indicates whether AI-supported content is clearer, more consistent, and more effective. </a:t>
            </a:r>
            <a:endParaRPr dirty="0">
              <a:effectLst/>
            </a:endParaRPr>
          </a:p>
          <a:p>
            <a:pPr marL="0" marR="0" algn="l">
              <a:spcBef>
                <a:spcPts val="1350"/>
              </a:spcBef>
              <a:buNone/>
            </a:pPr>
            <a:r>
              <a:rPr sz="2000" b="1" dirty="0">
                <a:solidFill>
                  <a:srgbClr val="105237"/>
                </a:solidFill>
                <a:effectLst/>
                <a:latin typeface="Avenir Next LT Pro" panose="020B0504020202020204" pitchFamily="34" charset="0"/>
              </a:rPr>
              <a:t>Adoption maturity (repeatable ways of working) </a:t>
            </a:r>
            <a:endParaRPr sz="2000" dirty="0">
              <a:effectLst/>
            </a:endParaRPr>
          </a:p>
          <a:p>
            <a:pPr marL="0" marR="0" algn="l">
              <a:spcBef>
                <a:spcPts val="450"/>
              </a:spcBef>
              <a:buNone/>
            </a:pPr>
            <a:r>
              <a:rPr sz="1350" b="0" dirty="0">
                <a:solidFill>
                  <a:srgbClr val="105237"/>
                </a:solidFill>
                <a:effectLst/>
                <a:latin typeface="Avenir Next LT Pro" panose="020B0504020202020204" pitchFamily="34" charset="0"/>
              </a:rPr>
              <a:t>Monitor the number of projects using standardized Copilot workflows and the reuse of documented prompts and best practices as signals of consistent, responsible adoption. </a:t>
            </a:r>
            <a:endParaRPr dirty="0">
              <a:effectLst/>
            </a:endParaRPr>
          </a:p>
          <a:p>
            <a:pPr marL="0" marR="0" algn="l">
              <a:spcBef>
                <a:spcPts val="1350"/>
              </a:spcBef>
              <a:buNone/>
            </a:pPr>
            <a:r>
              <a:rPr sz="2000" b="1" dirty="0">
                <a:solidFill>
                  <a:srgbClr val="105237"/>
                </a:solidFill>
                <a:effectLst/>
                <a:latin typeface="Avenir Next LT Pro" panose="020B0504020202020204" pitchFamily="34" charset="0"/>
              </a:rPr>
              <a:t>Strategic lift (capacity for higher-value work) </a:t>
            </a:r>
            <a:endParaRPr sz="2000" dirty="0">
              <a:effectLst/>
            </a:endParaRPr>
          </a:p>
          <a:p>
            <a:pPr marL="0" marR="0" algn="l">
              <a:spcBef>
                <a:spcPts val="450"/>
              </a:spcBef>
              <a:buNone/>
            </a:pPr>
            <a:r>
              <a:rPr sz="1350" b="0" dirty="0">
                <a:solidFill>
                  <a:srgbClr val="105237"/>
                </a:solidFill>
                <a:effectLst/>
                <a:latin typeface="Avenir Next LT Pro" panose="020B0504020202020204" pitchFamily="34" charset="0"/>
              </a:rPr>
              <a:t>Over time, success shows up in the team’s ability to shift focus toward learning experience design, measurement, and continuous improvement—demonstrating durable value as tools and needs evolve. </a:t>
            </a:r>
            <a:endParaRPr lang="en-US" dirty="0"/>
          </a:p>
        </p:txBody>
      </p:sp>
    </p:spTree>
    <p:extLst>
      <p:ext uri="{BB962C8B-B14F-4D97-AF65-F5344CB8AC3E}">
        <p14:creationId xmlns:p14="http://schemas.microsoft.com/office/powerpoint/2010/main" val="371967337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75B9CB64CD7C47B41F746646547B33" ma:contentTypeVersion="12" ma:contentTypeDescription="Create a new document." ma:contentTypeScope="" ma:versionID="51354516d3b672ae0d8b9a3f2710c302">
  <xsd:schema xmlns:xsd="http://www.w3.org/2001/XMLSchema" xmlns:xs="http://www.w3.org/2001/XMLSchema" xmlns:p="http://schemas.microsoft.com/office/2006/metadata/properties" xmlns:ns2="69c7e17f-4e9e-430d-90e0-3ef93dcbdb44" xmlns:ns3="17d28f16-eb5e-4587-81e0-682ed581eef1" targetNamespace="http://schemas.microsoft.com/office/2006/metadata/properties" ma:root="true" ma:fieldsID="cf335e2618e06b79f2f12a08e2dd74ae" ns2:_="" ns3:_="">
    <xsd:import namespace="69c7e17f-4e9e-430d-90e0-3ef93dcbdb44"/>
    <xsd:import namespace="17d28f16-eb5e-4587-81e0-682ed581eef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9c7e17f-4e9e-430d-90e0-3ef93dcbdb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5ebeb2d-667f-43bd-86ca-2a4d877a177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7d28f16-eb5e-4587-81e0-682ed581eef1"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57522ba-6265-4042-bbfc-6e697f6f1b5b}" ma:internalName="TaxCatchAll" ma:showField="CatchAllData" ma:web="17d28f16-eb5e-4587-81e0-682ed581eef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17d28f16-eb5e-4587-81e0-682ed581eef1" xsi:nil="true"/>
    <lcf76f155ced4ddcb4097134ff3c332f xmlns="69c7e17f-4e9e-430d-90e0-3ef93dcbdb44">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49EE183-C610-4E65-BC1B-80234C856319}"/>
</file>

<file path=customXml/itemProps2.xml><?xml version="1.0" encoding="utf-8"?>
<ds:datastoreItem xmlns:ds="http://schemas.openxmlformats.org/officeDocument/2006/customXml" ds:itemID="{9E0873D0-99BB-40E8-9766-2E3034D2919F}"/>
</file>

<file path=customXml/itemProps3.xml><?xml version="1.0" encoding="utf-8"?>
<ds:datastoreItem xmlns:ds="http://schemas.openxmlformats.org/officeDocument/2006/customXml" ds:itemID="{232DDEFB-1BAD-44A7-BCFA-D8BD880A2168}"/>
</file>

<file path=docMetadata/LabelInfo.xml><?xml version="1.0" encoding="utf-8"?>
<clbl:labelList xmlns:clbl="http://schemas.microsoft.com/office/2020/mipLabelMetadata">
  <clbl:label id="{20bd2185-7f4f-483c-8403-3480aaa4171f}" enabled="1" method="Standard" siteId="{72adb271-2fc7-4afe-a5ee-9de6a59f6bfb}" contentBits="0" removed="0"/>
</clbl:labelList>
</file>

<file path=docProps/app.xml><?xml version="1.0" encoding="utf-8"?>
<Properties xmlns="http://schemas.openxmlformats.org/officeDocument/2006/extended-properties" xmlns:vt="http://schemas.openxmlformats.org/officeDocument/2006/docPropsVTypes">
  <TotalTime>1</TotalTime>
  <Words>2315</Words>
  <Application>Microsoft Office PowerPoint</Application>
  <PresentationFormat>Widescreen</PresentationFormat>
  <Paragraphs>69</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Avenir Next LT Pro</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chood1@equinix.com</dc:creator>
  <cp:lastModifiedBy>Calley Hood</cp:lastModifiedBy>
  <cp:revision>1</cp:revision>
  <dcterms:modified xsi:type="dcterms:W3CDTF">2026-04-03T17:05:29Z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0x0101001275B9CB64CD7C47B41F746646547B33</vt:lpwstr>
  </property>
  <property fmtid="{D5CDD505-2E9C-101B-9397-08002B2CF9AE}" pid="3" name="MediaServiceImageTags">
    <vt:lpwstr/>
  </property>
</Properties>
</file>