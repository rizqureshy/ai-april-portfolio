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C43A1F-60CE-447B-82D5-0F86E3FF4809}" type="datetimeFigureOut"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451D4-3E31-4A39-A006-58077458DE5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50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6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192024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4480560"/>
            <a:ext cx="6217920" cy="662940"/>
          </a:xfrm>
          <a:prstGeom prst="rect">
            <a:avLst/>
          </a:prstGeom>
          <a:solidFill>
            <a:srgbClr val="152038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0" y="4572000"/>
            <a:ext cx="6217920" cy="68580"/>
          </a:xfrm>
          <a:prstGeom prst="rect">
            <a:avLst/>
          </a:prstGeom>
          <a:solidFill>
            <a:srgbClr val="E8A02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29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 rot="16200000">
            <a:off x="-14173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ENABLEMENT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00400" y="10058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2026 Strategy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3200400" y="45720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D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Enablement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00400" y="196596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Content Delivery to Initiative Landing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00400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Eamonn Ward</a:t>
            </a:r>
            <a:r>
              <a:rPr lang="en-US" sz="12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Global VP, GTM Enablement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Equinix  ·  Q3–Q4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Mandate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4572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that defines GTM Enablement in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069080" cy="3383280"/>
          </a:xfrm>
          <a:prstGeom prst="rect">
            <a:avLst/>
          </a:prstGeom>
          <a:solidFill>
            <a:srgbClr val="1E2D4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91440" cy="338328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“GTM Enablement exists to land strategic initiatives — not deliver content.”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to the </a:t>
            </a: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Operating System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measurable GTM performance at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Eamonn Ward, Global VP GTM Enablement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69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73152" cy="960120"/>
          </a:xfrm>
          <a:prstGeom prst="rect">
            <a:avLst/>
          </a:prstGeom>
          <a:solidFill>
            <a:srgbClr val="0D7F8C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216152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257800" y="1069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Partners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257800" y="138074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 Sherwood — field alignment &amp; interlock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2057400"/>
            <a:ext cx="4069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2057400"/>
            <a:ext cx="73152" cy="960120"/>
          </a:xfrm>
          <a:prstGeom prst="rect">
            <a:avLst/>
          </a:prstGeom>
          <a:solidFill>
            <a:srgbClr val="0D7F8C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313432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57800" y="2167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257800" y="247802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Mazzucco — learning design &amp; execution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663440" y="3154680"/>
            <a:ext cx="4069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63440" y="3154680"/>
            <a:ext cx="73152" cy="960120"/>
          </a:xfrm>
          <a:prstGeom prst="rect">
            <a:avLst/>
          </a:prstGeom>
          <a:solidFill>
            <a:srgbClr val="0D7F8C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410712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57800" y="32644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 Services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257800" y="357530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Kelly Grover — AI, comms &amp; delivery ops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11480" y="46634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Three-team organisation | Joy Parrish (EA) | Andy Peoples (ComSol)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Measured 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4572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Enablement maps directly to business outcomes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6060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2606040" cy="64008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7043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per AE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Target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82112" y="1005840"/>
            <a:ext cx="26060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1005840"/>
            <a:ext cx="2606040" cy="64008"/>
          </a:xfrm>
          <a:prstGeom prst="rect">
            <a:avLst/>
          </a:prstGeom>
          <a:solidFill>
            <a:srgbClr val="1E2D4E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117043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73552" y="1737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Attach 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52744" y="1005840"/>
            <a:ext cx="26060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52744" y="1005840"/>
            <a:ext cx="2606040" cy="64008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15" name="Text 13"/>
          <p:cNvSpPr/>
          <p:nvPr/>
        </p:nvSpPr>
        <p:spPr>
          <a:xfrm>
            <a:off x="5952744" y="117043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44184" y="1737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Dollar Retention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496312"/>
            <a:ext cx="26060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496312"/>
            <a:ext cx="2606040" cy="64008"/>
          </a:xfrm>
          <a:prstGeom prst="rect">
            <a:avLst/>
          </a:prstGeom>
          <a:solidFill>
            <a:srgbClr val="1E2D4E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66090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days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02920" y="32278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Book-to-Bill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Target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82112" y="2496312"/>
            <a:ext cx="26060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2496312"/>
            <a:ext cx="2606040" cy="64008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23" name="Text 21"/>
          <p:cNvSpPr/>
          <p:nvPr/>
        </p:nvSpPr>
        <p:spPr>
          <a:xfrm>
            <a:off x="3182112" y="266090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73552" y="32278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Accreditation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52744" y="2496312"/>
            <a:ext cx="26060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52744" y="2496312"/>
            <a:ext cx="2606040" cy="64008"/>
          </a:xfrm>
          <a:prstGeom prst="rect">
            <a:avLst/>
          </a:prstGeom>
          <a:solidFill>
            <a:srgbClr val="1E2D4E"/>
          </a:solidFill>
          <a:ln/>
        </p:spPr>
      </p:sp>
      <p:sp>
        <p:nvSpPr>
          <p:cNvPr id="27" name="Text 25"/>
          <p:cNvSpPr/>
          <p:nvPr/>
        </p:nvSpPr>
        <p:spPr>
          <a:xfrm>
            <a:off x="5952744" y="266090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4.2+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044184" y="32278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Score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Events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6634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leading indicators: Forecast accuracy 10% WK4 / 5% WK10  ·  Deal cycle acceleration 10%+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Strategic Priorities — H2 2026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4572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960120"/>
            <a:ext cx="406908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4069080" cy="64008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" y="1106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111556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8813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Learning Paths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9496" y="1508760"/>
            <a:ext cx="3813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role-specific learning paths + annual kickoff (Connect26 / SOAR / Ignite). Structured progression from onboarding to mastery.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17720" y="960120"/>
            <a:ext cx="406908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960120"/>
            <a:ext cx="4069080" cy="64008"/>
          </a:xfrm>
          <a:prstGeom prst="rect">
            <a:avLst/>
          </a:prstGeom>
          <a:solidFill>
            <a:srgbClr val="1E2D4E"/>
          </a:solidFill>
          <a:ln/>
        </p:spPr>
      </p:sp>
      <p:sp>
        <p:nvSpPr>
          <p:cNvPr id="12" name="Text 9"/>
          <p:cNvSpPr/>
          <p:nvPr/>
        </p:nvSpPr>
        <p:spPr>
          <a:xfrm>
            <a:off x="4745736" y="1106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11556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108813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Partner Enablement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45736" y="1508760"/>
            <a:ext cx="3813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onboarding through the EDGE operating system. Deliver partner enablement at scale with clear accreditation gates.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11480" y="2788920"/>
            <a:ext cx="406908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2788920"/>
            <a:ext cx="4069080" cy="64008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18" name="Text 14"/>
          <p:cNvSpPr/>
          <p:nvPr/>
        </p:nvSpPr>
        <p:spPr>
          <a:xfrm>
            <a:off x="539496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294436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91693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Play Execution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9496" y="3337560"/>
            <a:ext cx="3813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GTM sales play adoption and GTST technical proficiency (L200/L300). Field-tested plays co-created with frontline teams.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617720" y="2788920"/>
            <a:ext cx="406908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17720" y="2788920"/>
            <a:ext cx="4069080" cy="64008"/>
          </a:xfrm>
          <a:prstGeom prst="rect">
            <a:avLst/>
          </a:prstGeom>
          <a:solidFill>
            <a:srgbClr val="1E2D4E"/>
          </a:solidFill>
          <a:ln/>
        </p:spPr>
      </p:sp>
      <p:sp>
        <p:nvSpPr>
          <p:cNvPr id="24" name="Text 19"/>
          <p:cNvSpPr/>
          <p:nvPr/>
        </p:nvSpPr>
        <p:spPr>
          <a:xfrm>
            <a:off x="4745736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2" y="2944368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57800" y="291693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Change Enablement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745736" y="3337560"/>
            <a:ext cx="3813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major GTM initiatives: LTC (go-live April 13), B2B, CRM, and CAPI. Structured change enablement with interlock templates.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Academy — H2 Hero Initiative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4572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ad-hoc learning to a structured, tiered development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63347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2633472" cy="50292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978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1208" y="116128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Excellence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16276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selling mastery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21305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MEDDPICC / SPIN / Challenger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26334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play execution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" y="31363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attach proficiency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27832" y="960120"/>
            <a:ext cx="263347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960120"/>
            <a:ext cx="2633472" cy="502920"/>
          </a:xfrm>
          <a:prstGeom prst="rect">
            <a:avLst/>
          </a:prstGeom>
          <a:solidFill>
            <a:srgbClr val="1E2D4E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978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116128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FLM Readiness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92424" y="16276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Front-line manager coaching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92424" y="21305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forecast discipline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92424" y="26334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rhythms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92424" y="31363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operating cadences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44184" y="960120"/>
            <a:ext cx="263347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44184" y="960120"/>
            <a:ext cx="2633472" cy="5029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3" name="Text 21"/>
          <p:cNvSpPr/>
          <p:nvPr/>
        </p:nvSpPr>
        <p:spPr>
          <a:xfrm>
            <a:off x="6153912" y="978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53912" y="116128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Second-Line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Dev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08776" y="16276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leadership skills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08776" y="21305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influence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08776" y="26334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enablement leadership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08776" y="31363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advisory capability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572000"/>
            <a:ext cx="8321040" cy="320040"/>
          </a:xfrm>
          <a:prstGeom prst="rect">
            <a:avLst/>
          </a:prstGeom>
          <a:solidFill>
            <a:srgbClr val="1E2D4E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" y="459028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Foundation design + exec sign-off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971800" y="4572000"/>
            <a:ext cx="27432" cy="320040"/>
          </a:xfrm>
          <a:prstGeom prst="rect">
            <a:avLst/>
          </a:prstGeom>
          <a:solidFill>
            <a:srgbClr val="2A3D52"/>
          </a:solidFill>
          <a:ln/>
        </p:spPr>
      </p:sp>
      <p:sp>
        <p:nvSpPr>
          <p:cNvPr id="32" name="Text 30"/>
          <p:cNvSpPr/>
          <p:nvPr/>
        </p:nvSpPr>
        <p:spPr>
          <a:xfrm>
            <a:off x="3044952" y="459028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Launch FLM, senior leaders + new onboarding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63640" y="4572000"/>
            <a:ext cx="27432" cy="320040"/>
          </a:xfrm>
          <a:prstGeom prst="rect">
            <a:avLst/>
          </a:prstGeom>
          <a:solidFill>
            <a:srgbClr val="2A3D52"/>
          </a:solidFill>
          <a:ln/>
        </p:spPr>
      </p:sp>
      <p:sp>
        <p:nvSpPr>
          <p:cNvPr id="34" name="Text 32"/>
          <p:cNvSpPr/>
          <p:nvPr/>
        </p:nvSpPr>
        <p:spPr>
          <a:xfrm>
            <a:off x="6336792" y="459028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Customer-facing role academy for Connect27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 Operating Model — EDGE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4572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that ties strategy to field execution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15768" y="2377440"/>
            <a:ext cx="713232" cy="54864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6" name="Shape 4"/>
          <p:cNvSpPr/>
          <p:nvPr/>
        </p:nvSpPr>
        <p:spPr>
          <a:xfrm>
            <a:off x="5733288" y="2377440"/>
            <a:ext cx="713232" cy="54864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7" name="Text 5"/>
          <p:cNvSpPr/>
          <p:nvPr/>
        </p:nvSpPr>
        <p:spPr>
          <a:xfrm>
            <a:off x="324612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6364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22860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1488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1208" y="272491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Priorities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1208" y="3182112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LTC · B2B · CRM · CAPI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29000" y="1508760"/>
            <a:ext cx="2286000" cy="2103120"/>
          </a:xfrm>
          <a:prstGeom prst="rect">
            <a:avLst/>
          </a:prstGeom>
          <a:solidFill>
            <a:srgbClr val="1E2D4E"/>
          </a:solidFill>
          <a:ln w="19050">
            <a:solidFill>
              <a:srgbClr val="0D7F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7373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38728" y="231343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38728" y="2770632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Enablement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46520" y="1920240"/>
            <a:ext cx="22860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214884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56248" y="272491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Performance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556248" y="3182112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Productivity · NDR · IC Attach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11480" y="3977640"/>
            <a:ext cx="1993392" cy="868680"/>
          </a:xfrm>
          <a:prstGeom prst="rect">
            <a:avLst/>
          </a:prstGeom>
          <a:solidFill>
            <a:srgbClr val="0D7F8C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411480" y="40416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84632" y="431596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Sprint-based delivery against GTM milestones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2542032" y="3977640"/>
            <a:ext cx="1993392" cy="868680"/>
          </a:xfrm>
          <a:prstGeom prst="rect">
            <a:avLst/>
          </a:prstGeom>
          <a:solidFill>
            <a:srgbClr val="0D7F8C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2542032" y="40416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2615184" y="431596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Field-led, co-created plays that stick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672584" y="3977640"/>
            <a:ext cx="1993392" cy="868680"/>
          </a:xfrm>
          <a:prstGeom prst="rect">
            <a:avLst/>
          </a:prstGeom>
          <a:solidFill>
            <a:srgbClr val="0D7F8C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4672584" y="40416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745736" y="431596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Interlock, accreditation &amp; forecast gates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803136" y="3977640"/>
            <a:ext cx="1993392" cy="868680"/>
          </a:xfrm>
          <a:prstGeom prst="rect">
            <a:avLst/>
          </a:prstGeom>
          <a:solidFill>
            <a:srgbClr val="0D7F8C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6803136" y="40416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876288" y="431596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Role-based, outcome-anchored learning paths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Initiatives — H2 2026 Roadmap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4572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960120"/>
            <a:ext cx="2633472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2633472" cy="56692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" y="9875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042416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" y="1664208"/>
            <a:ext cx="54864" cy="32004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166420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Academy design + exec sign-off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" y="2322576"/>
            <a:ext cx="54864" cy="32004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2322576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ICSS Bootcamp (April 27 – Day Zero)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" y="2980944"/>
            <a:ext cx="54864" cy="32004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" y="298094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WS4 Value Engineering milestones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" y="3639312"/>
            <a:ext cx="54864" cy="32004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363931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LTC go-live (April 13)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9544" y="960120"/>
            <a:ext cx="2633472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9544" y="960120"/>
            <a:ext cx="2633472" cy="566928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9875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49624" y="1042416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74136" y="1664208"/>
            <a:ext cx="54864" cy="32004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166420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Academy: FLM + senior leader programs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74136" y="2322576"/>
            <a:ext cx="54864" cy="32004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2322576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onboarding through EDGE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74136" y="2980944"/>
            <a:ext cx="54864" cy="32004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298094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Manager in-person event (June 9–11)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74136" y="3639312"/>
            <a:ext cx="54864" cy="32004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63931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Rosslare–Bilbao offsite / remote working rhythm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07608" y="960120"/>
            <a:ext cx="2633472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07608" y="960120"/>
            <a:ext cx="2633472" cy="566928"/>
          </a:xfrm>
          <a:prstGeom prst="rect">
            <a:avLst/>
          </a:prstGeom>
          <a:solidFill>
            <a:srgbClr val="1E2D4E"/>
          </a:solidFill>
          <a:ln/>
        </p:spPr>
      </p:sp>
      <p:sp>
        <p:nvSpPr>
          <p:cNvPr id="30" name="Text 28"/>
          <p:cNvSpPr/>
          <p:nvPr/>
        </p:nvSpPr>
        <p:spPr>
          <a:xfrm>
            <a:off x="6135624" y="9875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647688" y="1042416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72200" y="1664208"/>
            <a:ext cx="54864" cy="320040"/>
          </a:xfrm>
          <a:prstGeom prst="rect">
            <a:avLst/>
          </a:prstGeom>
          <a:solidFill>
            <a:srgbClr val="1E2D4E"/>
          </a:solidFill>
          <a:ln/>
        </p:spPr>
      </p:sp>
      <p:sp>
        <p:nvSpPr>
          <p:cNvPr id="33" name="Text 31"/>
          <p:cNvSpPr/>
          <p:nvPr/>
        </p:nvSpPr>
        <p:spPr>
          <a:xfrm>
            <a:off x="6318504" y="166420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role academy (Connect27 prep)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322576"/>
            <a:ext cx="54864" cy="320040"/>
          </a:xfrm>
          <a:prstGeom prst="rect">
            <a:avLst/>
          </a:prstGeom>
          <a:solidFill>
            <a:srgbClr val="1E2D4E"/>
          </a:solidFill>
          <a:ln/>
        </p:spPr>
      </p:sp>
      <p:sp>
        <p:nvSpPr>
          <p:cNvPr id="35" name="Text 33"/>
          <p:cNvSpPr/>
          <p:nvPr/>
        </p:nvSpPr>
        <p:spPr>
          <a:xfrm>
            <a:off x="6318504" y="2322576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advisory services build-out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2980944"/>
            <a:ext cx="54864" cy="320040"/>
          </a:xfrm>
          <a:prstGeom prst="rect">
            <a:avLst/>
          </a:prstGeom>
          <a:solidFill>
            <a:srgbClr val="1E2D4E"/>
          </a:solidFill>
          <a:ln/>
        </p:spPr>
      </p:sp>
      <p:sp>
        <p:nvSpPr>
          <p:cNvPr id="37" name="Text 35"/>
          <p:cNvSpPr/>
          <p:nvPr/>
        </p:nvSpPr>
        <p:spPr>
          <a:xfrm>
            <a:off x="6318504" y="298094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incident management process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3639312"/>
            <a:ext cx="54864" cy="320040"/>
          </a:xfrm>
          <a:prstGeom prst="rect">
            <a:avLst/>
          </a:prstGeom>
          <a:solidFill>
            <a:srgbClr val="1E2D4E"/>
          </a:solidFill>
          <a:ln/>
        </p:spPr>
      </p:sp>
      <p:sp>
        <p:nvSpPr>
          <p:cNvPr id="39" name="Text 37"/>
          <p:cNvSpPr/>
          <p:nvPr/>
        </p:nvSpPr>
        <p:spPr>
          <a:xfrm>
            <a:off x="6318504" y="363931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planning &amp; Connect27 kickoff design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Partnerships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4572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 as an enterprise-wide accelerator — not a sales silo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633472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2633472" cy="73152"/>
          </a:xfrm>
          <a:prstGeom prst="rect">
            <a:avLst/>
          </a:prstGeom>
          <a:solidFill>
            <a:srgbClr val="0D7F8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11556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15568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" y="1508760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Yvette Smith, SVP CS (joined Jan 2026)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" y="196596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in-person event: week of June 9–11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76072" y="246888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Eamonn leading design; Michelle, Lee, Marco collaborating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6072" y="297180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Later-year: professional advisory services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6072" y="347472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incident management process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9544" y="960120"/>
            <a:ext cx="2633472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9544" y="960120"/>
            <a:ext cx="2633472" cy="73152"/>
          </a:xfrm>
          <a:prstGeom prst="rect">
            <a:avLst/>
          </a:prstGeom>
          <a:solidFill>
            <a:srgbClr val="1E2D4E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1115568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49624" y="1115568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Leadership &amp; FLMs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374136" y="1508760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ICSS Bootcamp + GTM Academy alignment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374136" y="196596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SharedVision Toolkit: co-creation Day Zero (April 27)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374136" y="246888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1–2: SharedVision-led bootcamp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374136" y="297180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internal product deep-dive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374136" y="347472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field asset co-creation as core design principle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007608" y="960120"/>
            <a:ext cx="2633472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007608" y="960120"/>
            <a:ext cx="2633472" cy="73152"/>
          </a:xfrm>
          <a:prstGeom prst="rect">
            <a:avLst/>
          </a:prstGeom>
          <a:solidFill>
            <a:srgbClr val="E8A020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115568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647688" y="1115568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Change Mgmt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172200" y="1508760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+ Eamonn interlock with T&amp;CM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6172200" y="196596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Interlock handoff templates: Angel + Jason + Kelly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172200" y="246888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B2B, CRM &amp; CAPI change enablement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172200" y="297180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for enablement services (Kelly)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172200" y="347472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strategy redesign (Angel)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Priorities &amp; Redwood Actions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4572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Offsite commitments translated into ownership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91440" cy="1115568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+ Eamonn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T&amp;CM interlock — establish rhythm and cadence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1051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strategy — redesign through EDGE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267712"/>
            <a:ext cx="83210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267712"/>
            <a:ext cx="91440" cy="1115568"/>
          </a:xfrm>
          <a:prstGeom prst="rect">
            <a:avLst/>
          </a:prstGeom>
          <a:solidFill>
            <a:srgbClr val="1E2D4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359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+ Jason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72491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Interlock handoff templates — ready for field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07238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pipeline — aligned to H2 capacity needs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529584"/>
            <a:ext cx="83210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529584"/>
            <a:ext cx="91440" cy="111556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621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98678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 → Services — clarify scope and ownership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33425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— roadmap for enablement services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572000"/>
            <a:ext cx="8321040" cy="347472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599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Immediate flag: LTC go-live April 13 — all interlock and readiness gates must be confirmed this week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440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3223260"/>
            <a:ext cx="2926080" cy="192024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6217920" cy="73152"/>
          </a:xfrm>
          <a:prstGeom prst="rect">
            <a:avLst/>
          </a:prstGeom>
          <a:solidFill>
            <a:srgbClr val="E8A0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6576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657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We're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572768"/>
            <a:ext cx="5577840" cy="914400"/>
          </a:xfrm>
          <a:prstGeom prst="rect">
            <a:avLst/>
          </a:prstGeom>
          <a:solidFill>
            <a:srgbClr val="1E2D40"/>
          </a:solidFill>
          <a:ln w="6350">
            <a:solidFill>
              <a:srgbClr val="24334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572768"/>
            <a:ext cx="73152" cy="9144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645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52144" y="16459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alignment on GTM Academy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52144" y="2029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on Q2 foundation design to unlock Q3 launch timeline.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2624328"/>
            <a:ext cx="5577840" cy="914400"/>
          </a:xfrm>
          <a:prstGeom prst="rect">
            <a:avLst/>
          </a:prstGeom>
          <a:solidFill>
            <a:srgbClr val="1E2D40"/>
          </a:solidFill>
          <a:ln w="6350">
            <a:solidFill>
              <a:srgbClr val="24334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624328"/>
            <a:ext cx="73152" cy="9144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" y="2697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52144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headcount for H2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52144" y="30815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pipeline for Angel, Jason teams — capacity to deliver at scale.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675888"/>
            <a:ext cx="5577840" cy="914400"/>
          </a:xfrm>
          <a:prstGeom prst="rect">
            <a:avLst/>
          </a:prstGeom>
          <a:solidFill>
            <a:srgbClr val="1E2D40"/>
          </a:solidFill>
          <a:ln w="6350">
            <a:solidFill>
              <a:srgbClr val="24334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3675888"/>
            <a:ext cx="73152" cy="9144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9" name="Text 16"/>
          <p:cNvSpPr/>
          <p:nvPr/>
        </p:nvSpPr>
        <p:spPr>
          <a:xfrm>
            <a:off x="621792" y="3749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52144" y="37490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access &amp; mandate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52144" y="41330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mandate for CS, T&amp;CM and Sales Leadership interlock sessions.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Enablement  ·  Eamonn Ward  ·  Global VP  ·  Equinix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75B9CB64CD7C47B41F746646547B33" ma:contentTypeVersion="12" ma:contentTypeDescription="Create a new document." ma:contentTypeScope="" ma:versionID="51354516d3b672ae0d8b9a3f2710c302">
  <xsd:schema xmlns:xsd="http://www.w3.org/2001/XMLSchema" xmlns:xs="http://www.w3.org/2001/XMLSchema" xmlns:p="http://schemas.microsoft.com/office/2006/metadata/properties" xmlns:ns2="69c7e17f-4e9e-430d-90e0-3ef93dcbdb44" xmlns:ns3="17d28f16-eb5e-4587-81e0-682ed581eef1" targetNamespace="http://schemas.microsoft.com/office/2006/metadata/properties" ma:root="true" ma:fieldsID="cf335e2618e06b79f2f12a08e2dd74ae" ns2:_="" ns3:_="">
    <xsd:import namespace="69c7e17f-4e9e-430d-90e0-3ef93dcbdb44"/>
    <xsd:import namespace="17d28f16-eb5e-4587-81e0-682ed581ee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c7e17f-4e9e-430d-90e0-3ef93dcbdb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5ebeb2d-667f-43bd-86ca-2a4d877a17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d28f16-eb5e-4587-81e0-682ed581eef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57522ba-6265-4042-bbfc-6e697f6f1b5b}" ma:internalName="TaxCatchAll" ma:showField="CatchAllData" ma:web="17d28f16-eb5e-4587-81e0-682ed581ee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d28f16-eb5e-4587-81e0-682ed581eef1" xsi:nil="true"/>
    <lcf76f155ced4ddcb4097134ff3c332f xmlns="69c7e17f-4e9e-430d-90e0-3ef93dcbdb44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AD85BF-3B7D-4E92-BE32-F2910D866162}"/>
</file>

<file path=customXml/itemProps2.xml><?xml version="1.0" encoding="utf-8"?>
<ds:datastoreItem xmlns:ds="http://schemas.openxmlformats.org/officeDocument/2006/customXml" ds:itemID="{7EDF65A1-6BFA-4083-9B8D-794ECD41F2C1}">
  <ds:schemaRefs>
    <ds:schemaRef ds:uri="http://schemas.microsoft.com/office/2006/metadata/properties"/>
    <ds:schemaRef ds:uri="http://schemas.microsoft.com/office/infopath/2007/PartnerControls"/>
    <ds:schemaRef ds:uri="3fc6c855-14a9-4cb8-9c2c-97e64d06e10c"/>
    <ds:schemaRef ds:uri="1bceaef6-f40d-49a5-8a29-19a4537ac916"/>
  </ds:schemaRefs>
</ds:datastoreItem>
</file>

<file path=customXml/itemProps3.xml><?xml version="1.0" encoding="utf-8"?>
<ds:datastoreItem xmlns:ds="http://schemas.openxmlformats.org/officeDocument/2006/customXml" ds:itemID="{16889D23-496D-4F10-8409-5E83B9805FF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0bd2185-7f4f-483c-8403-3480aaa4171f}" enabled="1" method="Standard" siteId="{72adb271-2fc7-4afe-a5ee-9de6a59f6bf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GTM Enablement — H2 2026 Strategy</dc:title>
  <dc:subject>PptxGenJS Presentation</dc:subject>
  <dc:creator>Eamonn Ward</dc:creator>
  <cp:lastModifiedBy>Eamonn Ward</cp:lastModifiedBy>
  <cp:revision>2</cp:revision>
  <dcterms:created xsi:type="dcterms:W3CDTF">2026-04-08T12:12:47Z</dcterms:created>
  <dcterms:modified xsi:type="dcterms:W3CDTF">2026-04-08T12:33:12Z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0x0101001275B9CB64CD7C47B41F746646547B33</vt:lpwstr>
  </property>
  <property fmtid="{D5CDD505-2E9C-101B-9397-08002B2CF9AE}" pid="3" name="MediaServiceImageTags">
    <vt:lpwstr/>
  </property>
</Properties>
</file>