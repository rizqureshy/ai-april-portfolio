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2"/>
  </p:notesMasterIdLst>
  <p:sldIdLst>
    <p:sldId id="256" r:id="rId5"/>
    <p:sldId id="257" r:id="rId6"/>
    <p:sldId id="258" r:id="rId7"/>
    <p:sldId id="259" r:id="rId8"/>
    <p:sldId id="260" r:id="rId9"/>
    <p:sldId id="261" r:id="rId10"/>
    <p:sldId id="262"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6F266456-3CA5-4939-BA19-FDF34AB96655}" type="datetimeFigureOut">
              <a:t>4/3/2026</a:t>
            </a:fld>
            <a:endParaRPr lang="en-US"/>
          </a:p>
        </p:txBody>
      </p:sp>
      <p:sp>
        <p:nvSpPr>
          <p:cNvPr id="4" name="Slide Image Placeholder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BF144917-B739-47FF-9D0A-EC114F0E675B}" type="slidenum">
              <a:t>‹#›</a:t>
            </a:fld>
            <a:endParaRPr lang="en-US"/>
          </a:p>
        </p:txBody>
      </p:sp>
    </p:spTree>
    <p:extLst>
      <p:ext uri="{BB962C8B-B14F-4D97-AF65-F5344CB8AC3E}">
        <p14:creationId xmlns:p14="http://schemas.microsoft.com/office/powerpoint/2010/main" val="3198761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I'll walk you through our strategy for integrating AI into our enablement organization. We'll cover where we are today, the opportunities AI presents, three specific tools we're recommending, our phased implementation plan, the risks we've identified and how we'll mitigate them, and finally how we'll measure success. This is about making our three teams — Business Partners, Programs, and Services — faster and more impactful, not replacing anyone.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set the scene. Our enablement org has three teams that work together as a pipeline. Business Partners sit closest to stakeholders — they identify what enablement is needed for sales, customer care, and partner teams. But today they spend significant time on manual intake, and they lack data to help prioritize competing requests.
The Programs team takes those identified needs and builds the actual enablement programs — training, playbooks, tools. Their bottleneck is the design and structuring phase, which is highly manual and inconsistent across program managers.
Finally, Services owns our outsourced content creation partners and all reporting and analytics. They're bogged down in vendor coordination emails and manual report assembly, leaving little time for the deeper analysis that would actually drive better decisions.
The common thread: manual, repetitive work consuming capacity that should go toward higher-value activities.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where's the opportunity? We've estimated three high-impact areas.
First, content generation — roughly 40% of the time our Programs and Services teams spend on drafting could be automated. That's first drafts of playbooks, training decks, partner guides. AI doesn't replace the subject matter expertise, but it handles the blank-page problem.
Second, reporting and analytics. Our Services team currently spends days assembling reports. AI-assisted analytics can cut that to hours — a 3x improvement — and surface insights humans might miss in the data.
Third, stakeholder engagement on the Business Partner side. AI can handle intake form processing, summarize long requirement documents, and even score and prioritize requests based on historical program impact data. We estimate a 60% reduction in manual intake processing.
These aren't speculative — these are based on benchmarks from similar enablement organizations that have piloted AI tools.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three tools we're recommending, each mapped to specific use cases across our teams.
First, an AI Writing Assistant like Claude or ChatGPT Enterprise. This is the broadest impact tool — all three teams benefit. Business Partners use it to summarize lengthy stakeholder requirement documents. Programs uses it to draft first versions of playbooks and training content. Services uses it to write briefs for our outsourced content partners. The key value: getting from zero to a solid first draft in minutes instead of hours.
Second, an AI Analytics Platform. This is primarily for Services and Business Partners. Think natural-language queries on our program data — instead of building pivot tables, you just ask 'which programs had the highest completion rates last quarter?' It can also auto-generate dashboards and do predictive scoring to help Business Partners prioritize the intake queue.
Third, AI Workflow Automation. This handles the connective tissue — automating intake routing, vendor coordination emails, report distribution. Services and Programs benefit most here. It eliminates the manual copy-paste between systems that eats up hours every week.</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we roll this out in three phases over nine months.
Phase 1 is Foundation — months one and two. We start small: pilot the AI Writing Assistant with three to four power users per team. These are the people who are already curious about AI and will become our internal champions. Critically, we also establish our usage guidelines and data governance policies upfront — what data can go into these tools, what can't. And we baseline our current metrics so we can measure impact later.
Phase 2, months three through five, is Scale and Integrate. We roll the writing tool out to the full org with proper training. We deploy the analytics platform starting with Services since they own reporting. And we build our first workflow automations — starting with the intake routing process and vendor coordination emails.
Phase 3, months six through nine, is Optimize and Expand. By now all three tools should be part of daily work. We develop custom templates — so common program types have AI-ready starting points. And we push into advanced analytics: predictive models that help us forecast program impact before we build.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be upfront about the risks.
Number one — and highest severity — is data privacy. We deal with stakeholder and customer-adjacent data. The mitigation is straightforward: we only use enterprise-grade tools with SOC 2 compliance, we create clear data classification policies, and we train the team that no PII goes into prompts. Period.
Second, content quality. AI will produce errors — that's a given. Our mitigation is mandatory human review on every AI output. We'll create review checklists and start with lower-risk content types like internal drafts before using AI on customer-facing materials.
Third, adoption resistance. Some team members will be skeptical or nervous. We address this by framing AI as augmentation — it handles the tedious parts so you can do the interesting work. We'll designate champions in each team and celebrate early wins loudly.
Finally, vendor lock-in. We mitigate by negotiating annual contracts with spend caps, evaluating alternatives quarterly, and keeping our workflows tool-agnostic where possible.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how we'll know this is working. Six metrics, each tied to a specific target.
Time-to-Content: we're targeting a 50% reduction in the time from receiving a brief to having a first draft ready for review. This is the single biggest productivity unlock.
Reporting Cycle: 3x faster from data pull to published report. Our Services team currently takes about a week for major reports — we want that in two days.
Intake Processing: 60% faster triage and routing. Business Partners should spend less time on logistics and more time on strategic conversations.
Content Quality Score: at least 4.2 out of 5 from stakeholder satisfaction surveys. Speed means nothing if quality drops — this is our guardrail metric.
Team Adoption: 85% of the org using tools at least weekly by month six. If people aren't using the tools, none of the other metrics matter.
Capacity Unlocked: a 20% increase in programs delivered per quarter with the same headcount. This is the ultimate measure — are we doing more with what we have?
I'm excited about this opportunity. Let's discuss next steps and your questions.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6400800" y="-1371600"/>
            <a:ext cx="4572000" cy="4572000"/>
          </a:xfrm>
          <a:prstGeom prst="ellipse">
            <a:avLst/>
          </a:prstGeom>
          <a:solidFill>
            <a:srgbClr val="0891B2">
              <a:alpha val="15000"/>
            </a:srgbClr>
          </a:solidFill>
          <a:ln/>
        </p:spPr>
      </p:sp>
      <p:sp>
        <p:nvSpPr>
          <p:cNvPr id="3" name="Shape 1"/>
          <p:cNvSpPr/>
          <p:nvPr/>
        </p:nvSpPr>
        <p:spPr>
          <a:xfrm>
            <a:off x="-1371600" y="3200400"/>
            <a:ext cx="3657600" cy="3657600"/>
          </a:xfrm>
          <a:prstGeom prst="ellipse">
            <a:avLst/>
          </a:prstGeom>
          <a:solidFill>
            <a:srgbClr val="14B8A6">
              <a:alpha val="10000"/>
            </a:srgbClr>
          </a:solidFill>
          <a:ln/>
        </p:spPr>
      </p:sp>
      <p:pic>
        <p:nvPicPr>
          <p:cNvPr id="4" name="Image 0" descr="preencoded.png"/>
          <p:cNvPicPr>
            <a:picLocks noChangeAspect="1"/>
          </p:cNvPicPr>
          <p:nvPr/>
        </p:nvPicPr>
        <p:blipFill>
          <a:blip r:embed="rId3"/>
          <a:stretch>
            <a:fillRect/>
          </a:stretch>
        </p:blipFill>
        <p:spPr>
          <a:xfrm>
            <a:off x="731520" y="1097280"/>
            <a:ext cx="640080" cy="640080"/>
          </a:xfrm>
          <a:prstGeom prst="rect">
            <a:avLst/>
          </a:prstGeom>
        </p:spPr>
      </p:pic>
      <p:sp>
        <p:nvSpPr>
          <p:cNvPr id="5" name="Text 2"/>
          <p:cNvSpPr/>
          <p:nvPr/>
        </p:nvSpPr>
        <p:spPr>
          <a:xfrm>
            <a:off x="731520" y="1828800"/>
            <a:ext cx="6400800" cy="1097280"/>
          </a:xfrm>
          <a:prstGeom prst="rect">
            <a:avLst/>
          </a:prstGeom>
          <a:noFill/>
          <a:ln/>
        </p:spPr>
        <p:txBody>
          <a:bodyPr wrap="square" lIns="0" tIns="0" rIns="0" bIns="0" rtlCol="0" anchor="ctr"/>
          <a:lstStyle/>
          <a:p>
            <a:pPr marL="0" indent="0">
              <a:buNone/>
            </a:pPr>
            <a:r>
              <a:rPr lang="en-US" sz="4400" b="1" dirty="0">
                <a:solidFill>
                  <a:srgbClr val="FFFFFF"/>
                </a:solidFill>
                <a:latin typeface="Trebuchet MS" pitchFamily="34" charset="0"/>
                <a:ea typeface="Trebuchet MS" pitchFamily="34" charset="-122"/>
                <a:cs typeface="Trebuchet MS" pitchFamily="34" charset="-120"/>
              </a:rPr>
              <a:t>AI in Our Team</a:t>
            </a:r>
            <a:endParaRPr lang="en-US" sz="4400" dirty="0"/>
          </a:p>
        </p:txBody>
      </p:sp>
      <p:sp>
        <p:nvSpPr>
          <p:cNvPr id="6" name="Text 3"/>
          <p:cNvSpPr/>
          <p:nvPr/>
        </p:nvSpPr>
        <p:spPr>
          <a:xfrm>
            <a:off x="731520" y="2834640"/>
            <a:ext cx="6400800" cy="548640"/>
          </a:xfrm>
          <a:prstGeom prst="rect">
            <a:avLst/>
          </a:prstGeom>
          <a:noFill/>
          <a:ln/>
        </p:spPr>
        <p:txBody>
          <a:bodyPr wrap="square" lIns="0" tIns="0" rIns="0" bIns="0" rtlCol="0" anchor="ctr"/>
          <a:lstStyle/>
          <a:p>
            <a:pPr marL="0" indent="0">
              <a:buNone/>
            </a:pPr>
            <a:r>
              <a:rPr lang="en-US" sz="1800" dirty="0">
                <a:solidFill>
                  <a:srgbClr val="06B6D4"/>
                </a:solidFill>
                <a:latin typeface="Calibri" pitchFamily="34" charset="0"/>
                <a:ea typeface="Calibri" pitchFamily="34" charset="-122"/>
                <a:cs typeface="Calibri" pitchFamily="34" charset="-120"/>
              </a:rPr>
              <a:t>A Strategy for Integrating AI Across Enablement</a:t>
            </a:r>
            <a:endParaRPr lang="en-US" sz="1800" dirty="0"/>
          </a:p>
        </p:txBody>
      </p:sp>
      <p:sp>
        <p:nvSpPr>
          <p:cNvPr id="7" name="Shape 4"/>
          <p:cNvSpPr/>
          <p:nvPr/>
        </p:nvSpPr>
        <p:spPr>
          <a:xfrm>
            <a:off x="731520" y="3520440"/>
            <a:ext cx="1828800" cy="45720"/>
          </a:xfrm>
          <a:prstGeom prst="rect">
            <a:avLst/>
          </a:prstGeom>
          <a:solidFill>
            <a:srgbClr val="0891B2"/>
          </a:solidFill>
          <a:ln/>
        </p:spPr>
      </p:sp>
      <p:sp>
        <p:nvSpPr>
          <p:cNvPr id="8" name="Text 5"/>
          <p:cNvSpPr/>
          <p:nvPr/>
        </p:nvSpPr>
        <p:spPr>
          <a:xfrm>
            <a:off x="731520" y="3840480"/>
            <a:ext cx="4572000" cy="365760"/>
          </a:xfrm>
          <a:prstGeom prst="rect">
            <a:avLst/>
          </a:prstGeom>
          <a:noFill/>
          <a:ln/>
        </p:spPr>
        <p:txBody>
          <a:bodyPr wrap="square" lIns="0" tIns="0" rIns="0" bIns="0" rtlCol="0" anchor="ctr"/>
          <a:lstStyle/>
          <a:p>
            <a:pPr marL="0" indent="0">
              <a:buNone/>
            </a:pPr>
            <a:r>
              <a:rPr lang="en-US" sz="1300" dirty="0">
                <a:solidFill>
                  <a:srgbClr val="94A3B8"/>
                </a:solidFill>
                <a:latin typeface="Calibri" pitchFamily="34" charset="0"/>
                <a:ea typeface="Calibri" pitchFamily="34" charset="-122"/>
                <a:cs typeface="Calibri" pitchFamily="34" charset="-120"/>
              </a:rPr>
              <a:t>Enablement Team  |  Q2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640080" y="91440"/>
            <a:ext cx="7315200" cy="64008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Current State</a:t>
            </a:r>
            <a:endParaRPr lang="en-US" sz="2800" dirty="0"/>
          </a:p>
        </p:txBody>
      </p:sp>
      <p:sp>
        <p:nvSpPr>
          <p:cNvPr id="4" name="Text 2"/>
          <p:cNvSpPr/>
          <p:nvPr/>
        </p:nvSpPr>
        <p:spPr>
          <a:xfrm>
            <a:off x="640080" y="1051560"/>
            <a:ext cx="7863840" cy="502920"/>
          </a:xfrm>
          <a:prstGeom prst="rect">
            <a:avLst/>
          </a:prstGeom>
          <a:noFill/>
          <a:ln/>
        </p:spPr>
        <p:txBody>
          <a:bodyPr wrap="square" lIns="0" tIns="0" rIns="0" bIns="0" rtlCol="0" anchor="ctr"/>
          <a:lstStyle/>
          <a:p>
            <a:pPr marL="0" indent="0">
              <a:buNone/>
            </a:pPr>
            <a:r>
              <a:rPr lang="en-US" sz="1200" dirty="0">
                <a:solidFill>
                  <a:srgbClr val="475569"/>
                </a:solidFill>
                <a:latin typeface="Calibri" pitchFamily="34" charset="0"/>
                <a:ea typeface="Calibri" pitchFamily="34" charset="-122"/>
                <a:cs typeface="Calibri" pitchFamily="34" charset="-120"/>
              </a:rPr>
              <a:t>Our enablement organization operates across three interconnected teams, each facing capacity constraints and manual overhead that AI can address.</a:t>
            </a:r>
            <a:endParaRPr lang="en-US" sz="1200" dirty="0"/>
          </a:p>
        </p:txBody>
      </p:sp>
      <p:sp>
        <p:nvSpPr>
          <p:cNvPr id="5" name="Shape 3"/>
          <p:cNvSpPr/>
          <p:nvPr/>
        </p:nvSpPr>
        <p:spPr>
          <a:xfrm>
            <a:off x="480060" y="1783080"/>
            <a:ext cx="2514600" cy="2606040"/>
          </a:xfrm>
          <a:prstGeom prst="rect">
            <a:avLst/>
          </a:prstGeom>
          <a:solidFill>
            <a:srgbClr val="FFFFFF"/>
          </a:solidFill>
          <a:ln/>
          <a:effectLst>
            <a:outerShdw blurRad="101600" dist="38100" dir="8100000" algn="bl" rotWithShape="0">
              <a:srgbClr val="000000">
                <a:alpha val="10000"/>
              </a:srgbClr>
            </a:outerShdw>
          </a:effectLst>
        </p:spPr>
      </p:sp>
      <p:sp>
        <p:nvSpPr>
          <p:cNvPr id="6" name="Shape 4"/>
          <p:cNvSpPr/>
          <p:nvPr/>
        </p:nvSpPr>
        <p:spPr>
          <a:xfrm>
            <a:off x="480060" y="1783080"/>
            <a:ext cx="54864" cy="2606040"/>
          </a:xfrm>
          <a:prstGeom prst="rect">
            <a:avLst/>
          </a:prstGeom>
          <a:solidFill>
            <a:srgbClr val="0891B2"/>
          </a:solidFill>
          <a:ln/>
        </p:spPr>
      </p:sp>
      <p:pic>
        <p:nvPicPr>
          <p:cNvPr id="7" name="Image 0" descr="preencoded.png"/>
          <p:cNvPicPr>
            <a:picLocks noChangeAspect="1"/>
          </p:cNvPicPr>
          <p:nvPr/>
        </p:nvPicPr>
        <p:blipFill>
          <a:blip r:embed="rId3"/>
          <a:stretch>
            <a:fillRect/>
          </a:stretch>
        </p:blipFill>
        <p:spPr>
          <a:xfrm>
            <a:off x="754380" y="2011680"/>
            <a:ext cx="320040" cy="320040"/>
          </a:xfrm>
          <a:prstGeom prst="rect">
            <a:avLst/>
          </a:prstGeom>
        </p:spPr>
      </p:pic>
      <p:sp>
        <p:nvSpPr>
          <p:cNvPr id="8" name="Text 5"/>
          <p:cNvSpPr/>
          <p:nvPr/>
        </p:nvSpPr>
        <p:spPr>
          <a:xfrm>
            <a:off x="754380" y="2423160"/>
            <a:ext cx="2011680" cy="320040"/>
          </a:xfrm>
          <a:prstGeom prst="rect">
            <a:avLst/>
          </a:prstGeom>
          <a:noFill/>
          <a:ln/>
        </p:spPr>
        <p:txBody>
          <a:bodyPr wrap="square" lIns="0" tIns="0" rIns="0" bIns="0" rtlCol="0" anchor="ctr"/>
          <a:lstStyle/>
          <a:p>
            <a:pPr marL="0" indent="0">
              <a:buNone/>
            </a:pPr>
            <a:r>
              <a:rPr lang="en-US" sz="1400" b="1" dirty="0">
                <a:solidFill>
                  <a:srgbClr val="1E293B"/>
                </a:solidFill>
                <a:latin typeface="Trebuchet MS" pitchFamily="34" charset="0"/>
                <a:ea typeface="Trebuchet MS" pitchFamily="34" charset="-122"/>
                <a:cs typeface="Trebuchet MS" pitchFamily="34" charset="-120"/>
              </a:rPr>
              <a:t>Business Partners</a:t>
            </a:r>
            <a:endParaRPr lang="en-US" sz="1400" dirty="0"/>
          </a:p>
        </p:txBody>
      </p:sp>
      <p:sp>
        <p:nvSpPr>
          <p:cNvPr id="9" name="Text 6"/>
          <p:cNvSpPr/>
          <p:nvPr/>
        </p:nvSpPr>
        <p:spPr>
          <a:xfrm>
            <a:off x="754380" y="2743200"/>
            <a:ext cx="2011680" cy="594360"/>
          </a:xfrm>
          <a:prstGeom prst="rect">
            <a:avLst/>
          </a:prstGeom>
          <a:noFill/>
          <a:ln/>
        </p:spPr>
        <p:txBody>
          <a:bodyPr wrap="square" lIns="0" tIns="0" rIns="0" bIns="0" rtlCol="0" anchor="ctr"/>
          <a:lstStyle/>
          <a:p>
            <a:pPr marL="0" indent="0">
              <a:buNone/>
            </a:pPr>
            <a:r>
              <a:rPr lang="en-US" sz="1050" dirty="0">
                <a:solidFill>
                  <a:srgbClr val="475569"/>
                </a:solidFill>
                <a:latin typeface="Calibri" pitchFamily="34" charset="0"/>
                <a:ea typeface="Calibri" pitchFamily="34" charset="-122"/>
                <a:cs typeface="Calibri" pitchFamily="34" charset="-120"/>
              </a:rPr>
              <a:t>Works with business stakeholders to identify and land enablement programs.</a:t>
            </a:r>
            <a:endParaRPr lang="en-US" sz="1050" dirty="0"/>
          </a:p>
        </p:txBody>
      </p:sp>
      <p:sp>
        <p:nvSpPr>
          <p:cNvPr id="10" name="Text 7"/>
          <p:cNvSpPr/>
          <p:nvPr/>
        </p:nvSpPr>
        <p:spPr>
          <a:xfrm>
            <a:off x="754380" y="3383280"/>
            <a:ext cx="2011680" cy="228600"/>
          </a:xfrm>
          <a:prstGeom prst="rect">
            <a:avLst/>
          </a:prstGeom>
          <a:noFill/>
          <a:ln/>
        </p:spPr>
        <p:txBody>
          <a:bodyPr wrap="square" lIns="0" tIns="0" rIns="0" bIns="0" rtlCol="0" anchor="ctr"/>
          <a:lstStyle/>
          <a:p>
            <a:pPr marL="0" indent="0">
              <a:buNone/>
            </a:pPr>
            <a:r>
              <a:rPr lang="en-US" sz="800" b="1" dirty="0">
                <a:solidFill>
                  <a:srgbClr val="0891B2"/>
                </a:solidFill>
                <a:latin typeface="Trebuchet MS" pitchFamily="34" charset="0"/>
                <a:ea typeface="Trebuchet MS" pitchFamily="34" charset="-122"/>
                <a:cs typeface="Trebuchet MS" pitchFamily="34" charset="-120"/>
              </a:rPr>
              <a:t>KEY CHALLENGE</a:t>
            </a:r>
            <a:endParaRPr lang="en-US" sz="800" dirty="0"/>
          </a:p>
        </p:txBody>
      </p:sp>
      <p:sp>
        <p:nvSpPr>
          <p:cNvPr id="11" name="Text 8"/>
          <p:cNvSpPr/>
          <p:nvPr/>
        </p:nvSpPr>
        <p:spPr>
          <a:xfrm>
            <a:off x="754380" y="3566160"/>
            <a:ext cx="2011680" cy="640080"/>
          </a:xfrm>
          <a:prstGeom prst="rect">
            <a:avLst/>
          </a:prstGeom>
          <a:noFill/>
          <a:ln/>
        </p:spPr>
        <p:txBody>
          <a:bodyPr wrap="square" lIns="0" tIns="0" rIns="0" bIns="0" rtlCol="0" anchor="ctr"/>
          <a:lstStyle/>
          <a:p>
            <a:pPr marL="0" indent="0">
              <a:buNone/>
            </a:pPr>
            <a:r>
              <a:rPr lang="en-US" sz="1000" i="1" dirty="0">
                <a:solidFill>
                  <a:srgbClr val="475569"/>
                </a:solidFill>
                <a:latin typeface="Calibri" pitchFamily="34" charset="0"/>
                <a:ea typeface="Calibri" pitchFamily="34" charset="-122"/>
                <a:cs typeface="Calibri" pitchFamily="34" charset="-120"/>
              </a:rPr>
              <a:t>Manually gathering requirements, limited data to prioritize requests, slow intake cycles.</a:t>
            </a:r>
            <a:endParaRPr lang="en-US" sz="1000" dirty="0"/>
          </a:p>
        </p:txBody>
      </p:sp>
      <p:sp>
        <p:nvSpPr>
          <p:cNvPr id="12" name="Shape 9"/>
          <p:cNvSpPr/>
          <p:nvPr/>
        </p:nvSpPr>
        <p:spPr>
          <a:xfrm>
            <a:off x="3314700" y="1783080"/>
            <a:ext cx="2514600" cy="2606040"/>
          </a:xfrm>
          <a:prstGeom prst="rect">
            <a:avLst/>
          </a:prstGeom>
          <a:solidFill>
            <a:srgbClr val="FFFFFF"/>
          </a:solidFill>
          <a:ln/>
          <a:effectLst>
            <a:outerShdw blurRad="101600" dist="38100" dir="8100000" algn="bl" rotWithShape="0">
              <a:srgbClr val="000000">
                <a:alpha val="10000"/>
              </a:srgbClr>
            </a:outerShdw>
          </a:effectLst>
        </p:spPr>
      </p:sp>
      <p:sp>
        <p:nvSpPr>
          <p:cNvPr id="13" name="Shape 10"/>
          <p:cNvSpPr/>
          <p:nvPr/>
        </p:nvSpPr>
        <p:spPr>
          <a:xfrm>
            <a:off x="3314700" y="1783080"/>
            <a:ext cx="54864" cy="2606040"/>
          </a:xfrm>
          <a:prstGeom prst="rect">
            <a:avLst/>
          </a:prstGeom>
          <a:solidFill>
            <a:srgbClr val="0891B2"/>
          </a:solidFill>
          <a:ln/>
        </p:spPr>
      </p:sp>
      <p:pic>
        <p:nvPicPr>
          <p:cNvPr id="14" name="Image 1" descr="preencoded.png"/>
          <p:cNvPicPr>
            <a:picLocks noChangeAspect="1"/>
          </p:cNvPicPr>
          <p:nvPr/>
        </p:nvPicPr>
        <p:blipFill>
          <a:blip r:embed="rId4"/>
          <a:stretch>
            <a:fillRect/>
          </a:stretch>
        </p:blipFill>
        <p:spPr>
          <a:xfrm>
            <a:off x="3589020" y="2011680"/>
            <a:ext cx="320040" cy="320040"/>
          </a:xfrm>
          <a:prstGeom prst="rect">
            <a:avLst/>
          </a:prstGeom>
        </p:spPr>
      </p:pic>
      <p:sp>
        <p:nvSpPr>
          <p:cNvPr id="15" name="Text 11"/>
          <p:cNvSpPr/>
          <p:nvPr/>
        </p:nvSpPr>
        <p:spPr>
          <a:xfrm>
            <a:off x="3589020" y="2423160"/>
            <a:ext cx="2011680" cy="320040"/>
          </a:xfrm>
          <a:prstGeom prst="rect">
            <a:avLst/>
          </a:prstGeom>
          <a:noFill/>
          <a:ln/>
        </p:spPr>
        <p:txBody>
          <a:bodyPr wrap="square" lIns="0" tIns="0" rIns="0" bIns="0" rtlCol="0" anchor="ctr"/>
          <a:lstStyle/>
          <a:p>
            <a:pPr marL="0" indent="0">
              <a:buNone/>
            </a:pPr>
            <a:r>
              <a:rPr lang="en-US" sz="1400" b="1" dirty="0">
                <a:solidFill>
                  <a:srgbClr val="1E293B"/>
                </a:solidFill>
                <a:latin typeface="Trebuchet MS" pitchFamily="34" charset="0"/>
                <a:ea typeface="Trebuchet MS" pitchFamily="34" charset="-122"/>
                <a:cs typeface="Trebuchet MS" pitchFamily="34" charset="-120"/>
              </a:rPr>
              <a:t>Programs</a:t>
            </a:r>
            <a:endParaRPr lang="en-US" sz="1400" dirty="0"/>
          </a:p>
        </p:txBody>
      </p:sp>
      <p:sp>
        <p:nvSpPr>
          <p:cNvPr id="16" name="Text 12"/>
          <p:cNvSpPr/>
          <p:nvPr/>
        </p:nvSpPr>
        <p:spPr>
          <a:xfrm>
            <a:off x="3589020" y="2743200"/>
            <a:ext cx="2011680" cy="594360"/>
          </a:xfrm>
          <a:prstGeom prst="rect">
            <a:avLst/>
          </a:prstGeom>
          <a:noFill/>
          <a:ln/>
        </p:spPr>
        <p:txBody>
          <a:bodyPr wrap="square" lIns="0" tIns="0" rIns="0" bIns="0" rtlCol="0" anchor="ctr"/>
          <a:lstStyle/>
          <a:p>
            <a:pPr marL="0" indent="0">
              <a:buNone/>
            </a:pPr>
            <a:r>
              <a:rPr lang="en-US" sz="1050" dirty="0">
                <a:solidFill>
                  <a:srgbClr val="475569"/>
                </a:solidFill>
                <a:latin typeface="Calibri" pitchFamily="34" charset="0"/>
                <a:ea typeface="Calibri" pitchFamily="34" charset="-122"/>
                <a:cs typeface="Calibri" pitchFamily="34" charset="-120"/>
              </a:rPr>
              <a:t>Plans, designs, and builds enablement programs around identified needs.</a:t>
            </a:r>
            <a:endParaRPr lang="en-US" sz="1050" dirty="0"/>
          </a:p>
        </p:txBody>
      </p:sp>
      <p:sp>
        <p:nvSpPr>
          <p:cNvPr id="17" name="Text 13"/>
          <p:cNvSpPr/>
          <p:nvPr/>
        </p:nvSpPr>
        <p:spPr>
          <a:xfrm>
            <a:off x="3589020" y="3383280"/>
            <a:ext cx="2011680" cy="228600"/>
          </a:xfrm>
          <a:prstGeom prst="rect">
            <a:avLst/>
          </a:prstGeom>
          <a:noFill/>
          <a:ln/>
        </p:spPr>
        <p:txBody>
          <a:bodyPr wrap="square" lIns="0" tIns="0" rIns="0" bIns="0" rtlCol="0" anchor="ctr"/>
          <a:lstStyle/>
          <a:p>
            <a:pPr marL="0" indent="0">
              <a:buNone/>
            </a:pPr>
            <a:r>
              <a:rPr lang="en-US" sz="800" b="1" dirty="0">
                <a:solidFill>
                  <a:srgbClr val="0891B2"/>
                </a:solidFill>
                <a:latin typeface="Trebuchet MS" pitchFamily="34" charset="0"/>
                <a:ea typeface="Trebuchet MS" pitchFamily="34" charset="-122"/>
                <a:cs typeface="Trebuchet MS" pitchFamily="34" charset="-120"/>
              </a:rPr>
              <a:t>KEY CHALLENGE</a:t>
            </a:r>
            <a:endParaRPr lang="en-US" sz="800" dirty="0"/>
          </a:p>
        </p:txBody>
      </p:sp>
      <p:sp>
        <p:nvSpPr>
          <p:cNvPr id="18" name="Text 14"/>
          <p:cNvSpPr/>
          <p:nvPr/>
        </p:nvSpPr>
        <p:spPr>
          <a:xfrm>
            <a:off x="3589020" y="3566160"/>
            <a:ext cx="2011680" cy="640080"/>
          </a:xfrm>
          <a:prstGeom prst="rect">
            <a:avLst/>
          </a:prstGeom>
          <a:noFill/>
          <a:ln/>
        </p:spPr>
        <p:txBody>
          <a:bodyPr wrap="square" lIns="0" tIns="0" rIns="0" bIns="0" rtlCol="0" anchor="ctr"/>
          <a:lstStyle/>
          <a:p>
            <a:pPr marL="0" indent="0">
              <a:buNone/>
            </a:pPr>
            <a:r>
              <a:rPr lang="en-US" sz="1000" i="1" dirty="0">
                <a:solidFill>
                  <a:srgbClr val="475569"/>
                </a:solidFill>
                <a:latin typeface="Calibri" pitchFamily="34" charset="0"/>
                <a:ea typeface="Calibri" pitchFamily="34" charset="-122"/>
                <a:cs typeface="Calibri" pitchFamily="34" charset="-120"/>
              </a:rPr>
              <a:t>Repetitive content structuring, curriculum design bottlenecks, inconsistent quality across programs.</a:t>
            </a:r>
            <a:endParaRPr lang="en-US" sz="1000" dirty="0"/>
          </a:p>
        </p:txBody>
      </p:sp>
      <p:sp>
        <p:nvSpPr>
          <p:cNvPr id="19" name="Shape 15"/>
          <p:cNvSpPr/>
          <p:nvPr/>
        </p:nvSpPr>
        <p:spPr>
          <a:xfrm>
            <a:off x="6149340" y="1783080"/>
            <a:ext cx="2514600" cy="2606040"/>
          </a:xfrm>
          <a:prstGeom prst="rect">
            <a:avLst/>
          </a:prstGeom>
          <a:solidFill>
            <a:srgbClr val="FFFFFF"/>
          </a:solidFill>
          <a:ln/>
          <a:effectLst>
            <a:outerShdw blurRad="101600" dist="38100" dir="8100000" algn="bl" rotWithShape="0">
              <a:srgbClr val="000000">
                <a:alpha val="10000"/>
              </a:srgbClr>
            </a:outerShdw>
          </a:effectLst>
        </p:spPr>
      </p:sp>
      <p:sp>
        <p:nvSpPr>
          <p:cNvPr id="20" name="Shape 16"/>
          <p:cNvSpPr/>
          <p:nvPr/>
        </p:nvSpPr>
        <p:spPr>
          <a:xfrm>
            <a:off x="6149340" y="1783080"/>
            <a:ext cx="54864" cy="2606040"/>
          </a:xfrm>
          <a:prstGeom prst="rect">
            <a:avLst/>
          </a:prstGeom>
          <a:solidFill>
            <a:srgbClr val="0891B2"/>
          </a:solidFill>
          <a:ln/>
        </p:spPr>
      </p:sp>
      <p:pic>
        <p:nvPicPr>
          <p:cNvPr id="21" name="Image 2" descr="preencoded.png"/>
          <p:cNvPicPr>
            <a:picLocks noChangeAspect="1"/>
          </p:cNvPicPr>
          <p:nvPr/>
        </p:nvPicPr>
        <p:blipFill>
          <a:blip r:embed="rId5"/>
          <a:stretch>
            <a:fillRect/>
          </a:stretch>
        </p:blipFill>
        <p:spPr>
          <a:xfrm>
            <a:off x="6423660" y="2011680"/>
            <a:ext cx="320040" cy="320040"/>
          </a:xfrm>
          <a:prstGeom prst="rect">
            <a:avLst/>
          </a:prstGeom>
        </p:spPr>
      </p:pic>
      <p:sp>
        <p:nvSpPr>
          <p:cNvPr id="22" name="Text 17"/>
          <p:cNvSpPr/>
          <p:nvPr/>
        </p:nvSpPr>
        <p:spPr>
          <a:xfrm>
            <a:off x="6423660" y="2423160"/>
            <a:ext cx="2011680" cy="320040"/>
          </a:xfrm>
          <a:prstGeom prst="rect">
            <a:avLst/>
          </a:prstGeom>
          <a:noFill/>
          <a:ln/>
        </p:spPr>
        <p:txBody>
          <a:bodyPr wrap="square" lIns="0" tIns="0" rIns="0" bIns="0" rtlCol="0" anchor="ctr"/>
          <a:lstStyle/>
          <a:p>
            <a:pPr marL="0" indent="0">
              <a:buNone/>
            </a:pPr>
            <a:r>
              <a:rPr lang="en-US" sz="1400" b="1" dirty="0">
                <a:solidFill>
                  <a:srgbClr val="1E293B"/>
                </a:solidFill>
                <a:latin typeface="Trebuchet MS" pitchFamily="34" charset="0"/>
                <a:ea typeface="Trebuchet MS" pitchFamily="34" charset="-122"/>
                <a:cs typeface="Trebuchet MS" pitchFamily="34" charset="-120"/>
              </a:rPr>
              <a:t>Services</a:t>
            </a:r>
            <a:endParaRPr lang="en-US" sz="1400" dirty="0"/>
          </a:p>
        </p:txBody>
      </p:sp>
      <p:sp>
        <p:nvSpPr>
          <p:cNvPr id="23" name="Text 18"/>
          <p:cNvSpPr/>
          <p:nvPr/>
        </p:nvSpPr>
        <p:spPr>
          <a:xfrm>
            <a:off x="6423660" y="2743200"/>
            <a:ext cx="2011680" cy="594360"/>
          </a:xfrm>
          <a:prstGeom prst="rect">
            <a:avLst/>
          </a:prstGeom>
          <a:noFill/>
          <a:ln/>
        </p:spPr>
        <p:txBody>
          <a:bodyPr wrap="square" lIns="0" tIns="0" rIns="0" bIns="0" rtlCol="0" anchor="ctr"/>
          <a:lstStyle/>
          <a:p>
            <a:pPr marL="0" indent="0">
              <a:buNone/>
            </a:pPr>
            <a:r>
              <a:rPr lang="en-US" sz="1050" dirty="0">
                <a:solidFill>
                  <a:srgbClr val="475569"/>
                </a:solidFill>
                <a:latin typeface="Calibri" pitchFamily="34" charset="0"/>
                <a:ea typeface="Calibri" pitchFamily="34" charset="-122"/>
                <a:cs typeface="Calibri" pitchFamily="34" charset="-120"/>
              </a:rPr>
              <a:t>Manages outsourced content creation partners, reporting, and analytics.</a:t>
            </a:r>
            <a:endParaRPr lang="en-US" sz="1050" dirty="0"/>
          </a:p>
        </p:txBody>
      </p:sp>
      <p:sp>
        <p:nvSpPr>
          <p:cNvPr id="24" name="Text 19"/>
          <p:cNvSpPr/>
          <p:nvPr/>
        </p:nvSpPr>
        <p:spPr>
          <a:xfrm>
            <a:off x="6423660" y="3383280"/>
            <a:ext cx="2011680" cy="228600"/>
          </a:xfrm>
          <a:prstGeom prst="rect">
            <a:avLst/>
          </a:prstGeom>
          <a:noFill/>
          <a:ln/>
        </p:spPr>
        <p:txBody>
          <a:bodyPr wrap="square" lIns="0" tIns="0" rIns="0" bIns="0" rtlCol="0" anchor="ctr"/>
          <a:lstStyle/>
          <a:p>
            <a:pPr marL="0" indent="0">
              <a:buNone/>
            </a:pPr>
            <a:r>
              <a:rPr lang="en-US" sz="800" b="1" dirty="0">
                <a:solidFill>
                  <a:srgbClr val="0891B2"/>
                </a:solidFill>
                <a:latin typeface="Trebuchet MS" pitchFamily="34" charset="0"/>
                <a:ea typeface="Trebuchet MS" pitchFamily="34" charset="-122"/>
                <a:cs typeface="Trebuchet MS" pitchFamily="34" charset="-120"/>
              </a:rPr>
              <a:t>KEY CHALLENGE</a:t>
            </a:r>
            <a:endParaRPr lang="en-US" sz="800" dirty="0"/>
          </a:p>
        </p:txBody>
      </p:sp>
      <p:sp>
        <p:nvSpPr>
          <p:cNvPr id="25" name="Text 20"/>
          <p:cNvSpPr/>
          <p:nvPr/>
        </p:nvSpPr>
        <p:spPr>
          <a:xfrm>
            <a:off x="6423660" y="3566160"/>
            <a:ext cx="2011680" cy="640080"/>
          </a:xfrm>
          <a:prstGeom prst="rect">
            <a:avLst/>
          </a:prstGeom>
          <a:noFill/>
          <a:ln/>
        </p:spPr>
        <p:txBody>
          <a:bodyPr wrap="square" lIns="0" tIns="0" rIns="0" bIns="0" rtlCol="0" anchor="ctr"/>
          <a:lstStyle/>
          <a:p>
            <a:pPr marL="0" indent="0">
              <a:buNone/>
            </a:pPr>
            <a:r>
              <a:rPr lang="en-US" sz="1000" i="1" dirty="0">
                <a:solidFill>
                  <a:srgbClr val="475569"/>
                </a:solidFill>
                <a:latin typeface="Calibri" pitchFamily="34" charset="0"/>
                <a:ea typeface="Calibri" pitchFamily="34" charset="-122"/>
                <a:cs typeface="Calibri" pitchFamily="34" charset="-120"/>
              </a:rPr>
              <a:t>Manual vendor coordination, time-intensive reporting, limited capacity for deeper analysis.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640080" y="91440"/>
            <a:ext cx="7315200" cy="64008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The AI Opportunity</a:t>
            </a:r>
            <a:endParaRPr lang="en-US" sz="2800" dirty="0"/>
          </a:p>
        </p:txBody>
      </p:sp>
      <p:sp>
        <p:nvSpPr>
          <p:cNvPr id="4" name="Text 2"/>
          <p:cNvSpPr/>
          <p:nvPr/>
        </p:nvSpPr>
        <p:spPr>
          <a:xfrm>
            <a:off x="640080" y="1097280"/>
            <a:ext cx="1463040" cy="640080"/>
          </a:xfrm>
          <a:prstGeom prst="rect">
            <a:avLst/>
          </a:prstGeom>
          <a:noFill/>
          <a:ln/>
        </p:spPr>
        <p:txBody>
          <a:bodyPr wrap="square" lIns="0" tIns="0" rIns="0" bIns="0" rtlCol="0" anchor="ctr"/>
          <a:lstStyle/>
          <a:p>
            <a:pPr marL="0" indent="0" algn="ctr">
              <a:buNone/>
            </a:pPr>
            <a:r>
              <a:rPr lang="en-US" sz="3600" b="1" dirty="0">
                <a:solidFill>
                  <a:srgbClr val="0891B2"/>
                </a:solidFill>
                <a:latin typeface="Trebuchet MS" pitchFamily="34" charset="0"/>
                <a:ea typeface="Trebuchet MS" pitchFamily="34" charset="-122"/>
                <a:cs typeface="Trebuchet MS" pitchFamily="34" charset="-120"/>
              </a:rPr>
              <a:t>40%</a:t>
            </a:r>
            <a:endParaRPr lang="en-US" sz="3600" dirty="0"/>
          </a:p>
        </p:txBody>
      </p:sp>
      <p:sp>
        <p:nvSpPr>
          <p:cNvPr id="5" name="Text 3"/>
          <p:cNvSpPr/>
          <p:nvPr/>
        </p:nvSpPr>
        <p:spPr>
          <a:xfrm>
            <a:off x="2103120" y="1143000"/>
            <a:ext cx="2103120" cy="59436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of content drafting time</a:t>
            </a:r>
            <a:endParaRPr lang="en-US" sz="1100" dirty="0"/>
          </a:p>
          <a:p>
            <a:pPr marL="0" indent="0">
              <a:buNone/>
            </a:pPr>
            <a:r>
              <a:rPr lang="en-US" sz="1100" dirty="0">
                <a:solidFill>
                  <a:srgbClr val="475569"/>
                </a:solidFill>
                <a:latin typeface="Calibri" pitchFamily="34" charset="0"/>
                <a:ea typeface="Calibri" pitchFamily="34" charset="-122"/>
                <a:cs typeface="Calibri" pitchFamily="34" charset="-120"/>
              </a:rPr>
              <a:t>can be automated</a:t>
            </a:r>
            <a:endParaRPr lang="en-US" sz="1100" dirty="0"/>
          </a:p>
        </p:txBody>
      </p:sp>
      <p:sp>
        <p:nvSpPr>
          <p:cNvPr id="6" name="Text 4"/>
          <p:cNvSpPr/>
          <p:nvPr/>
        </p:nvSpPr>
        <p:spPr>
          <a:xfrm>
            <a:off x="640080" y="2331720"/>
            <a:ext cx="1463040" cy="640080"/>
          </a:xfrm>
          <a:prstGeom prst="rect">
            <a:avLst/>
          </a:prstGeom>
          <a:noFill/>
          <a:ln/>
        </p:spPr>
        <p:txBody>
          <a:bodyPr wrap="square" lIns="0" tIns="0" rIns="0" bIns="0" rtlCol="0" anchor="ctr"/>
          <a:lstStyle/>
          <a:p>
            <a:pPr marL="0" indent="0" algn="ctr">
              <a:buNone/>
            </a:pPr>
            <a:r>
              <a:rPr lang="en-US" sz="3600" b="1" dirty="0">
                <a:solidFill>
                  <a:srgbClr val="14B8A6"/>
                </a:solidFill>
                <a:latin typeface="Trebuchet MS" pitchFamily="34" charset="0"/>
                <a:ea typeface="Trebuchet MS" pitchFamily="34" charset="-122"/>
                <a:cs typeface="Trebuchet MS" pitchFamily="34" charset="-120"/>
              </a:rPr>
              <a:t>3×</a:t>
            </a:r>
            <a:endParaRPr lang="en-US" sz="3600" dirty="0"/>
          </a:p>
        </p:txBody>
      </p:sp>
      <p:sp>
        <p:nvSpPr>
          <p:cNvPr id="7" name="Text 5"/>
          <p:cNvSpPr/>
          <p:nvPr/>
        </p:nvSpPr>
        <p:spPr>
          <a:xfrm>
            <a:off x="2103120" y="2377440"/>
            <a:ext cx="2103120" cy="59436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faster reporting cycles</a:t>
            </a:r>
            <a:endParaRPr lang="en-US" sz="1100" dirty="0"/>
          </a:p>
          <a:p>
            <a:pPr marL="0" indent="0">
              <a:buNone/>
            </a:pPr>
            <a:r>
              <a:rPr lang="en-US" sz="1100" dirty="0">
                <a:solidFill>
                  <a:srgbClr val="475569"/>
                </a:solidFill>
                <a:latin typeface="Calibri" pitchFamily="34" charset="0"/>
                <a:ea typeface="Calibri" pitchFamily="34" charset="-122"/>
                <a:cs typeface="Calibri" pitchFamily="34" charset="-120"/>
              </a:rPr>
              <a:t>with AI-assisted analytics</a:t>
            </a:r>
            <a:endParaRPr lang="en-US" sz="1100" dirty="0"/>
          </a:p>
        </p:txBody>
      </p:sp>
      <p:sp>
        <p:nvSpPr>
          <p:cNvPr id="8" name="Text 6"/>
          <p:cNvSpPr/>
          <p:nvPr/>
        </p:nvSpPr>
        <p:spPr>
          <a:xfrm>
            <a:off x="640080" y="3566160"/>
            <a:ext cx="1463040" cy="640080"/>
          </a:xfrm>
          <a:prstGeom prst="rect">
            <a:avLst/>
          </a:prstGeom>
          <a:noFill/>
          <a:ln/>
        </p:spPr>
        <p:txBody>
          <a:bodyPr wrap="square" lIns="0" tIns="0" rIns="0" bIns="0" rtlCol="0" anchor="ctr"/>
          <a:lstStyle/>
          <a:p>
            <a:pPr marL="0" indent="0" algn="ctr">
              <a:buNone/>
            </a:pPr>
            <a:r>
              <a:rPr lang="en-US" sz="3600" b="1" dirty="0">
                <a:solidFill>
                  <a:srgbClr val="06B6D4"/>
                </a:solidFill>
                <a:latin typeface="Trebuchet MS" pitchFamily="34" charset="0"/>
                <a:ea typeface="Trebuchet MS" pitchFamily="34" charset="-122"/>
                <a:cs typeface="Trebuchet MS" pitchFamily="34" charset="-120"/>
              </a:rPr>
              <a:t>60%</a:t>
            </a:r>
            <a:endParaRPr lang="en-US" sz="3600" dirty="0"/>
          </a:p>
        </p:txBody>
      </p:sp>
      <p:sp>
        <p:nvSpPr>
          <p:cNvPr id="9" name="Text 7"/>
          <p:cNvSpPr/>
          <p:nvPr/>
        </p:nvSpPr>
        <p:spPr>
          <a:xfrm>
            <a:off x="2103120" y="3611880"/>
            <a:ext cx="2103120" cy="59436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reduction in manual</a:t>
            </a:r>
            <a:endParaRPr lang="en-US" sz="1100" dirty="0"/>
          </a:p>
          <a:p>
            <a:pPr marL="0" indent="0">
              <a:buNone/>
            </a:pPr>
            <a:r>
              <a:rPr lang="en-US" sz="1100" dirty="0">
                <a:solidFill>
                  <a:srgbClr val="475569"/>
                </a:solidFill>
                <a:latin typeface="Calibri" pitchFamily="34" charset="0"/>
                <a:ea typeface="Calibri" pitchFamily="34" charset="-122"/>
                <a:cs typeface="Calibri" pitchFamily="34" charset="-120"/>
              </a:rPr>
              <a:t>intake processing</a:t>
            </a:r>
            <a:endParaRPr lang="en-US" sz="1100" dirty="0"/>
          </a:p>
        </p:txBody>
      </p:sp>
      <p:sp>
        <p:nvSpPr>
          <p:cNvPr id="10" name="Shape 8"/>
          <p:cNvSpPr/>
          <p:nvPr/>
        </p:nvSpPr>
        <p:spPr>
          <a:xfrm>
            <a:off x="4572000" y="1097280"/>
            <a:ext cx="0" cy="3200400"/>
          </a:xfrm>
          <a:prstGeom prst="line">
            <a:avLst/>
          </a:prstGeom>
          <a:noFill/>
          <a:ln w="19050">
            <a:solidFill>
              <a:srgbClr val="E2E8F0"/>
            </a:solidFill>
            <a:prstDash val="solid"/>
          </a:ln>
        </p:spPr>
      </p:sp>
      <p:sp>
        <p:nvSpPr>
          <p:cNvPr id="11" name="Shape 9"/>
          <p:cNvSpPr/>
          <p:nvPr/>
        </p:nvSpPr>
        <p:spPr>
          <a:xfrm>
            <a:off x="5029200" y="1143000"/>
            <a:ext cx="502920" cy="502920"/>
          </a:xfrm>
          <a:prstGeom prst="ellipse">
            <a:avLst/>
          </a:prstGeom>
          <a:solidFill>
            <a:srgbClr val="0891B2">
              <a:alpha val="15000"/>
            </a:srgbClr>
          </a:solidFill>
          <a:ln/>
        </p:spPr>
      </p:sp>
      <p:pic>
        <p:nvPicPr>
          <p:cNvPr id="12" name="Image 0" descr="preencoded.png"/>
          <p:cNvPicPr>
            <a:picLocks noChangeAspect="1"/>
          </p:cNvPicPr>
          <p:nvPr/>
        </p:nvPicPr>
        <p:blipFill>
          <a:blip r:embed="rId3"/>
          <a:stretch>
            <a:fillRect/>
          </a:stretch>
        </p:blipFill>
        <p:spPr>
          <a:xfrm>
            <a:off x="5120640" y="1207008"/>
            <a:ext cx="320040" cy="320040"/>
          </a:xfrm>
          <a:prstGeom prst="rect">
            <a:avLst/>
          </a:prstGeom>
        </p:spPr>
      </p:pic>
      <p:sp>
        <p:nvSpPr>
          <p:cNvPr id="13" name="Text 10"/>
          <p:cNvSpPr/>
          <p:nvPr/>
        </p:nvSpPr>
        <p:spPr>
          <a:xfrm>
            <a:off x="5715000" y="1097280"/>
            <a:ext cx="2926080" cy="320040"/>
          </a:xfrm>
          <a:prstGeom prst="rect">
            <a:avLst/>
          </a:prstGeom>
          <a:noFill/>
          <a:ln/>
        </p:spPr>
        <p:txBody>
          <a:bodyPr wrap="square" lIns="0" tIns="0" rIns="0" bIns="0" rtlCol="0" anchor="ctr"/>
          <a:lstStyle/>
          <a:p>
            <a:pPr marL="0" indent="0">
              <a:buNone/>
            </a:pPr>
            <a:r>
              <a:rPr lang="en-US" sz="1400" b="1" dirty="0">
                <a:solidFill>
                  <a:srgbClr val="1E293B"/>
                </a:solidFill>
                <a:latin typeface="Trebuchet MS" pitchFamily="34" charset="0"/>
                <a:ea typeface="Trebuchet MS" pitchFamily="34" charset="-122"/>
                <a:cs typeface="Trebuchet MS" pitchFamily="34" charset="-120"/>
              </a:rPr>
              <a:t>Content Generation</a:t>
            </a:r>
            <a:endParaRPr lang="en-US" sz="1400" dirty="0"/>
          </a:p>
        </p:txBody>
      </p:sp>
      <p:sp>
        <p:nvSpPr>
          <p:cNvPr id="14" name="Text 11"/>
          <p:cNvSpPr/>
          <p:nvPr/>
        </p:nvSpPr>
        <p:spPr>
          <a:xfrm>
            <a:off x="5715000" y="1417320"/>
            <a:ext cx="2926080" cy="594360"/>
          </a:xfrm>
          <a:prstGeom prst="rect">
            <a:avLst/>
          </a:prstGeom>
          <a:noFill/>
          <a:ln/>
        </p:spPr>
        <p:txBody>
          <a:bodyPr wrap="square" lIns="0" tIns="0" rIns="0" bIns="0" rtlCol="0" anchor="ctr"/>
          <a:lstStyle/>
          <a:p>
            <a:pPr marL="0" indent="0">
              <a:buNone/>
            </a:pPr>
            <a:r>
              <a:rPr lang="en-US" sz="1050" dirty="0">
                <a:solidFill>
                  <a:srgbClr val="475569"/>
                </a:solidFill>
                <a:latin typeface="Calibri" pitchFamily="34" charset="0"/>
                <a:ea typeface="Calibri" pitchFamily="34" charset="-122"/>
                <a:cs typeface="Calibri" pitchFamily="34" charset="-120"/>
              </a:rPr>
              <a:t>Draft enablement materials, playbooks, and training content at scale with AI assistance.</a:t>
            </a:r>
            <a:endParaRPr lang="en-US" sz="1050" dirty="0"/>
          </a:p>
        </p:txBody>
      </p:sp>
      <p:sp>
        <p:nvSpPr>
          <p:cNvPr id="15" name="Shape 12"/>
          <p:cNvSpPr/>
          <p:nvPr/>
        </p:nvSpPr>
        <p:spPr>
          <a:xfrm>
            <a:off x="5029200" y="2377440"/>
            <a:ext cx="502920" cy="502920"/>
          </a:xfrm>
          <a:prstGeom prst="ellipse">
            <a:avLst/>
          </a:prstGeom>
          <a:solidFill>
            <a:srgbClr val="0891B2">
              <a:alpha val="15000"/>
            </a:srgbClr>
          </a:solidFill>
          <a:ln/>
        </p:spPr>
      </p:sp>
      <p:pic>
        <p:nvPicPr>
          <p:cNvPr id="16" name="Image 1" descr="preencoded.png"/>
          <p:cNvPicPr>
            <a:picLocks noChangeAspect="1"/>
          </p:cNvPicPr>
          <p:nvPr/>
        </p:nvPicPr>
        <p:blipFill>
          <a:blip r:embed="rId4"/>
          <a:stretch>
            <a:fillRect/>
          </a:stretch>
        </p:blipFill>
        <p:spPr>
          <a:xfrm>
            <a:off x="5120640" y="2441448"/>
            <a:ext cx="320040" cy="320040"/>
          </a:xfrm>
          <a:prstGeom prst="rect">
            <a:avLst/>
          </a:prstGeom>
        </p:spPr>
      </p:pic>
      <p:sp>
        <p:nvSpPr>
          <p:cNvPr id="17" name="Text 13"/>
          <p:cNvSpPr/>
          <p:nvPr/>
        </p:nvSpPr>
        <p:spPr>
          <a:xfrm>
            <a:off x="5715000" y="2331720"/>
            <a:ext cx="2926080" cy="320040"/>
          </a:xfrm>
          <a:prstGeom prst="rect">
            <a:avLst/>
          </a:prstGeom>
          <a:noFill/>
          <a:ln/>
        </p:spPr>
        <p:txBody>
          <a:bodyPr wrap="square" lIns="0" tIns="0" rIns="0" bIns="0" rtlCol="0" anchor="ctr"/>
          <a:lstStyle/>
          <a:p>
            <a:pPr marL="0" indent="0">
              <a:buNone/>
            </a:pPr>
            <a:r>
              <a:rPr lang="en-US" sz="1400" b="1" dirty="0">
                <a:solidFill>
                  <a:srgbClr val="1E293B"/>
                </a:solidFill>
                <a:latin typeface="Trebuchet MS" pitchFamily="34" charset="0"/>
                <a:ea typeface="Trebuchet MS" pitchFamily="34" charset="-122"/>
                <a:cs typeface="Trebuchet MS" pitchFamily="34" charset="-120"/>
              </a:rPr>
              <a:t>Intelligent Insights</a:t>
            </a:r>
            <a:endParaRPr lang="en-US" sz="1400" dirty="0"/>
          </a:p>
        </p:txBody>
      </p:sp>
      <p:sp>
        <p:nvSpPr>
          <p:cNvPr id="18" name="Text 14"/>
          <p:cNvSpPr/>
          <p:nvPr/>
        </p:nvSpPr>
        <p:spPr>
          <a:xfrm>
            <a:off x="5715000" y="2651760"/>
            <a:ext cx="2926080" cy="594360"/>
          </a:xfrm>
          <a:prstGeom prst="rect">
            <a:avLst/>
          </a:prstGeom>
          <a:noFill/>
          <a:ln/>
        </p:spPr>
        <p:txBody>
          <a:bodyPr wrap="square" lIns="0" tIns="0" rIns="0" bIns="0" rtlCol="0" anchor="ctr"/>
          <a:lstStyle/>
          <a:p>
            <a:pPr marL="0" indent="0">
              <a:buNone/>
            </a:pPr>
            <a:r>
              <a:rPr lang="en-US" sz="1050" dirty="0">
                <a:solidFill>
                  <a:srgbClr val="475569"/>
                </a:solidFill>
                <a:latin typeface="Calibri" pitchFamily="34" charset="0"/>
                <a:ea typeface="Calibri" pitchFamily="34" charset="-122"/>
                <a:cs typeface="Calibri" pitchFamily="34" charset="-120"/>
              </a:rPr>
              <a:t>Surface patterns in program performance data and automate stakeholder reporting.</a:t>
            </a:r>
            <a:endParaRPr lang="en-US" sz="1050" dirty="0"/>
          </a:p>
        </p:txBody>
      </p:sp>
      <p:sp>
        <p:nvSpPr>
          <p:cNvPr id="19" name="Shape 15"/>
          <p:cNvSpPr/>
          <p:nvPr/>
        </p:nvSpPr>
        <p:spPr>
          <a:xfrm>
            <a:off x="5029200" y="3611880"/>
            <a:ext cx="502920" cy="502920"/>
          </a:xfrm>
          <a:prstGeom prst="ellipse">
            <a:avLst/>
          </a:prstGeom>
          <a:solidFill>
            <a:srgbClr val="0891B2">
              <a:alpha val="15000"/>
            </a:srgbClr>
          </a:solidFill>
          <a:ln/>
        </p:spPr>
      </p:sp>
      <p:pic>
        <p:nvPicPr>
          <p:cNvPr id="20" name="Image 2" descr="preencoded.png"/>
          <p:cNvPicPr>
            <a:picLocks noChangeAspect="1"/>
          </p:cNvPicPr>
          <p:nvPr/>
        </p:nvPicPr>
        <p:blipFill>
          <a:blip r:embed="rId5"/>
          <a:stretch>
            <a:fillRect/>
          </a:stretch>
        </p:blipFill>
        <p:spPr>
          <a:xfrm>
            <a:off x="5120640" y="3675888"/>
            <a:ext cx="320040" cy="320040"/>
          </a:xfrm>
          <a:prstGeom prst="rect">
            <a:avLst/>
          </a:prstGeom>
        </p:spPr>
      </p:pic>
      <p:sp>
        <p:nvSpPr>
          <p:cNvPr id="21" name="Text 16"/>
          <p:cNvSpPr/>
          <p:nvPr/>
        </p:nvSpPr>
        <p:spPr>
          <a:xfrm>
            <a:off x="5715000" y="3566160"/>
            <a:ext cx="2926080" cy="320040"/>
          </a:xfrm>
          <a:prstGeom prst="rect">
            <a:avLst/>
          </a:prstGeom>
          <a:noFill/>
          <a:ln/>
        </p:spPr>
        <p:txBody>
          <a:bodyPr wrap="square" lIns="0" tIns="0" rIns="0" bIns="0" rtlCol="0" anchor="ctr"/>
          <a:lstStyle/>
          <a:p>
            <a:pPr marL="0" indent="0">
              <a:buNone/>
            </a:pPr>
            <a:r>
              <a:rPr lang="en-US" sz="1400" b="1" dirty="0">
                <a:solidFill>
                  <a:srgbClr val="1E293B"/>
                </a:solidFill>
                <a:latin typeface="Trebuchet MS" pitchFamily="34" charset="0"/>
                <a:ea typeface="Trebuchet MS" pitchFamily="34" charset="-122"/>
                <a:cs typeface="Trebuchet MS" pitchFamily="34" charset="-120"/>
              </a:rPr>
              <a:t>Stakeholder Engagement</a:t>
            </a:r>
            <a:endParaRPr lang="en-US" sz="1400" dirty="0"/>
          </a:p>
        </p:txBody>
      </p:sp>
      <p:sp>
        <p:nvSpPr>
          <p:cNvPr id="22" name="Text 17"/>
          <p:cNvSpPr/>
          <p:nvPr/>
        </p:nvSpPr>
        <p:spPr>
          <a:xfrm>
            <a:off x="5715000" y="3886200"/>
            <a:ext cx="2926080" cy="594360"/>
          </a:xfrm>
          <a:prstGeom prst="rect">
            <a:avLst/>
          </a:prstGeom>
          <a:noFill/>
          <a:ln/>
        </p:spPr>
        <p:txBody>
          <a:bodyPr wrap="square" lIns="0" tIns="0" rIns="0" bIns="0" rtlCol="0" anchor="ctr"/>
          <a:lstStyle/>
          <a:p>
            <a:pPr marL="0" indent="0">
              <a:buNone/>
            </a:pPr>
            <a:r>
              <a:rPr lang="en-US" sz="1050" dirty="0">
                <a:solidFill>
                  <a:srgbClr val="475569"/>
                </a:solidFill>
                <a:latin typeface="Calibri" pitchFamily="34" charset="0"/>
                <a:ea typeface="Calibri" pitchFamily="34" charset="-122"/>
                <a:cs typeface="Calibri" pitchFamily="34" charset="-120"/>
              </a:rPr>
              <a:t>Streamline intake, summarize requirements, and prioritize requests with AI-driven scoring.</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640080" y="91440"/>
            <a:ext cx="7315200" cy="64008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Recommended Tools &amp; Use Cases</a:t>
            </a:r>
            <a:endParaRPr lang="en-US" sz="2800" dirty="0"/>
          </a:p>
        </p:txBody>
      </p:sp>
      <p:sp>
        <p:nvSpPr>
          <p:cNvPr id="4" name="Shape 2"/>
          <p:cNvSpPr/>
          <p:nvPr/>
        </p:nvSpPr>
        <p:spPr>
          <a:xfrm>
            <a:off x="411480" y="1005840"/>
            <a:ext cx="2560320" cy="3291840"/>
          </a:xfrm>
          <a:prstGeom prst="rect">
            <a:avLst/>
          </a:prstGeom>
          <a:solidFill>
            <a:srgbClr val="FFFFFF"/>
          </a:solidFill>
          <a:ln/>
          <a:effectLst>
            <a:outerShdw blurRad="101600" dist="38100" dir="8100000" algn="bl" rotWithShape="0">
              <a:srgbClr val="000000">
                <a:alpha val="10000"/>
              </a:srgbClr>
            </a:outerShdw>
          </a:effectLst>
        </p:spPr>
      </p:sp>
      <p:sp>
        <p:nvSpPr>
          <p:cNvPr id="5" name="Shape 3"/>
          <p:cNvSpPr/>
          <p:nvPr/>
        </p:nvSpPr>
        <p:spPr>
          <a:xfrm>
            <a:off x="411480" y="1005840"/>
            <a:ext cx="2560320" cy="73152"/>
          </a:xfrm>
          <a:prstGeom prst="rect">
            <a:avLst/>
          </a:prstGeom>
          <a:solidFill>
            <a:srgbClr val="0891B2"/>
          </a:solidFill>
          <a:ln/>
        </p:spPr>
      </p:sp>
      <p:sp>
        <p:nvSpPr>
          <p:cNvPr id="6" name="Text 4"/>
          <p:cNvSpPr/>
          <p:nvPr/>
        </p:nvSpPr>
        <p:spPr>
          <a:xfrm>
            <a:off x="640080" y="1234440"/>
            <a:ext cx="731520" cy="457200"/>
          </a:xfrm>
          <a:prstGeom prst="rect">
            <a:avLst/>
          </a:prstGeom>
          <a:noFill/>
          <a:ln/>
        </p:spPr>
        <p:txBody>
          <a:bodyPr wrap="square" lIns="0" tIns="0" rIns="0" bIns="0" rtlCol="0" anchor="ctr"/>
          <a:lstStyle/>
          <a:p>
            <a:pPr marL="0" indent="0">
              <a:buNone/>
            </a:pPr>
            <a:r>
              <a:rPr lang="en-US" sz="2800" b="1" dirty="0">
                <a:solidFill>
                  <a:srgbClr val="0891B2"/>
                </a:solidFill>
                <a:latin typeface="Trebuchet MS" pitchFamily="34" charset="0"/>
                <a:ea typeface="Trebuchet MS" pitchFamily="34" charset="-122"/>
                <a:cs typeface="Trebuchet MS" pitchFamily="34" charset="-120"/>
              </a:rPr>
              <a:t>01</a:t>
            </a:r>
            <a:endParaRPr lang="en-US" sz="2800" dirty="0"/>
          </a:p>
        </p:txBody>
      </p:sp>
      <p:sp>
        <p:nvSpPr>
          <p:cNvPr id="7" name="Text 5"/>
          <p:cNvSpPr/>
          <p:nvPr/>
        </p:nvSpPr>
        <p:spPr>
          <a:xfrm>
            <a:off x="640080" y="1645920"/>
            <a:ext cx="2103120" cy="320040"/>
          </a:xfrm>
          <a:prstGeom prst="rect">
            <a:avLst/>
          </a:prstGeom>
          <a:noFill/>
          <a:ln/>
        </p:spPr>
        <p:txBody>
          <a:bodyPr wrap="square" lIns="0" tIns="0" rIns="0" bIns="0" rtlCol="0" anchor="ctr"/>
          <a:lstStyle/>
          <a:p>
            <a:pPr marL="0" indent="0">
              <a:buNone/>
            </a:pPr>
            <a:r>
              <a:rPr lang="en-US" sz="1300" b="1" dirty="0">
                <a:solidFill>
                  <a:srgbClr val="1E293B"/>
                </a:solidFill>
                <a:latin typeface="Trebuchet MS" pitchFamily="34" charset="0"/>
                <a:ea typeface="Trebuchet MS" pitchFamily="34" charset="-122"/>
                <a:cs typeface="Trebuchet MS" pitchFamily="34" charset="-120"/>
              </a:rPr>
              <a:t>AI Writing Assistant</a:t>
            </a:r>
            <a:endParaRPr lang="en-US" sz="1300" dirty="0"/>
          </a:p>
        </p:txBody>
      </p:sp>
      <p:sp>
        <p:nvSpPr>
          <p:cNvPr id="8" name="Text 6"/>
          <p:cNvSpPr/>
          <p:nvPr/>
        </p:nvSpPr>
        <p:spPr>
          <a:xfrm>
            <a:off x="640080" y="1920240"/>
            <a:ext cx="2103120" cy="274320"/>
          </a:xfrm>
          <a:prstGeom prst="rect">
            <a:avLst/>
          </a:prstGeom>
          <a:noFill/>
          <a:ln/>
        </p:spPr>
        <p:txBody>
          <a:bodyPr wrap="square" lIns="0" tIns="0" rIns="0" bIns="0" rtlCol="0" anchor="ctr"/>
          <a:lstStyle/>
          <a:p>
            <a:pPr marL="0" indent="0">
              <a:buNone/>
            </a:pPr>
            <a:r>
              <a:rPr lang="en-US" sz="900" i="1" dirty="0">
                <a:solidFill>
                  <a:srgbClr val="94A3B8"/>
                </a:solidFill>
                <a:latin typeface="Calibri" pitchFamily="34" charset="0"/>
                <a:ea typeface="Calibri" pitchFamily="34" charset="-122"/>
                <a:cs typeface="Calibri" pitchFamily="34" charset="-120"/>
              </a:rPr>
              <a:t>e.g., Claude / ChatGPT Enterprise</a:t>
            </a:r>
            <a:endParaRPr lang="en-US" sz="900" dirty="0"/>
          </a:p>
        </p:txBody>
      </p:sp>
      <p:sp>
        <p:nvSpPr>
          <p:cNvPr id="9" name="Shape 7"/>
          <p:cNvSpPr/>
          <p:nvPr/>
        </p:nvSpPr>
        <p:spPr>
          <a:xfrm>
            <a:off x="640080" y="2286000"/>
            <a:ext cx="2103120" cy="0"/>
          </a:xfrm>
          <a:prstGeom prst="line">
            <a:avLst/>
          </a:prstGeom>
          <a:noFill/>
          <a:ln w="12700">
            <a:solidFill>
              <a:srgbClr val="E2E8F0"/>
            </a:solidFill>
            <a:prstDash val="solid"/>
          </a:ln>
        </p:spPr>
      </p:sp>
      <p:sp>
        <p:nvSpPr>
          <p:cNvPr id="10" name="Text 8"/>
          <p:cNvSpPr/>
          <p:nvPr/>
        </p:nvSpPr>
        <p:spPr>
          <a:xfrm>
            <a:off x="640080" y="2377440"/>
            <a:ext cx="2103120" cy="228600"/>
          </a:xfrm>
          <a:prstGeom prst="rect">
            <a:avLst/>
          </a:prstGeom>
          <a:noFill/>
          <a:ln/>
        </p:spPr>
        <p:txBody>
          <a:bodyPr wrap="square" lIns="0" tIns="0" rIns="0" bIns="0" rtlCol="0" anchor="ctr"/>
          <a:lstStyle/>
          <a:p>
            <a:pPr marL="0" indent="0">
              <a:buNone/>
            </a:pPr>
            <a:r>
              <a:rPr lang="en-US" sz="800" b="1" dirty="0">
                <a:solidFill>
                  <a:srgbClr val="0891B2"/>
                </a:solidFill>
                <a:latin typeface="Trebuchet MS" pitchFamily="34" charset="0"/>
                <a:ea typeface="Trebuchet MS" pitchFamily="34" charset="-122"/>
                <a:cs typeface="Trebuchet MS" pitchFamily="34" charset="-120"/>
              </a:rPr>
              <a:t>USE CASES</a:t>
            </a:r>
            <a:endParaRPr lang="en-US" sz="800" dirty="0"/>
          </a:p>
        </p:txBody>
      </p:sp>
      <p:sp>
        <p:nvSpPr>
          <p:cNvPr id="11" name="Text 9"/>
          <p:cNvSpPr/>
          <p:nvPr/>
        </p:nvSpPr>
        <p:spPr>
          <a:xfrm>
            <a:off x="594360" y="2606040"/>
            <a:ext cx="2148840" cy="1188720"/>
          </a:xfrm>
          <a:prstGeom prst="rect">
            <a:avLst/>
          </a:prstGeom>
          <a:noFill/>
          <a:ln/>
        </p:spPr>
        <p:txBody>
          <a:bodyPr wrap="square" lIns="0" tIns="0" rIns="0" bIns="0" rtlCol="0" anchor="ctr"/>
          <a:lstStyle/>
          <a:p>
            <a:pPr marL="342900" indent="-342900">
              <a:spcAft>
                <a:spcPts val="400"/>
              </a:spcAft>
              <a:buSzPct val="100000"/>
              <a:buChar char="•"/>
            </a:pPr>
            <a:r>
              <a:rPr lang="en-US" sz="950" dirty="0">
                <a:solidFill>
                  <a:srgbClr val="475569"/>
                </a:solidFill>
                <a:latin typeface="Calibri" pitchFamily="34" charset="0"/>
                <a:ea typeface="Calibri" pitchFamily="34" charset="-122"/>
                <a:cs typeface="Calibri" pitchFamily="34" charset="-120"/>
              </a:rPr>
              <a:t>Draft enablement playbooks, training guides &amp; partner materials</a:t>
            </a:r>
            <a:endParaRPr lang="en-US" sz="950" dirty="0"/>
          </a:p>
          <a:p>
            <a:pPr marL="342900" indent="-342900">
              <a:spcAft>
                <a:spcPts val="400"/>
              </a:spcAft>
              <a:buSzPct val="100000"/>
              <a:buChar char="•"/>
            </a:pPr>
            <a:r>
              <a:rPr lang="en-US" sz="950" dirty="0">
                <a:solidFill>
                  <a:srgbClr val="475569"/>
                </a:solidFill>
                <a:latin typeface="Calibri" pitchFamily="34" charset="0"/>
                <a:ea typeface="Calibri" pitchFamily="34" charset="-122"/>
                <a:cs typeface="Calibri" pitchFamily="34" charset="-120"/>
              </a:rPr>
              <a:t>Summarize stakeholder requirements from intake documents</a:t>
            </a:r>
            <a:endParaRPr lang="en-US" sz="950" dirty="0"/>
          </a:p>
          <a:p>
            <a:pPr marL="342900" indent="-342900">
              <a:spcAft>
                <a:spcPts val="400"/>
              </a:spcAft>
              <a:buSzPct val="100000"/>
              <a:buChar char="•"/>
            </a:pPr>
            <a:r>
              <a:rPr lang="en-US" sz="950" dirty="0">
                <a:solidFill>
                  <a:srgbClr val="475569"/>
                </a:solidFill>
                <a:latin typeface="Calibri" pitchFamily="34" charset="0"/>
                <a:ea typeface="Calibri" pitchFamily="34" charset="-122"/>
                <a:cs typeface="Calibri" pitchFamily="34" charset="-120"/>
              </a:rPr>
              <a:t>Generate first-pass content for outsource partner briefs</a:t>
            </a:r>
            <a:endParaRPr lang="en-US" sz="950" dirty="0"/>
          </a:p>
        </p:txBody>
      </p:sp>
      <p:sp>
        <p:nvSpPr>
          <p:cNvPr id="12" name="Shape 10"/>
          <p:cNvSpPr/>
          <p:nvPr/>
        </p:nvSpPr>
        <p:spPr>
          <a:xfrm>
            <a:off x="640080" y="3840480"/>
            <a:ext cx="2103120" cy="274320"/>
          </a:xfrm>
          <a:prstGeom prst="rect">
            <a:avLst/>
          </a:prstGeom>
          <a:solidFill>
            <a:srgbClr val="0891B2">
              <a:alpha val="12000"/>
            </a:srgbClr>
          </a:solidFill>
          <a:ln/>
        </p:spPr>
      </p:sp>
      <p:sp>
        <p:nvSpPr>
          <p:cNvPr id="13" name="Text 11"/>
          <p:cNvSpPr/>
          <p:nvPr/>
        </p:nvSpPr>
        <p:spPr>
          <a:xfrm>
            <a:off x="640080" y="3840480"/>
            <a:ext cx="2103120" cy="274320"/>
          </a:xfrm>
          <a:prstGeom prst="rect">
            <a:avLst/>
          </a:prstGeom>
          <a:noFill/>
          <a:ln/>
        </p:spPr>
        <p:txBody>
          <a:bodyPr wrap="square" lIns="0" tIns="0" rIns="0" bIns="0" rtlCol="0" anchor="ctr"/>
          <a:lstStyle/>
          <a:p>
            <a:pPr marL="0" indent="0" algn="ctr">
              <a:buNone/>
            </a:pPr>
            <a:r>
              <a:rPr lang="en-US" sz="900" b="1" dirty="0">
                <a:solidFill>
                  <a:srgbClr val="0891B2"/>
                </a:solidFill>
                <a:latin typeface="Trebuchet MS" pitchFamily="34" charset="0"/>
                <a:ea typeface="Trebuchet MS" pitchFamily="34" charset="-122"/>
                <a:cs typeface="Trebuchet MS" pitchFamily="34" charset="-120"/>
              </a:rPr>
              <a:t>All Teams</a:t>
            </a:r>
            <a:endParaRPr lang="en-US" sz="900" dirty="0"/>
          </a:p>
        </p:txBody>
      </p:sp>
      <p:sp>
        <p:nvSpPr>
          <p:cNvPr id="14" name="Shape 12"/>
          <p:cNvSpPr/>
          <p:nvPr/>
        </p:nvSpPr>
        <p:spPr>
          <a:xfrm>
            <a:off x="3291840" y="1005840"/>
            <a:ext cx="2560320" cy="3291840"/>
          </a:xfrm>
          <a:prstGeom prst="rect">
            <a:avLst/>
          </a:prstGeom>
          <a:solidFill>
            <a:srgbClr val="FFFFFF"/>
          </a:solidFill>
          <a:ln/>
          <a:effectLst>
            <a:outerShdw blurRad="101600" dist="38100" dir="8100000" algn="bl" rotWithShape="0">
              <a:srgbClr val="000000">
                <a:alpha val="10000"/>
              </a:srgbClr>
            </a:outerShdw>
          </a:effectLst>
        </p:spPr>
      </p:sp>
      <p:sp>
        <p:nvSpPr>
          <p:cNvPr id="15" name="Shape 13"/>
          <p:cNvSpPr/>
          <p:nvPr/>
        </p:nvSpPr>
        <p:spPr>
          <a:xfrm>
            <a:off x="3291840" y="1005840"/>
            <a:ext cx="2560320" cy="73152"/>
          </a:xfrm>
          <a:prstGeom prst="rect">
            <a:avLst/>
          </a:prstGeom>
          <a:solidFill>
            <a:srgbClr val="14B8A6"/>
          </a:solidFill>
          <a:ln/>
        </p:spPr>
      </p:sp>
      <p:sp>
        <p:nvSpPr>
          <p:cNvPr id="16" name="Text 14"/>
          <p:cNvSpPr/>
          <p:nvPr/>
        </p:nvSpPr>
        <p:spPr>
          <a:xfrm>
            <a:off x="3520440" y="1234440"/>
            <a:ext cx="731520" cy="457200"/>
          </a:xfrm>
          <a:prstGeom prst="rect">
            <a:avLst/>
          </a:prstGeom>
          <a:noFill/>
          <a:ln/>
        </p:spPr>
        <p:txBody>
          <a:bodyPr wrap="square" lIns="0" tIns="0" rIns="0" bIns="0" rtlCol="0" anchor="ctr"/>
          <a:lstStyle/>
          <a:p>
            <a:pPr marL="0" indent="0">
              <a:buNone/>
            </a:pPr>
            <a:r>
              <a:rPr lang="en-US" sz="2800" b="1" dirty="0">
                <a:solidFill>
                  <a:srgbClr val="14B8A6"/>
                </a:solidFill>
                <a:latin typeface="Trebuchet MS" pitchFamily="34" charset="0"/>
                <a:ea typeface="Trebuchet MS" pitchFamily="34" charset="-122"/>
                <a:cs typeface="Trebuchet MS" pitchFamily="34" charset="-120"/>
              </a:rPr>
              <a:t>02</a:t>
            </a:r>
            <a:endParaRPr lang="en-US" sz="2800" dirty="0"/>
          </a:p>
        </p:txBody>
      </p:sp>
      <p:sp>
        <p:nvSpPr>
          <p:cNvPr id="17" name="Text 15"/>
          <p:cNvSpPr/>
          <p:nvPr/>
        </p:nvSpPr>
        <p:spPr>
          <a:xfrm>
            <a:off x="3520440" y="1645920"/>
            <a:ext cx="2103120" cy="320040"/>
          </a:xfrm>
          <a:prstGeom prst="rect">
            <a:avLst/>
          </a:prstGeom>
          <a:noFill/>
          <a:ln/>
        </p:spPr>
        <p:txBody>
          <a:bodyPr wrap="square" lIns="0" tIns="0" rIns="0" bIns="0" rtlCol="0" anchor="ctr"/>
          <a:lstStyle/>
          <a:p>
            <a:pPr marL="0" indent="0">
              <a:buNone/>
            </a:pPr>
            <a:r>
              <a:rPr lang="en-US" sz="1300" b="1" dirty="0">
                <a:solidFill>
                  <a:srgbClr val="1E293B"/>
                </a:solidFill>
                <a:latin typeface="Trebuchet MS" pitchFamily="34" charset="0"/>
                <a:ea typeface="Trebuchet MS" pitchFamily="34" charset="-122"/>
                <a:cs typeface="Trebuchet MS" pitchFamily="34" charset="-120"/>
              </a:rPr>
              <a:t>AI Analytics Platform</a:t>
            </a:r>
            <a:endParaRPr lang="en-US" sz="1300" dirty="0"/>
          </a:p>
        </p:txBody>
      </p:sp>
      <p:sp>
        <p:nvSpPr>
          <p:cNvPr id="18" name="Text 16"/>
          <p:cNvSpPr/>
          <p:nvPr/>
        </p:nvSpPr>
        <p:spPr>
          <a:xfrm>
            <a:off x="3520440" y="1920240"/>
            <a:ext cx="2103120" cy="274320"/>
          </a:xfrm>
          <a:prstGeom prst="rect">
            <a:avLst/>
          </a:prstGeom>
          <a:noFill/>
          <a:ln/>
        </p:spPr>
        <p:txBody>
          <a:bodyPr wrap="square" lIns="0" tIns="0" rIns="0" bIns="0" rtlCol="0" anchor="ctr"/>
          <a:lstStyle/>
          <a:p>
            <a:pPr marL="0" indent="0">
              <a:buNone/>
            </a:pPr>
            <a:r>
              <a:rPr lang="en-US" sz="900" i="1" dirty="0">
                <a:solidFill>
                  <a:srgbClr val="94A3B8"/>
                </a:solidFill>
                <a:latin typeface="Calibri" pitchFamily="34" charset="0"/>
                <a:ea typeface="Calibri" pitchFamily="34" charset="-122"/>
                <a:cs typeface="Calibri" pitchFamily="34" charset="-120"/>
              </a:rPr>
              <a:t>e.g., ThoughtSpot / Power BI Copilot</a:t>
            </a:r>
            <a:endParaRPr lang="en-US" sz="900" dirty="0"/>
          </a:p>
        </p:txBody>
      </p:sp>
      <p:sp>
        <p:nvSpPr>
          <p:cNvPr id="19" name="Shape 17"/>
          <p:cNvSpPr/>
          <p:nvPr/>
        </p:nvSpPr>
        <p:spPr>
          <a:xfrm>
            <a:off x="3520440" y="2286000"/>
            <a:ext cx="2103120" cy="0"/>
          </a:xfrm>
          <a:prstGeom prst="line">
            <a:avLst/>
          </a:prstGeom>
          <a:noFill/>
          <a:ln w="12700">
            <a:solidFill>
              <a:srgbClr val="E2E8F0"/>
            </a:solidFill>
            <a:prstDash val="solid"/>
          </a:ln>
        </p:spPr>
      </p:sp>
      <p:sp>
        <p:nvSpPr>
          <p:cNvPr id="20" name="Text 18"/>
          <p:cNvSpPr/>
          <p:nvPr/>
        </p:nvSpPr>
        <p:spPr>
          <a:xfrm>
            <a:off x="3520440" y="2377440"/>
            <a:ext cx="2103120" cy="228600"/>
          </a:xfrm>
          <a:prstGeom prst="rect">
            <a:avLst/>
          </a:prstGeom>
          <a:noFill/>
          <a:ln/>
        </p:spPr>
        <p:txBody>
          <a:bodyPr wrap="square" lIns="0" tIns="0" rIns="0" bIns="0" rtlCol="0" anchor="ctr"/>
          <a:lstStyle/>
          <a:p>
            <a:pPr marL="0" indent="0">
              <a:buNone/>
            </a:pPr>
            <a:r>
              <a:rPr lang="en-US" sz="800" b="1" dirty="0">
                <a:solidFill>
                  <a:srgbClr val="0891B2"/>
                </a:solidFill>
                <a:latin typeface="Trebuchet MS" pitchFamily="34" charset="0"/>
                <a:ea typeface="Trebuchet MS" pitchFamily="34" charset="-122"/>
                <a:cs typeface="Trebuchet MS" pitchFamily="34" charset="-120"/>
              </a:rPr>
              <a:t>USE CASES</a:t>
            </a:r>
            <a:endParaRPr lang="en-US" sz="800" dirty="0"/>
          </a:p>
        </p:txBody>
      </p:sp>
      <p:sp>
        <p:nvSpPr>
          <p:cNvPr id="21" name="Text 19"/>
          <p:cNvSpPr/>
          <p:nvPr/>
        </p:nvSpPr>
        <p:spPr>
          <a:xfrm>
            <a:off x="3474720" y="2606040"/>
            <a:ext cx="2148840" cy="1188720"/>
          </a:xfrm>
          <a:prstGeom prst="rect">
            <a:avLst/>
          </a:prstGeom>
          <a:noFill/>
          <a:ln/>
        </p:spPr>
        <p:txBody>
          <a:bodyPr wrap="square" lIns="0" tIns="0" rIns="0" bIns="0" rtlCol="0" anchor="ctr"/>
          <a:lstStyle/>
          <a:p>
            <a:pPr marL="342900" indent="-342900">
              <a:spcAft>
                <a:spcPts val="400"/>
              </a:spcAft>
              <a:buSzPct val="100000"/>
              <a:buChar char="•"/>
            </a:pPr>
            <a:r>
              <a:rPr lang="en-US" sz="950" dirty="0">
                <a:solidFill>
                  <a:srgbClr val="475569"/>
                </a:solidFill>
                <a:latin typeface="Calibri" pitchFamily="34" charset="0"/>
                <a:ea typeface="Calibri" pitchFamily="34" charset="-122"/>
                <a:cs typeface="Calibri" pitchFamily="34" charset="-120"/>
              </a:rPr>
              <a:t>Auto-generate program performance dashboards</a:t>
            </a:r>
            <a:endParaRPr lang="en-US" sz="950" dirty="0"/>
          </a:p>
          <a:p>
            <a:pPr marL="342900" indent="-342900">
              <a:spcAft>
                <a:spcPts val="400"/>
              </a:spcAft>
              <a:buSzPct val="100000"/>
              <a:buChar char="•"/>
            </a:pPr>
            <a:r>
              <a:rPr lang="en-US" sz="950" dirty="0">
                <a:solidFill>
                  <a:srgbClr val="475569"/>
                </a:solidFill>
                <a:latin typeface="Calibri" pitchFamily="34" charset="0"/>
                <a:ea typeface="Calibri" pitchFamily="34" charset="-122"/>
                <a:cs typeface="Calibri" pitchFamily="34" charset="-120"/>
              </a:rPr>
              <a:t>Natural-language queries on enablement metrics</a:t>
            </a:r>
            <a:endParaRPr lang="en-US" sz="950" dirty="0"/>
          </a:p>
          <a:p>
            <a:pPr marL="342900" indent="-342900">
              <a:spcAft>
                <a:spcPts val="400"/>
              </a:spcAft>
              <a:buSzPct val="100000"/>
              <a:buChar char="•"/>
            </a:pPr>
            <a:r>
              <a:rPr lang="en-US" sz="950" dirty="0">
                <a:solidFill>
                  <a:srgbClr val="475569"/>
                </a:solidFill>
                <a:latin typeface="Calibri" pitchFamily="34" charset="0"/>
                <a:ea typeface="Calibri" pitchFamily="34" charset="-122"/>
                <a:cs typeface="Calibri" pitchFamily="34" charset="-120"/>
              </a:rPr>
              <a:t>Predictive scoring to prioritize enablement requests</a:t>
            </a:r>
            <a:endParaRPr lang="en-US" sz="950" dirty="0"/>
          </a:p>
        </p:txBody>
      </p:sp>
      <p:sp>
        <p:nvSpPr>
          <p:cNvPr id="22" name="Shape 20"/>
          <p:cNvSpPr/>
          <p:nvPr/>
        </p:nvSpPr>
        <p:spPr>
          <a:xfrm>
            <a:off x="3520440" y="3840480"/>
            <a:ext cx="2103120" cy="274320"/>
          </a:xfrm>
          <a:prstGeom prst="rect">
            <a:avLst/>
          </a:prstGeom>
          <a:solidFill>
            <a:srgbClr val="14B8A6">
              <a:alpha val="12000"/>
            </a:srgbClr>
          </a:solidFill>
          <a:ln/>
        </p:spPr>
      </p:sp>
      <p:sp>
        <p:nvSpPr>
          <p:cNvPr id="23" name="Text 21"/>
          <p:cNvSpPr/>
          <p:nvPr/>
        </p:nvSpPr>
        <p:spPr>
          <a:xfrm>
            <a:off x="3520440" y="3840480"/>
            <a:ext cx="2103120" cy="274320"/>
          </a:xfrm>
          <a:prstGeom prst="rect">
            <a:avLst/>
          </a:prstGeom>
          <a:noFill/>
          <a:ln/>
        </p:spPr>
        <p:txBody>
          <a:bodyPr wrap="square" lIns="0" tIns="0" rIns="0" bIns="0" rtlCol="0" anchor="ctr"/>
          <a:lstStyle/>
          <a:p>
            <a:pPr marL="0" indent="0" algn="ctr">
              <a:buNone/>
            </a:pPr>
            <a:r>
              <a:rPr lang="en-US" sz="900" b="1" dirty="0">
                <a:solidFill>
                  <a:srgbClr val="14B8A6"/>
                </a:solidFill>
                <a:latin typeface="Trebuchet MS" pitchFamily="34" charset="0"/>
                <a:ea typeface="Trebuchet MS" pitchFamily="34" charset="-122"/>
                <a:cs typeface="Trebuchet MS" pitchFamily="34" charset="-120"/>
              </a:rPr>
              <a:t>Services · Business Partners</a:t>
            </a:r>
            <a:endParaRPr lang="en-US" sz="900" dirty="0"/>
          </a:p>
        </p:txBody>
      </p:sp>
      <p:sp>
        <p:nvSpPr>
          <p:cNvPr id="24" name="Shape 22"/>
          <p:cNvSpPr/>
          <p:nvPr/>
        </p:nvSpPr>
        <p:spPr>
          <a:xfrm>
            <a:off x="6172200" y="1005840"/>
            <a:ext cx="2560320" cy="3291840"/>
          </a:xfrm>
          <a:prstGeom prst="rect">
            <a:avLst/>
          </a:prstGeom>
          <a:solidFill>
            <a:srgbClr val="FFFFFF"/>
          </a:solidFill>
          <a:ln/>
          <a:effectLst>
            <a:outerShdw blurRad="101600" dist="38100" dir="8100000" algn="bl" rotWithShape="0">
              <a:srgbClr val="000000">
                <a:alpha val="10000"/>
              </a:srgbClr>
            </a:outerShdw>
          </a:effectLst>
        </p:spPr>
      </p:sp>
      <p:sp>
        <p:nvSpPr>
          <p:cNvPr id="25" name="Shape 23"/>
          <p:cNvSpPr/>
          <p:nvPr/>
        </p:nvSpPr>
        <p:spPr>
          <a:xfrm>
            <a:off x="6172200" y="1005840"/>
            <a:ext cx="2560320" cy="73152"/>
          </a:xfrm>
          <a:prstGeom prst="rect">
            <a:avLst/>
          </a:prstGeom>
          <a:solidFill>
            <a:srgbClr val="06B6D4"/>
          </a:solidFill>
          <a:ln/>
        </p:spPr>
      </p:sp>
      <p:sp>
        <p:nvSpPr>
          <p:cNvPr id="26" name="Text 24"/>
          <p:cNvSpPr/>
          <p:nvPr/>
        </p:nvSpPr>
        <p:spPr>
          <a:xfrm>
            <a:off x="6400800" y="1234440"/>
            <a:ext cx="731520" cy="457200"/>
          </a:xfrm>
          <a:prstGeom prst="rect">
            <a:avLst/>
          </a:prstGeom>
          <a:noFill/>
          <a:ln/>
        </p:spPr>
        <p:txBody>
          <a:bodyPr wrap="square" lIns="0" tIns="0" rIns="0" bIns="0" rtlCol="0" anchor="ctr"/>
          <a:lstStyle/>
          <a:p>
            <a:pPr marL="0" indent="0">
              <a:buNone/>
            </a:pPr>
            <a:r>
              <a:rPr lang="en-US" sz="2800" b="1" dirty="0">
                <a:solidFill>
                  <a:srgbClr val="06B6D4"/>
                </a:solidFill>
                <a:latin typeface="Trebuchet MS" pitchFamily="34" charset="0"/>
                <a:ea typeface="Trebuchet MS" pitchFamily="34" charset="-122"/>
                <a:cs typeface="Trebuchet MS" pitchFamily="34" charset="-120"/>
              </a:rPr>
              <a:t>03</a:t>
            </a:r>
            <a:endParaRPr lang="en-US" sz="2800" dirty="0"/>
          </a:p>
        </p:txBody>
      </p:sp>
      <p:sp>
        <p:nvSpPr>
          <p:cNvPr id="27" name="Text 25"/>
          <p:cNvSpPr/>
          <p:nvPr/>
        </p:nvSpPr>
        <p:spPr>
          <a:xfrm>
            <a:off x="6400800" y="1645920"/>
            <a:ext cx="2103120" cy="320040"/>
          </a:xfrm>
          <a:prstGeom prst="rect">
            <a:avLst/>
          </a:prstGeom>
          <a:noFill/>
          <a:ln/>
        </p:spPr>
        <p:txBody>
          <a:bodyPr wrap="square" lIns="0" tIns="0" rIns="0" bIns="0" rtlCol="0" anchor="ctr"/>
          <a:lstStyle/>
          <a:p>
            <a:pPr marL="0" indent="0">
              <a:buNone/>
            </a:pPr>
            <a:r>
              <a:rPr lang="en-US" sz="1300" b="1" dirty="0">
                <a:solidFill>
                  <a:srgbClr val="1E293B"/>
                </a:solidFill>
                <a:latin typeface="Trebuchet MS" pitchFamily="34" charset="0"/>
                <a:ea typeface="Trebuchet MS" pitchFamily="34" charset="-122"/>
                <a:cs typeface="Trebuchet MS" pitchFamily="34" charset="-120"/>
              </a:rPr>
              <a:t>AI Workflow Automation</a:t>
            </a:r>
            <a:endParaRPr lang="en-US" sz="1300" dirty="0"/>
          </a:p>
        </p:txBody>
      </p:sp>
      <p:sp>
        <p:nvSpPr>
          <p:cNvPr id="28" name="Text 26"/>
          <p:cNvSpPr/>
          <p:nvPr/>
        </p:nvSpPr>
        <p:spPr>
          <a:xfrm>
            <a:off x="6400800" y="1920240"/>
            <a:ext cx="2103120" cy="274320"/>
          </a:xfrm>
          <a:prstGeom prst="rect">
            <a:avLst/>
          </a:prstGeom>
          <a:noFill/>
          <a:ln/>
        </p:spPr>
        <p:txBody>
          <a:bodyPr wrap="square" lIns="0" tIns="0" rIns="0" bIns="0" rtlCol="0" anchor="ctr"/>
          <a:lstStyle/>
          <a:p>
            <a:pPr marL="0" indent="0">
              <a:buNone/>
            </a:pPr>
            <a:r>
              <a:rPr lang="en-US" sz="900" i="1" dirty="0">
                <a:solidFill>
                  <a:srgbClr val="94A3B8"/>
                </a:solidFill>
                <a:latin typeface="Calibri" pitchFamily="34" charset="0"/>
                <a:ea typeface="Calibri" pitchFamily="34" charset="-122"/>
                <a:cs typeface="Calibri" pitchFamily="34" charset="-120"/>
              </a:rPr>
              <a:t>e.g., Zapier AI / Power Automate</a:t>
            </a:r>
            <a:endParaRPr lang="en-US" sz="900" dirty="0"/>
          </a:p>
        </p:txBody>
      </p:sp>
      <p:sp>
        <p:nvSpPr>
          <p:cNvPr id="29" name="Shape 27"/>
          <p:cNvSpPr/>
          <p:nvPr/>
        </p:nvSpPr>
        <p:spPr>
          <a:xfrm>
            <a:off x="6400800" y="2286000"/>
            <a:ext cx="2103120" cy="0"/>
          </a:xfrm>
          <a:prstGeom prst="line">
            <a:avLst/>
          </a:prstGeom>
          <a:noFill/>
          <a:ln w="12700">
            <a:solidFill>
              <a:srgbClr val="E2E8F0"/>
            </a:solidFill>
            <a:prstDash val="solid"/>
          </a:ln>
        </p:spPr>
      </p:sp>
      <p:sp>
        <p:nvSpPr>
          <p:cNvPr id="30" name="Text 28"/>
          <p:cNvSpPr/>
          <p:nvPr/>
        </p:nvSpPr>
        <p:spPr>
          <a:xfrm>
            <a:off x="6400800" y="2377440"/>
            <a:ext cx="2103120" cy="228600"/>
          </a:xfrm>
          <a:prstGeom prst="rect">
            <a:avLst/>
          </a:prstGeom>
          <a:noFill/>
          <a:ln/>
        </p:spPr>
        <p:txBody>
          <a:bodyPr wrap="square" lIns="0" tIns="0" rIns="0" bIns="0" rtlCol="0" anchor="ctr"/>
          <a:lstStyle/>
          <a:p>
            <a:pPr marL="0" indent="0">
              <a:buNone/>
            </a:pPr>
            <a:r>
              <a:rPr lang="en-US" sz="800" b="1" dirty="0">
                <a:solidFill>
                  <a:srgbClr val="0891B2"/>
                </a:solidFill>
                <a:latin typeface="Trebuchet MS" pitchFamily="34" charset="0"/>
                <a:ea typeface="Trebuchet MS" pitchFamily="34" charset="-122"/>
                <a:cs typeface="Trebuchet MS" pitchFamily="34" charset="-120"/>
              </a:rPr>
              <a:t>USE CASES</a:t>
            </a:r>
            <a:endParaRPr lang="en-US" sz="800" dirty="0"/>
          </a:p>
        </p:txBody>
      </p:sp>
      <p:sp>
        <p:nvSpPr>
          <p:cNvPr id="31" name="Text 29"/>
          <p:cNvSpPr/>
          <p:nvPr/>
        </p:nvSpPr>
        <p:spPr>
          <a:xfrm>
            <a:off x="6355080" y="2606040"/>
            <a:ext cx="2148840" cy="1188720"/>
          </a:xfrm>
          <a:prstGeom prst="rect">
            <a:avLst/>
          </a:prstGeom>
          <a:noFill/>
          <a:ln/>
        </p:spPr>
        <p:txBody>
          <a:bodyPr wrap="square" lIns="0" tIns="0" rIns="0" bIns="0" rtlCol="0" anchor="ctr"/>
          <a:lstStyle/>
          <a:p>
            <a:pPr marL="342900" indent="-342900">
              <a:spcAft>
                <a:spcPts val="400"/>
              </a:spcAft>
              <a:buSzPct val="100000"/>
              <a:buChar char="•"/>
            </a:pPr>
            <a:r>
              <a:rPr lang="en-US" sz="950" dirty="0">
                <a:solidFill>
                  <a:srgbClr val="475569"/>
                </a:solidFill>
                <a:latin typeface="Calibri" pitchFamily="34" charset="0"/>
                <a:ea typeface="Calibri" pitchFamily="34" charset="-122"/>
                <a:cs typeface="Calibri" pitchFamily="34" charset="-120"/>
              </a:rPr>
              <a:t>Automate intake routing and vendor coordination emails</a:t>
            </a:r>
            <a:endParaRPr lang="en-US" sz="950" dirty="0"/>
          </a:p>
          <a:p>
            <a:pPr marL="342900" indent="-342900">
              <a:spcAft>
                <a:spcPts val="400"/>
              </a:spcAft>
              <a:buSzPct val="100000"/>
              <a:buChar char="•"/>
            </a:pPr>
            <a:r>
              <a:rPr lang="en-US" sz="950" dirty="0">
                <a:solidFill>
                  <a:srgbClr val="475569"/>
                </a:solidFill>
                <a:latin typeface="Calibri" pitchFamily="34" charset="0"/>
                <a:ea typeface="Calibri" pitchFamily="34" charset="-122"/>
                <a:cs typeface="Calibri" pitchFamily="34" charset="-120"/>
              </a:rPr>
              <a:t>Schedule and distribute reports to stakeholders</a:t>
            </a:r>
            <a:endParaRPr lang="en-US" sz="950" dirty="0"/>
          </a:p>
          <a:p>
            <a:pPr marL="342900" indent="-342900">
              <a:spcAft>
                <a:spcPts val="400"/>
              </a:spcAft>
              <a:buSzPct val="100000"/>
              <a:buChar char="•"/>
            </a:pPr>
            <a:r>
              <a:rPr lang="en-US" sz="950" dirty="0">
                <a:solidFill>
                  <a:srgbClr val="475569"/>
                </a:solidFill>
                <a:latin typeface="Calibri" pitchFamily="34" charset="0"/>
                <a:ea typeface="Calibri" pitchFamily="34" charset="-122"/>
                <a:cs typeface="Calibri" pitchFamily="34" charset="-120"/>
              </a:rPr>
              <a:t>Sync content status across partner management tools</a:t>
            </a:r>
            <a:endParaRPr lang="en-US" sz="950" dirty="0"/>
          </a:p>
        </p:txBody>
      </p:sp>
      <p:sp>
        <p:nvSpPr>
          <p:cNvPr id="32" name="Shape 30"/>
          <p:cNvSpPr/>
          <p:nvPr/>
        </p:nvSpPr>
        <p:spPr>
          <a:xfrm>
            <a:off x="6400800" y="3840480"/>
            <a:ext cx="2103120" cy="274320"/>
          </a:xfrm>
          <a:prstGeom prst="rect">
            <a:avLst/>
          </a:prstGeom>
          <a:solidFill>
            <a:srgbClr val="06B6D4">
              <a:alpha val="12000"/>
            </a:srgbClr>
          </a:solidFill>
          <a:ln/>
        </p:spPr>
      </p:sp>
      <p:sp>
        <p:nvSpPr>
          <p:cNvPr id="33" name="Text 31"/>
          <p:cNvSpPr/>
          <p:nvPr/>
        </p:nvSpPr>
        <p:spPr>
          <a:xfrm>
            <a:off x="6400800" y="3840480"/>
            <a:ext cx="2103120" cy="274320"/>
          </a:xfrm>
          <a:prstGeom prst="rect">
            <a:avLst/>
          </a:prstGeom>
          <a:noFill/>
          <a:ln/>
        </p:spPr>
        <p:txBody>
          <a:bodyPr wrap="square" lIns="0" tIns="0" rIns="0" bIns="0" rtlCol="0" anchor="ctr"/>
          <a:lstStyle/>
          <a:p>
            <a:pPr marL="0" indent="0" algn="ctr">
              <a:buNone/>
            </a:pPr>
            <a:r>
              <a:rPr lang="en-US" sz="900" b="1" dirty="0">
                <a:solidFill>
                  <a:srgbClr val="06B6D4"/>
                </a:solidFill>
                <a:latin typeface="Trebuchet MS" pitchFamily="34" charset="0"/>
                <a:ea typeface="Trebuchet MS" pitchFamily="34" charset="-122"/>
                <a:cs typeface="Trebuchet MS" pitchFamily="34" charset="-120"/>
              </a:rPr>
              <a:t>Services · Programs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640080" y="91440"/>
            <a:ext cx="7315200" cy="64008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Implementation Roadmap</a:t>
            </a:r>
            <a:endParaRPr lang="en-US" sz="2800" dirty="0"/>
          </a:p>
        </p:txBody>
      </p:sp>
      <p:sp>
        <p:nvSpPr>
          <p:cNvPr id="4" name="Shape 2"/>
          <p:cNvSpPr/>
          <p:nvPr/>
        </p:nvSpPr>
        <p:spPr>
          <a:xfrm>
            <a:off x="640080" y="1234440"/>
            <a:ext cx="7863840" cy="54864"/>
          </a:xfrm>
          <a:prstGeom prst="rect">
            <a:avLst/>
          </a:prstGeom>
          <a:solidFill>
            <a:srgbClr val="E2E8F0"/>
          </a:solidFill>
          <a:ln/>
        </p:spPr>
      </p:sp>
      <p:sp>
        <p:nvSpPr>
          <p:cNvPr id="5" name="Shape 3"/>
          <p:cNvSpPr/>
          <p:nvPr/>
        </p:nvSpPr>
        <p:spPr>
          <a:xfrm>
            <a:off x="640080" y="1234440"/>
            <a:ext cx="2575560" cy="54864"/>
          </a:xfrm>
          <a:prstGeom prst="rect">
            <a:avLst/>
          </a:prstGeom>
          <a:solidFill>
            <a:srgbClr val="0891B2"/>
          </a:solidFill>
          <a:ln/>
        </p:spPr>
      </p:sp>
      <p:sp>
        <p:nvSpPr>
          <p:cNvPr id="6" name="Shape 4"/>
          <p:cNvSpPr/>
          <p:nvPr/>
        </p:nvSpPr>
        <p:spPr>
          <a:xfrm>
            <a:off x="1859280" y="1170432"/>
            <a:ext cx="182880" cy="182880"/>
          </a:xfrm>
          <a:prstGeom prst="ellipse">
            <a:avLst/>
          </a:prstGeom>
          <a:solidFill>
            <a:srgbClr val="0891B2"/>
          </a:solidFill>
          <a:ln/>
        </p:spPr>
      </p:sp>
      <p:sp>
        <p:nvSpPr>
          <p:cNvPr id="7" name="Shape 5"/>
          <p:cNvSpPr/>
          <p:nvPr/>
        </p:nvSpPr>
        <p:spPr>
          <a:xfrm>
            <a:off x="3261360" y="1234440"/>
            <a:ext cx="2575560" cy="54864"/>
          </a:xfrm>
          <a:prstGeom prst="rect">
            <a:avLst/>
          </a:prstGeom>
          <a:solidFill>
            <a:srgbClr val="14B8A6"/>
          </a:solidFill>
          <a:ln/>
        </p:spPr>
      </p:sp>
      <p:sp>
        <p:nvSpPr>
          <p:cNvPr id="8" name="Shape 6"/>
          <p:cNvSpPr/>
          <p:nvPr/>
        </p:nvSpPr>
        <p:spPr>
          <a:xfrm>
            <a:off x="4480560" y="1170432"/>
            <a:ext cx="182880" cy="182880"/>
          </a:xfrm>
          <a:prstGeom prst="ellipse">
            <a:avLst/>
          </a:prstGeom>
          <a:solidFill>
            <a:srgbClr val="14B8A6"/>
          </a:solidFill>
          <a:ln/>
        </p:spPr>
      </p:sp>
      <p:sp>
        <p:nvSpPr>
          <p:cNvPr id="9" name="Shape 7"/>
          <p:cNvSpPr/>
          <p:nvPr/>
        </p:nvSpPr>
        <p:spPr>
          <a:xfrm>
            <a:off x="5882640" y="1234440"/>
            <a:ext cx="2575560" cy="54864"/>
          </a:xfrm>
          <a:prstGeom prst="rect">
            <a:avLst/>
          </a:prstGeom>
          <a:solidFill>
            <a:srgbClr val="06B6D4"/>
          </a:solidFill>
          <a:ln/>
        </p:spPr>
      </p:sp>
      <p:sp>
        <p:nvSpPr>
          <p:cNvPr id="10" name="Shape 8"/>
          <p:cNvSpPr/>
          <p:nvPr/>
        </p:nvSpPr>
        <p:spPr>
          <a:xfrm>
            <a:off x="7101840" y="1170432"/>
            <a:ext cx="182880" cy="182880"/>
          </a:xfrm>
          <a:prstGeom prst="ellipse">
            <a:avLst/>
          </a:prstGeom>
          <a:solidFill>
            <a:srgbClr val="06B6D4"/>
          </a:solidFill>
          <a:ln/>
        </p:spPr>
      </p:sp>
      <p:sp>
        <p:nvSpPr>
          <p:cNvPr id="11" name="Shape 9"/>
          <p:cNvSpPr/>
          <p:nvPr/>
        </p:nvSpPr>
        <p:spPr>
          <a:xfrm>
            <a:off x="548640" y="1600200"/>
            <a:ext cx="2468880" cy="3017520"/>
          </a:xfrm>
          <a:prstGeom prst="rect">
            <a:avLst/>
          </a:prstGeom>
          <a:solidFill>
            <a:srgbClr val="FFFFFF"/>
          </a:solidFill>
          <a:ln/>
          <a:effectLst>
            <a:outerShdw blurRad="101600" dist="38100" dir="8100000" algn="bl" rotWithShape="0">
              <a:srgbClr val="000000">
                <a:alpha val="10000"/>
              </a:srgbClr>
            </a:outerShdw>
          </a:effectLst>
        </p:spPr>
      </p:sp>
      <p:sp>
        <p:nvSpPr>
          <p:cNvPr id="12" name="Shape 10"/>
          <p:cNvSpPr/>
          <p:nvPr/>
        </p:nvSpPr>
        <p:spPr>
          <a:xfrm>
            <a:off x="548640" y="1600200"/>
            <a:ext cx="2468880" cy="54864"/>
          </a:xfrm>
          <a:prstGeom prst="rect">
            <a:avLst/>
          </a:prstGeom>
          <a:solidFill>
            <a:srgbClr val="0891B2"/>
          </a:solidFill>
          <a:ln/>
        </p:spPr>
      </p:sp>
      <p:sp>
        <p:nvSpPr>
          <p:cNvPr id="13" name="Text 11"/>
          <p:cNvSpPr/>
          <p:nvPr/>
        </p:nvSpPr>
        <p:spPr>
          <a:xfrm>
            <a:off x="731520" y="1783080"/>
            <a:ext cx="1097280" cy="274320"/>
          </a:xfrm>
          <a:prstGeom prst="rect">
            <a:avLst/>
          </a:prstGeom>
          <a:noFill/>
          <a:ln/>
        </p:spPr>
        <p:txBody>
          <a:bodyPr wrap="square" lIns="0" tIns="0" rIns="0" bIns="0" rtlCol="0" anchor="ctr"/>
          <a:lstStyle/>
          <a:p>
            <a:pPr marL="0" indent="0">
              <a:buNone/>
            </a:pPr>
            <a:r>
              <a:rPr lang="en-US" sz="1000" b="1" dirty="0">
                <a:solidFill>
                  <a:srgbClr val="0891B2"/>
                </a:solidFill>
                <a:latin typeface="Trebuchet MS" pitchFamily="34" charset="0"/>
                <a:ea typeface="Trebuchet MS" pitchFamily="34" charset="-122"/>
                <a:cs typeface="Trebuchet MS" pitchFamily="34" charset="-120"/>
              </a:rPr>
              <a:t>Phase 1</a:t>
            </a:r>
            <a:endParaRPr lang="en-US" sz="1000" dirty="0"/>
          </a:p>
        </p:txBody>
      </p:sp>
      <p:sp>
        <p:nvSpPr>
          <p:cNvPr id="14" name="Text 12"/>
          <p:cNvSpPr/>
          <p:nvPr/>
        </p:nvSpPr>
        <p:spPr>
          <a:xfrm>
            <a:off x="1737360" y="1783080"/>
            <a:ext cx="1188720" cy="274320"/>
          </a:xfrm>
          <a:prstGeom prst="rect">
            <a:avLst/>
          </a:prstGeom>
          <a:noFill/>
          <a:ln/>
        </p:spPr>
        <p:txBody>
          <a:bodyPr wrap="square" lIns="0" tIns="0" rIns="0" bIns="0"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Months 1–2</a:t>
            </a:r>
            <a:endParaRPr lang="en-US" sz="1000" dirty="0"/>
          </a:p>
        </p:txBody>
      </p:sp>
      <p:sp>
        <p:nvSpPr>
          <p:cNvPr id="15" name="Text 13"/>
          <p:cNvSpPr/>
          <p:nvPr/>
        </p:nvSpPr>
        <p:spPr>
          <a:xfrm>
            <a:off x="731520" y="2103120"/>
            <a:ext cx="2103120" cy="320040"/>
          </a:xfrm>
          <a:prstGeom prst="rect">
            <a:avLst/>
          </a:prstGeom>
          <a:noFill/>
          <a:ln/>
        </p:spPr>
        <p:txBody>
          <a:bodyPr wrap="square" lIns="0" tIns="0" rIns="0" bIns="0" rtlCol="0" anchor="ctr"/>
          <a:lstStyle/>
          <a:p>
            <a:pPr marL="0" indent="0">
              <a:buNone/>
            </a:pPr>
            <a:r>
              <a:rPr lang="en-US" sz="1600" b="1" dirty="0">
                <a:solidFill>
                  <a:srgbClr val="1E293B"/>
                </a:solidFill>
                <a:latin typeface="Trebuchet MS" pitchFamily="34" charset="0"/>
                <a:ea typeface="Trebuchet MS" pitchFamily="34" charset="-122"/>
                <a:cs typeface="Trebuchet MS" pitchFamily="34" charset="-120"/>
              </a:rPr>
              <a:t>Foundation</a:t>
            </a:r>
            <a:endParaRPr lang="en-US" sz="1600" dirty="0"/>
          </a:p>
        </p:txBody>
      </p:sp>
      <p:sp>
        <p:nvSpPr>
          <p:cNvPr id="16" name="Shape 14"/>
          <p:cNvSpPr/>
          <p:nvPr/>
        </p:nvSpPr>
        <p:spPr>
          <a:xfrm>
            <a:off x="731520" y="2468880"/>
            <a:ext cx="2103120" cy="0"/>
          </a:xfrm>
          <a:prstGeom prst="line">
            <a:avLst/>
          </a:prstGeom>
          <a:noFill/>
          <a:ln w="12700">
            <a:solidFill>
              <a:srgbClr val="E2E8F0"/>
            </a:solidFill>
            <a:prstDash val="solid"/>
          </a:ln>
        </p:spPr>
      </p:sp>
      <p:sp>
        <p:nvSpPr>
          <p:cNvPr id="17" name="Text 15"/>
          <p:cNvSpPr/>
          <p:nvPr/>
        </p:nvSpPr>
        <p:spPr>
          <a:xfrm>
            <a:off x="685800" y="2606040"/>
            <a:ext cx="2148840" cy="1828800"/>
          </a:xfrm>
          <a:prstGeom prst="rect">
            <a:avLst/>
          </a:prstGeom>
          <a:noFill/>
          <a:ln/>
        </p:spPr>
        <p:txBody>
          <a:bodyPr wrap="square" lIns="0" tIns="0" rIns="0" bIns="0" rtlCol="0" anchor="ctr"/>
          <a:lstStyle/>
          <a:p>
            <a:pPr marL="342900" indent="-342900">
              <a:spcAft>
                <a:spcPts val="600"/>
              </a:spcAft>
              <a:buSzPct val="100000"/>
              <a:buChar char="•"/>
            </a:pPr>
            <a:r>
              <a:rPr lang="en-US" sz="1000" dirty="0">
                <a:solidFill>
                  <a:srgbClr val="475569"/>
                </a:solidFill>
                <a:latin typeface="Calibri" pitchFamily="34" charset="0"/>
                <a:ea typeface="Calibri" pitchFamily="34" charset="-122"/>
                <a:cs typeface="Calibri" pitchFamily="34" charset="-120"/>
              </a:rPr>
              <a:t>Pilot AI Writing Assistant with 3–4 power users per team</a:t>
            </a:r>
            <a:endParaRPr lang="en-US" sz="1000" dirty="0"/>
          </a:p>
          <a:p>
            <a:pPr marL="342900" indent="-342900">
              <a:spcAft>
                <a:spcPts val="600"/>
              </a:spcAft>
              <a:buSzPct val="100000"/>
              <a:buChar char="•"/>
            </a:pPr>
            <a:r>
              <a:rPr lang="en-US" sz="1000" dirty="0">
                <a:solidFill>
                  <a:srgbClr val="475569"/>
                </a:solidFill>
                <a:latin typeface="Calibri" pitchFamily="34" charset="0"/>
                <a:ea typeface="Calibri" pitchFamily="34" charset="-122"/>
                <a:cs typeface="Calibri" pitchFamily="34" charset="-120"/>
              </a:rPr>
              <a:t>Establish usage guidelines and data governance policies</a:t>
            </a:r>
            <a:endParaRPr lang="en-US" sz="1000" dirty="0"/>
          </a:p>
          <a:p>
            <a:pPr marL="342900" indent="-342900">
              <a:spcAft>
                <a:spcPts val="600"/>
              </a:spcAft>
              <a:buSzPct val="100000"/>
              <a:buChar char="•"/>
            </a:pPr>
            <a:r>
              <a:rPr lang="en-US" sz="1000" dirty="0">
                <a:solidFill>
                  <a:srgbClr val="475569"/>
                </a:solidFill>
                <a:latin typeface="Calibri" pitchFamily="34" charset="0"/>
                <a:ea typeface="Calibri" pitchFamily="34" charset="-122"/>
                <a:cs typeface="Calibri" pitchFamily="34" charset="-120"/>
              </a:rPr>
              <a:t>Baseline current metrics for comparison</a:t>
            </a:r>
            <a:endParaRPr lang="en-US" sz="1000" dirty="0"/>
          </a:p>
        </p:txBody>
      </p:sp>
      <p:sp>
        <p:nvSpPr>
          <p:cNvPr id="18" name="Shape 16"/>
          <p:cNvSpPr/>
          <p:nvPr/>
        </p:nvSpPr>
        <p:spPr>
          <a:xfrm>
            <a:off x="3337560" y="1600200"/>
            <a:ext cx="2468880" cy="3017520"/>
          </a:xfrm>
          <a:prstGeom prst="rect">
            <a:avLst/>
          </a:prstGeom>
          <a:solidFill>
            <a:srgbClr val="FFFFFF"/>
          </a:solidFill>
          <a:ln/>
          <a:effectLst>
            <a:outerShdw blurRad="101600" dist="38100" dir="8100000" algn="bl" rotWithShape="0">
              <a:srgbClr val="000000">
                <a:alpha val="10000"/>
              </a:srgbClr>
            </a:outerShdw>
          </a:effectLst>
        </p:spPr>
      </p:sp>
      <p:sp>
        <p:nvSpPr>
          <p:cNvPr id="19" name="Shape 17"/>
          <p:cNvSpPr/>
          <p:nvPr/>
        </p:nvSpPr>
        <p:spPr>
          <a:xfrm>
            <a:off x="3337560" y="1600200"/>
            <a:ext cx="2468880" cy="54864"/>
          </a:xfrm>
          <a:prstGeom prst="rect">
            <a:avLst/>
          </a:prstGeom>
          <a:solidFill>
            <a:srgbClr val="14B8A6"/>
          </a:solidFill>
          <a:ln/>
        </p:spPr>
      </p:sp>
      <p:sp>
        <p:nvSpPr>
          <p:cNvPr id="20" name="Text 18"/>
          <p:cNvSpPr/>
          <p:nvPr/>
        </p:nvSpPr>
        <p:spPr>
          <a:xfrm>
            <a:off x="3520440" y="1783080"/>
            <a:ext cx="1097280" cy="274320"/>
          </a:xfrm>
          <a:prstGeom prst="rect">
            <a:avLst/>
          </a:prstGeom>
          <a:noFill/>
          <a:ln/>
        </p:spPr>
        <p:txBody>
          <a:bodyPr wrap="square" lIns="0" tIns="0" rIns="0" bIns="0" rtlCol="0" anchor="ctr"/>
          <a:lstStyle/>
          <a:p>
            <a:pPr marL="0" indent="0">
              <a:buNone/>
            </a:pPr>
            <a:r>
              <a:rPr lang="en-US" sz="1000" b="1" dirty="0">
                <a:solidFill>
                  <a:srgbClr val="14B8A6"/>
                </a:solidFill>
                <a:latin typeface="Trebuchet MS" pitchFamily="34" charset="0"/>
                <a:ea typeface="Trebuchet MS" pitchFamily="34" charset="-122"/>
                <a:cs typeface="Trebuchet MS" pitchFamily="34" charset="-120"/>
              </a:rPr>
              <a:t>Phase 2</a:t>
            </a:r>
            <a:endParaRPr lang="en-US" sz="1000" dirty="0"/>
          </a:p>
        </p:txBody>
      </p:sp>
      <p:sp>
        <p:nvSpPr>
          <p:cNvPr id="21" name="Text 19"/>
          <p:cNvSpPr/>
          <p:nvPr/>
        </p:nvSpPr>
        <p:spPr>
          <a:xfrm>
            <a:off x="4526280" y="1783080"/>
            <a:ext cx="1188720" cy="274320"/>
          </a:xfrm>
          <a:prstGeom prst="rect">
            <a:avLst/>
          </a:prstGeom>
          <a:noFill/>
          <a:ln/>
        </p:spPr>
        <p:txBody>
          <a:bodyPr wrap="square" lIns="0" tIns="0" rIns="0" bIns="0"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Months 3–5</a:t>
            </a:r>
            <a:endParaRPr lang="en-US" sz="1000" dirty="0"/>
          </a:p>
        </p:txBody>
      </p:sp>
      <p:sp>
        <p:nvSpPr>
          <p:cNvPr id="22" name="Text 20"/>
          <p:cNvSpPr/>
          <p:nvPr/>
        </p:nvSpPr>
        <p:spPr>
          <a:xfrm>
            <a:off x="3520440" y="2103120"/>
            <a:ext cx="2103120" cy="320040"/>
          </a:xfrm>
          <a:prstGeom prst="rect">
            <a:avLst/>
          </a:prstGeom>
          <a:noFill/>
          <a:ln/>
        </p:spPr>
        <p:txBody>
          <a:bodyPr wrap="square" lIns="0" tIns="0" rIns="0" bIns="0" rtlCol="0" anchor="ctr"/>
          <a:lstStyle/>
          <a:p>
            <a:pPr marL="0" indent="0">
              <a:buNone/>
            </a:pPr>
            <a:r>
              <a:rPr lang="en-US" sz="1600" b="1" dirty="0">
                <a:solidFill>
                  <a:srgbClr val="1E293B"/>
                </a:solidFill>
                <a:latin typeface="Trebuchet MS" pitchFamily="34" charset="0"/>
                <a:ea typeface="Trebuchet MS" pitchFamily="34" charset="-122"/>
                <a:cs typeface="Trebuchet MS" pitchFamily="34" charset="-120"/>
              </a:rPr>
              <a:t>Scale &amp; Integrate</a:t>
            </a:r>
            <a:endParaRPr lang="en-US" sz="1600" dirty="0"/>
          </a:p>
        </p:txBody>
      </p:sp>
      <p:sp>
        <p:nvSpPr>
          <p:cNvPr id="23" name="Shape 21"/>
          <p:cNvSpPr/>
          <p:nvPr/>
        </p:nvSpPr>
        <p:spPr>
          <a:xfrm>
            <a:off x="3520440" y="2468880"/>
            <a:ext cx="2103120" cy="0"/>
          </a:xfrm>
          <a:prstGeom prst="line">
            <a:avLst/>
          </a:prstGeom>
          <a:noFill/>
          <a:ln w="12700">
            <a:solidFill>
              <a:srgbClr val="E2E8F0"/>
            </a:solidFill>
            <a:prstDash val="solid"/>
          </a:ln>
        </p:spPr>
      </p:sp>
      <p:sp>
        <p:nvSpPr>
          <p:cNvPr id="24" name="Text 22"/>
          <p:cNvSpPr/>
          <p:nvPr/>
        </p:nvSpPr>
        <p:spPr>
          <a:xfrm>
            <a:off x="3474720" y="2606040"/>
            <a:ext cx="2148840" cy="1828800"/>
          </a:xfrm>
          <a:prstGeom prst="rect">
            <a:avLst/>
          </a:prstGeom>
          <a:noFill/>
          <a:ln/>
        </p:spPr>
        <p:txBody>
          <a:bodyPr wrap="square" lIns="0" tIns="0" rIns="0" bIns="0" rtlCol="0" anchor="ctr"/>
          <a:lstStyle/>
          <a:p>
            <a:pPr marL="342900" indent="-342900">
              <a:spcAft>
                <a:spcPts val="600"/>
              </a:spcAft>
              <a:buSzPct val="100000"/>
              <a:buChar char="•"/>
            </a:pPr>
            <a:r>
              <a:rPr lang="en-US" sz="1000" dirty="0">
                <a:solidFill>
                  <a:srgbClr val="475569"/>
                </a:solidFill>
                <a:latin typeface="Calibri" pitchFamily="34" charset="0"/>
                <a:ea typeface="Calibri" pitchFamily="34" charset="-122"/>
                <a:cs typeface="Calibri" pitchFamily="34" charset="-120"/>
              </a:rPr>
              <a:t>Roll out writing tool org-wide with training sessions</a:t>
            </a:r>
            <a:endParaRPr lang="en-US" sz="1000" dirty="0"/>
          </a:p>
          <a:p>
            <a:pPr marL="342900" indent="-342900">
              <a:spcAft>
                <a:spcPts val="600"/>
              </a:spcAft>
              <a:buSzPct val="100000"/>
              <a:buChar char="•"/>
            </a:pPr>
            <a:r>
              <a:rPr lang="en-US" sz="1000" dirty="0">
                <a:solidFill>
                  <a:srgbClr val="475569"/>
                </a:solidFill>
                <a:latin typeface="Calibri" pitchFamily="34" charset="0"/>
                <a:ea typeface="Calibri" pitchFamily="34" charset="-122"/>
                <a:cs typeface="Calibri" pitchFamily="34" charset="-120"/>
              </a:rPr>
              <a:t>Deploy AI Analytics Platform for Services team</a:t>
            </a:r>
            <a:endParaRPr lang="en-US" sz="1000" dirty="0"/>
          </a:p>
          <a:p>
            <a:pPr marL="342900" indent="-342900">
              <a:spcAft>
                <a:spcPts val="600"/>
              </a:spcAft>
              <a:buSzPct val="100000"/>
              <a:buChar char="•"/>
            </a:pPr>
            <a:r>
              <a:rPr lang="en-US" sz="1000" dirty="0">
                <a:solidFill>
                  <a:srgbClr val="475569"/>
                </a:solidFill>
                <a:latin typeface="Calibri" pitchFamily="34" charset="0"/>
                <a:ea typeface="Calibri" pitchFamily="34" charset="-122"/>
                <a:cs typeface="Calibri" pitchFamily="34" charset="-120"/>
              </a:rPr>
              <a:t>Build first automated workflows for intake &amp; vendor comms</a:t>
            </a:r>
            <a:endParaRPr lang="en-US" sz="1000" dirty="0"/>
          </a:p>
        </p:txBody>
      </p:sp>
      <p:sp>
        <p:nvSpPr>
          <p:cNvPr id="25" name="Shape 23"/>
          <p:cNvSpPr/>
          <p:nvPr/>
        </p:nvSpPr>
        <p:spPr>
          <a:xfrm>
            <a:off x="6126480" y="1600200"/>
            <a:ext cx="2468880" cy="3017520"/>
          </a:xfrm>
          <a:prstGeom prst="rect">
            <a:avLst/>
          </a:prstGeom>
          <a:solidFill>
            <a:srgbClr val="FFFFFF"/>
          </a:solidFill>
          <a:ln/>
          <a:effectLst>
            <a:outerShdw blurRad="101600" dist="38100" dir="8100000" algn="bl" rotWithShape="0">
              <a:srgbClr val="000000">
                <a:alpha val="10000"/>
              </a:srgbClr>
            </a:outerShdw>
          </a:effectLst>
        </p:spPr>
      </p:sp>
      <p:sp>
        <p:nvSpPr>
          <p:cNvPr id="26" name="Shape 24"/>
          <p:cNvSpPr/>
          <p:nvPr/>
        </p:nvSpPr>
        <p:spPr>
          <a:xfrm>
            <a:off x="6126480" y="1600200"/>
            <a:ext cx="2468880" cy="54864"/>
          </a:xfrm>
          <a:prstGeom prst="rect">
            <a:avLst/>
          </a:prstGeom>
          <a:solidFill>
            <a:srgbClr val="06B6D4"/>
          </a:solidFill>
          <a:ln/>
        </p:spPr>
      </p:sp>
      <p:sp>
        <p:nvSpPr>
          <p:cNvPr id="27" name="Text 25"/>
          <p:cNvSpPr/>
          <p:nvPr/>
        </p:nvSpPr>
        <p:spPr>
          <a:xfrm>
            <a:off x="6309360" y="1783080"/>
            <a:ext cx="1097280" cy="274320"/>
          </a:xfrm>
          <a:prstGeom prst="rect">
            <a:avLst/>
          </a:prstGeom>
          <a:noFill/>
          <a:ln/>
        </p:spPr>
        <p:txBody>
          <a:bodyPr wrap="square" lIns="0" tIns="0" rIns="0" bIns="0" rtlCol="0" anchor="ctr"/>
          <a:lstStyle/>
          <a:p>
            <a:pPr marL="0" indent="0">
              <a:buNone/>
            </a:pPr>
            <a:r>
              <a:rPr lang="en-US" sz="1000" b="1" dirty="0">
                <a:solidFill>
                  <a:srgbClr val="06B6D4"/>
                </a:solidFill>
                <a:latin typeface="Trebuchet MS" pitchFamily="34" charset="0"/>
                <a:ea typeface="Trebuchet MS" pitchFamily="34" charset="-122"/>
                <a:cs typeface="Trebuchet MS" pitchFamily="34" charset="-120"/>
              </a:rPr>
              <a:t>Phase 3</a:t>
            </a:r>
            <a:endParaRPr lang="en-US" sz="1000" dirty="0"/>
          </a:p>
        </p:txBody>
      </p:sp>
      <p:sp>
        <p:nvSpPr>
          <p:cNvPr id="28" name="Text 26"/>
          <p:cNvSpPr/>
          <p:nvPr/>
        </p:nvSpPr>
        <p:spPr>
          <a:xfrm>
            <a:off x="7315200" y="1783080"/>
            <a:ext cx="1188720" cy="274320"/>
          </a:xfrm>
          <a:prstGeom prst="rect">
            <a:avLst/>
          </a:prstGeom>
          <a:noFill/>
          <a:ln/>
        </p:spPr>
        <p:txBody>
          <a:bodyPr wrap="square" lIns="0" tIns="0" rIns="0" bIns="0"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Months 6–9</a:t>
            </a:r>
            <a:endParaRPr lang="en-US" sz="1000" dirty="0"/>
          </a:p>
        </p:txBody>
      </p:sp>
      <p:sp>
        <p:nvSpPr>
          <p:cNvPr id="29" name="Text 27"/>
          <p:cNvSpPr/>
          <p:nvPr/>
        </p:nvSpPr>
        <p:spPr>
          <a:xfrm>
            <a:off x="6309360" y="2103120"/>
            <a:ext cx="2103120" cy="320040"/>
          </a:xfrm>
          <a:prstGeom prst="rect">
            <a:avLst/>
          </a:prstGeom>
          <a:noFill/>
          <a:ln/>
        </p:spPr>
        <p:txBody>
          <a:bodyPr wrap="square" lIns="0" tIns="0" rIns="0" bIns="0" rtlCol="0" anchor="ctr"/>
          <a:lstStyle/>
          <a:p>
            <a:pPr marL="0" indent="0">
              <a:buNone/>
            </a:pPr>
            <a:r>
              <a:rPr lang="en-US" sz="1600" b="1" dirty="0">
                <a:solidFill>
                  <a:srgbClr val="1E293B"/>
                </a:solidFill>
                <a:latin typeface="Trebuchet MS" pitchFamily="34" charset="0"/>
                <a:ea typeface="Trebuchet MS" pitchFamily="34" charset="-122"/>
                <a:cs typeface="Trebuchet MS" pitchFamily="34" charset="-120"/>
              </a:rPr>
              <a:t>Optimize &amp; Expand</a:t>
            </a:r>
            <a:endParaRPr lang="en-US" sz="1600" dirty="0"/>
          </a:p>
        </p:txBody>
      </p:sp>
      <p:sp>
        <p:nvSpPr>
          <p:cNvPr id="30" name="Shape 28"/>
          <p:cNvSpPr/>
          <p:nvPr/>
        </p:nvSpPr>
        <p:spPr>
          <a:xfrm>
            <a:off x="6309360" y="2468880"/>
            <a:ext cx="2103120" cy="0"/>
          </a:xfrm>
          <a:prstGeom prst="line">
            <a:avLst/>
          </a:prstGeom>
          <a:noFill/>
          <a:ln w="12700">
            <a:solidFill>
              <a:srgbClr val="E2E8F0"/>
            </a:solidFill>
            <a:prstDash val="solid"/>
          </a:ln>
        </p:spPr>
      </p:sp>
      <p:sp>
        <p:nvSpPr>
          <p:cNvPr id="31" name="Text 29"/>
          <p:cNvSpPr/>
          <p:nvPr/>
        </p:nvSpPr>
        <p:spPr>
          <a:xfrm>
            <a:off x="6263640" y="2606040"/>
            <a:ext cx="2148840" cy="1828800"/>
          </a:xfrm>
          <a:prstGeom prst="rect">
            <a:avLst/>
          </a:prstGeom>
          <a:noFill/>
          <a:ln/>
        </p:spPr>
        <p:txBody>
          <a:bodyPr wrap="square" lIns="0" tIns="0" rIns="0" bIns="0" rtlCol="0" anchor="ctr"/>
          <a:lstStyle/>
          <a:p>
            <a:pPr marL="342900" indent="-342900">
              <a:spcAft>
                <a:spcPts val="600"/>
              </a:spcAft>
              <a:buSzPct val="100000"/>
              <a:buChar char="•"/>
            </a:pPr>
            <a:r>
              <a:rPr lang="en-US" sz="1000" dirty="0">
                <a:solidFill>
                  <a:srgbClr val="475569"/>
                </a:solidFill>
                <a:latin typeface="Calibri" pitchFamily="34" charset="0"/>
                <a:ea typeface="Calibri" pitchFamily="34" charset="-122"/>
                <a:cs typeface="Calibri" pitchFamily="34" charset="-120"/>
              </a:rPr>
              <a:t>Integrate all three tools into daily workflows</a:t>
            </a:r>
            <a:endParaRPr lang="en-US" sz="1000" dirty="0"/>
          </a:p>
          <a:p>
            <a:pPr marL="342900" indent="-342900">
              <a:spcAft>
                <a:spcPts val="600"/>
              </a:spcAft>
              <a:buSzPct val="100000"/>
              <a:buChar char="•"/>
            </a:pPr>
            <a:r>
              <a:rPr lang="en-US" sz="1000" dirty="0">
                <a:solidFill>
                  <a:srgbClr val="475569"/>
                </a:solidFill>
                <a:latin typeface="Calibri" pitchFamily="34" charset="0"/>
                <a:ea typeface="Calibri" pitchFamily="34" charset="-122"/>
                <a:cs typeface="Calibri" pitchFamily="34" charset="-120"/>
              </a:rPr>
              <a:t>Develop custom AI templates for recurring programs</a:t>
            </a:r>
            <a:endParaRPr lang="en-US" sz="1000" dirty="0"/>
          </a:p>
          <a:p>
            <a:pPr marL="342900" indent="-342900">
              <a:spcAft>
                <a:spcPts val="600"/>
              </a:spcAft>
              <a:buSzPct val="100000"/>
              <a:buChar char="•"/>
            </a:pPr>
            <a:r>
              <a:rPr lang="en-US" sz="1000" dirty="0">
                <a:solidFill>
                  <a:srgbClr val="475569"/>
                </a:solidFill>
                <a:latin typeface="Calibri" pitchFamily="34" charset="0"/>
                <a:ea typeface="Calibri" pitchFamily="34" charset="-122"/>
                <a:cs typeface="Calibri" pitchFamily="34" charset="-120"/>
              </a:rPr>
              <a:t>Advanced analytics — predictive models for program impact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640080" y="91440"/>
            <a:ext cx="7315200" cy="64008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Risks &amp; Mitigations</a:t>
            </a:r>
            <a:endParaRPr lang="en-US" sz="2800" dirty="0"/>
          </a:p>
        </p:txBody>
      </p:sp>
      <p:sp>
        <p:nvSpPr>
          <p:cNvPr id="4" name="Shape 2"/>
          <p:cNvSpPr/>
          <p:nvPr/>
        </p:nvSpPr>
        <p:spPr>
          <a:xfrm>
            <a:off x="640080" y="1051560"/>
            <a:ext cx="7863840" cy="365760"/>
          </a:xfrm>
          <a:prstGeom prst="rect">
            <a:avLst/>
          </a:prstGeom>
          <a:solidFill>
            <a:srgbClr val="0F172A"/>
          </a:solidFill>
          <a:ln/>
        </p:spPr>
      </p:sp>
      <p:sp>
        <p:nvSpPr>
          <p:cNvPr id="5" name="Text 3"/>
          <p:cNvSpPr/>
          <p:nvPr/>
        </p:nvSpPr>
        <p:spPr>
          <a:xfrm>
            <a:off x="1234440" y="1051560"/>
            <a:ext cx="2011680" cy="365760"/>
          </a:xfrm>
          <a:prstGeom prst="rect">
            <a:avLst/>
          </a:prstGeom>
          <a:noFill/>
          <a:ln/>
        </p:spPr>
        <p:txBody>
          <a:bodyPr wrap="square" lIns="0" tIns="0" rIns="0" bIns="0" rtlCol="0" anchor="ctr"/>
          <a:lstStyle/>
          <a:p>
            <a:pPr marL="0" indent="0">
              <a:buNone/>
            </a:pPr>
            <a:r>
              <a:rPr lang="en-US" sz="1000" b="1" dirty="0">
                <a:solidFill>
                  <a:srgbClr val="FFFFFF"/>
                </a:solidFill>
                <a:latin typeface="Trebuchet MS" pitchFamily="34" charset="0"/>
                <a:ea typeface="Trebuchet MS" pitchFamily="34" charset="-122"/>
                <a:cs typeface="Trebuchet MS" pitchFamily="34" charset="-120"/>
              </a:rPr>
              <a:t>RISK</a:t>
            </a:r>
            <a:endParaRPr lang="en-US" sz="1000" dirty="0"/>
          </a:p>
        </p:txBody>
      </p:sp>
      <p:sp>
        <p:nvSpPr>
          <p:cNvPr id="6" name="Text 4"/>
          <p:cNvSpPr/>
          <p:nvPr/>
        </p:nvSpPr>
        <p:spPr>
          <a:xfrm>
            <a:off x="3474720" y="1051560"/>
            <a:ext cx="2743200" cy="365760"/>
          </a:xfrm>
          <a:prstGeom prst="rect">
            <a:avLst/>
          </a:prstGeom>
          <a:noFill/>
          <a:ln/>
        </p:spPr>
        <p:txBody>
          <a:bodyPr wrap="square" lIns="0" tIns="0" rIns="0" bIns="0" rtlCol="0" anchor="ctr"/>
          <a:lstStyle/>
          <a:p>
            <a:pPr marL="0" indent="0">
              <a:buNone/>
            </a:pPr>
            <a:r>
              <a:rPr lang="en-US" sz="1000" b="1" dirty="0">
                <a:solidFill>
                  <a:srgbClr val="FFFFFF"/>
                </a:solidFill>
                <a:latin typeface="Trebuchet MS" pitchFamily="34" charset="0"/>
                <a:ea typeface="Trebuchet MS" pitchFamily="34" charset="-122"/>
                <a:cs typeface="Trebuchet MS" pitchFamily="34" charset="-120"/>
              </a:rPr>
              <a:t>MITIGATION STRATEGY</a:t>
            </a:r>
            <a:endParaRPr lang="en-US" sz="1000" dirty="0"/>
          </a:p>
        </p:txBody>
      </p:sp>
      <p:sp>
        <p:nvSpPr>
          <p:cNvPr id="7" name="Shape 5"/>
          <p:cNvSpPr/>
          <p:nvPr/>
        </p:nvSpPr>
        <p:spPr>
          <a:xfrm>
            <a:off x="640080" y="1463040"/>
            <a:ext cx="7863840" cy="777240"/>
          </a:xfrm>
          <a:prstGeom prst="rect">
            <a:avLst/>
          </a:prstGeom>
          <a:solidFill>
            <a:srgbClr val="FFFFFF"/>
          </a:solidFill>
          <a:ln/>
        </p:spPr>
      </p:sp>
      <p:sp>
        <p:nvSpPr>
          <p:cNvPr id="8" name="Shape 6"/>
          <p:cNvSpPr/>
          <p:nvPr/>
        </p:nvSpPr>
        <p:spPr>
          <a:xfrm>
            <a:off x="777240" y="1741932"/>
            <a:ext cx="219456" cy="219456"/>
          </a:xfrm>
          <a:prstGeom prst="ellipse">
            <a:avLst/>
          </a:prstGeom>
          <a:solidFill>
            <a:srgbClr val="DC2626"/>
          </a:solidFill>
          <a:ln/>
        </p:spPr>
      </p:sp>
      <p:sp>
        <p:nvSpPr>
          <p:cNvPr id="9" name="Text 7"/>
          <p:cNvSpPr/>
          <p:nvPr/>
        </p:nvSpPr>
        <p:spPr>
          <a:xfrm>
            <a:off x="777240" y="1741932"/>
            <a:ext cx="219456" cy="219456"/>
          </a:xfrm>
          <a:prstGeom prst="rect">
            <a:avLst/>
          </a:prstGeom>
          <a:noFill/>
          <a:ln/>
        </p:spPr>
        <p:txBody>
          <a:bodyPr wrap="square" lIns="0" tIns="0" rIns="0" bIns="0" rtlCol="0" anchor="ctr"/>
          <a:lstStyle/>
          <a:p>
            <a:pPr marL="0" indent="0" algn="ctr">
              <a:buNone/>
            </a:pPr>
            <a:r>
              <a:rPr lang="en-US" sz="800" b="1" dirty="0">
                <a:solidFill>
                  <a:srgbClr val="FFFFFF"/>
                </a:solidFill>
                <a:latin typeface="Trebuchet MS" pitchFamily="34" charset="0"/>
                <a:ea typeface="Trebuchet MS" pitchFamily="34" charset="-122"/>
                <a:cs typeface="Trebuchet MS" pitchFamily="34" charset="-120"/>
              </a:rPr>
              <a:t>H</a:t>
            </a:r>
            <a:endParaRPr lang="en-US" sz="800" dirty="0"/>
          </a:p>
        </p:txBody>
      </p:sp>
      <p:sp>
        <p:nvSpPr>
          <p:cNvPr id="10" name="Text 8"/>
          <p:cNvSpPr/>
          <p:nvPr/>
        </p:nvSpPr>
        <p:spPr>
          <a:xfrm>
            <a:off x="1143000" y="1554480"/>
            <a:ext cx="2286000" cy="594360"/>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Data Privacy &amp; Compliance</a:t>
            </a:r>
            <a:endParaRPr lang="en-US" sz="1100" dirty="0"/>
          </a:p>
          <a:p>
            <a:pPr marL="0" indent="0">
              <a:buNone/>
            </a:pPr>
            <a:r>
              <a:rPr lang="en-US" sz="950" dirty="0">
                <a:solidFill>
                  <a:srgbClr val="94A3B8"/>
                </a:solidFill>
                <a:latin typeface="Calibri" pitchFamily="34" charset="0"/>
                <a:ea typeface="Calibri" pitchFamily="34" charset="-122"/>
                <a:cs typeface="Calibri" pitchFamily="34" charset="-120"/>
              </a:rPr>
              <a:t>Sensitive stakeholder or customer data entered into AI tools.</a:t>
            </a:r>
            <a:endParaRPr lang="en-US" sz="1100" dirty="0"/>
          </a:p>
        </p:txBody>
      </p:sp>
      <p:sp>
        <p:nvSpPr>
          <p:cNvPr id="11" name="Text 9"/>
          <p:cNvSpPr/>
          <p:nvPr/>
        </p:nvSpPr>
        <p:spPr>
          <a:xfrm>
            <a:off x="3474720" y="1554480"/>
            <a:ext cx="4754880" cy="594360"/>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Enforce enterprise-grade tools with SOC 2 compliance; establish clear data classification policies; no PII in prompts.</a:t>
            </a:r>
            <a:endParaRPr lang="en-US" sz="1000" dirty="0"/>
          </a:p>
        </p:txBody>
      </p:sp>
      <p:sp>
        <p:nvSpPr>
          <p:cNvPr id="12" name="Shape 10"/>
          <p:cNvSpPr/>
          <p:nvPr/>
        </p:nvSpPr>
        <p:spPr>
          <a:xfrm>
            <a:off x="640080" y="2240280"/>
            <a:ext cx="7863840" cy="777240"/>
          </a:xfrm>
          <a:prstGeom prst="rect">
            <a:avLst/>
          </a:prstGeom>
          <a:solidFill>
            <a:srgbClr val="F8FAFC"/>
          </a:solidFill>
          <a:ln/>
        </p:spPr>
      </p:sp>
      <p:sp>
        <p:nvSpPr>
          <p:cNvPr id="13" name="Shape 11"/>
          <p:cNvSpPr/>
          <p:nvPr/>
        </p:nvSpPr>
        <p:spPr>
          <a:xfrm>
            <a:off x="777240" y="2519172"/>
            <a:ext cx="219456" cy="219456"/>
          </a:xfrm>
          <a:prstGeom prst="ellipse">
            <a:avLst/>
          </a:prstGeom>
          <a:solidFill>
            <a:srgbClr val="D97706"/>
          </a:solidFill>
          <a:ln/>
        </p:spPr>
      </p:sp>
      <p:sp>
        <p:nvSpPr>
          <p:cNvPr id="14" name="Text 12"/>
          <p:cNvSpPr/>
          <p:nvPr/>
        </p:nvSpPr>
        <p:spPr>
          <a:xfrm>
            <a:off x="777240" y="2519172"/>
            <a:ext cx="219456" cy="219456"/>
          </a:xfrm>
          <a:prstGeom prst="rect">
            <a:avLst/>
          </a:prstGeom>
          <a:noFill/>
          <a:ln/>
        </p:spPr>
        <p:txBody>
          <a:bodyPr wrap="square" lIns="0" tIns="0" rIns="0" bIns="0" rtlCol="0" anchor="ctr"/>
          <a:lstStyle/>
          <a:p>
            <a:pPr marL="0" indent="0" algn="ctr">
              <a:buNone/>
            </a:pPr>
            <a:r>
              <a:rPr lang="en-US" sz="800" b="1" dirty="0">
                <a:solidFill>
                  <a:srgbClr val="FFFFFF"/>
                </a:solidFill>
                <a:latin typeface="Trebuchet MS" pitchFamily="34" charset="0"/>
                <a:ea typeface="Trebuchet MS" pitchFamily="34" charset="-122"/>
                <a:cs typeface="Trebuchet MS" pitchFamily="34" charset="-120"/>
              </a:rPr>
              <a:t>M</a:t>
            </a:r>
            <a:endParaRPr lang="en-US" sz="800" dirty="0"/>
          </a:p>
        </p:txBody>
      </p:sp>
      <p:sp>
        <p:nvSpPr>
          <p:cNvPr id="15" name="Text 13"/>
          <p:cNvSpPr/>
          <p:nvPr/>
        </p:nvSpPr>
        <p:spPr>
          <a:xfrm>
            <a:off x="1143000" y="2331720"/>
            <a:ext cx="2286000" cy="594360"/>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Content Quality &amp; Accuracy</a:t>
            </a:r>
            <a:endParaRPr lang="en-US" sz="1100" dirty="0"/>
          </a:p>
          <a:p>
            <a:pPr marL="0" indent="0">
              <a:buNone/>
            </a:pPr>
            <a:r>
              <a:rPr lang="en-US" sz="950" dirty="0">
                <a:solidFill>
                  <a:srgbClr val="94A3B8"/>
                </a:solidFill>
                <a:latin typeface="Calibri" pitchFamily="34" charset="0"/>
                <a:ea typeface="Calibri" pitchFamily="34" charset="-122"/>
                <a:cs typeface="Calibri" pitchFamily="34" charset="-120"/>
              </a:rPr>
              <a:t>AI-generated content contains errors or misrepresents programs.</a:t>
            </a:r>
            <a:endParaRPr lang="en-US" sz="1100" dirty="0"/>
          </a:p>
        </p:txBody>
      </p:sp>
      <p:sp>
        <p:nvSpPr>
          <p:cNvPr id="16" name="Text 14"/>
          <p:cNvSpPr/>
          <p:nvPr/>
        </p:nvSpPr>
        <p:spPr>
          <a:xfrm>
            <a:off x="3474720" y="2331720"/>
            <a:ext cx="4754880" cy="594360"/>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Mandatory human review on all AI outputs; create review checklists; start with low-risk content types first.</a:t>
            </a:r>
            <a:endParaRPr lang="en-US" sz="1000" dirty="0"/>
          </a:p>
        </p:txBody>
      </p:sp>
      <p:sp>
        <p:nvSpPr>
          <p:cNvPr id="17" name="Shape 15"/>
          <p:cNvSpPr/>
          <p:nvPr/>
        </p:nvSpPr>
        <p:spPr>
          <a:xfrm>
            <a:off x="640080" y="3017520"/>
            <a:ext cx="7863840" cy="777240"/>
          </a:xfrm>
          <a:prstGeom prst="rect">
            <a:avLst/>
          </a:prstGeom>
          <a:solidFill>
            <a:srgbClr val="FFFFFF"/>
          </a:solidFill>
          <a:ln/>
        </p:spPr>
      </p:sp>
      <p:sp>
        <p:nvSpPr>
          <p:cNvPr id="18" name="Shape 16"/>
          <p:cNvSpPr/>
          <p:nvPr/>
        </p:nvSpPr>
        <p:spPr>
          <a:xfrm>
            <a:off x="777240" y="3296412"/>
            <a:ext cx="219456" cy="219456"/>
          </a:xfrm>
          <a:prstGeom prst="ellipse">
            <a:avLst/>
          </a:prstGeom>
          <a:solidFill>
            <a:srgbClr val="D97706"/>
          </a:solidFill>
          <a:ln/>
        </p:spPr>
      </p:sp>
      <p:sp>
        <p:nvSpPr>
          <p:cNvPr id="19" name="Text 17"/>
          <p:cNvSpPr/>
          <p:nvPr/>
        </p:nvSpPr>
        <p:spPr>
          <a:xfrm>
            <a:off x="777240" y="3296412"/>
            <a:ext cx="219456" cy="219456"/>
          </a:xfrm>
          <a:prstGeom prst="rect">
            <a:avLst/>
          </a:prstGeom>
          <a:noFill/>
          <a:ln/>
        </p:spPr>
        <p:txBody>
          <a:bodyPr wrap="square" lIns="0" tIns="0" rIns="0" bIns="0" rtlCol="0" anchor="ctr"/>
          <a:lstStyle/>
          <a:p>
            <a:pPr marL="0" indent="0" algn="ctr">
              <a:buNone/>
            </a:pPr>
            <a:r>
              <a:rPr lang="en-US" sz="800" b="1" dirty="0">
                <a:solidFill>
                  <a:srgbClr val="FFFFFF"/>
                </a:solidFill>
                <a:latin typeface="Trebuchet MS" pitchFamily="34" charset="0"/>
                <a:ea typeface="Trebuchet MS" pitchFamily="34" charset="-122"/>
                <a:cs typeface="Trebuchet MS" pitchFamily="34" charset="-120"/>
              </a:rPr>
              <a:t>M</a:t>
            </a:r>
            <a:endParaRPr lang="en-US" sz="800" dirty="0"/>
          </a:p>
        </p:txBody>
      </p:sp>
      <p:sp>
        <p:nvSpPr>
          <p:cNvPr id="20" name="Text 18"/>
          <p:cNvSpPr/>
          <p:nvPr/>
        </p:nvSpPr>
        <p:spPr>
          <a:xfrm>
            <a:off x="1143000" y="3108960"/>
            <a:ext cx="2286000" cy="594360"/>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Team Adoption Resistance</a:t>
            </a:r>
            <a:endParaRPr lang="en-US" sz="1100" dirty="0"/>
          </a:p>
          <a:p>
            <a:pPr marL="0" indent="0">
              <a:buNone/>
            </a:pPr>
            <a:r>
              <a:rPr lang="en-US" sz="950" dirty="0">
                <a:solidFill>
                  <a:srgbClr val="94A3B8"/>
                </a:solidFill>
                <a:latin typeface="Calibri" pitchFamily="34" charset="0"/>
                <a:ea typeface="Calibri" pitchFamily="34" charset="-122"/>
                <a:cs typeface="Calibri" pitchFamily="34" charset="-120"/>
              </a:rPr>
              <a:t>Teams perceive AI as threatening or don't trust outputs.</a:t>
            </a:r>
            <a:endParaRPr lang="en-US" sz="1100" dirty="0"/>
          </a:p>
        </p:txBody>
      </p:sp>
      <p:sp>
        <p:nvSpPr>
          <p:cNvPr id="21" name="Text 19"/>
          <p:cNvSpPr/>
          <p:nvPr/>
        </p:nvSpPr>
        <p:spPr>
          <a:xfrm>
            <a:off x="3474720" y="3108960"/>
            <a:ext cx="4754880" cy="594360"/>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Position AI as augmentation; celebrate early wins; designate champions per team; provide hands-on training.</a:t>
            </a:r>
            <a:endParaRPr lang="en-US" sz="1000" dirty="0"/>
          </a:p>
        </p:txBody>
      </p:sp>
      <p:sp>
        <p:nvSpPr>
          <p:cNvPr id="22" name="Shape 20"/>
          <p:cNvSpPr/>
          <p:nvPr/>
        </p:nvSpPr>
        <p:spPr>
          <a:xfrm>
            <a:off x="640080" y="3794760"/>
            <a:ext cx="7863840" cy="777240"/>
          </a:xfrm>
          <a:prstGeom prst="rect">
            <a:avLst/>
          </a:prstGeom>
          <a:solidFill>
            <a:srgbClr val="F8FAFC"/>
          </a:solidFill>
          <a:ln/>
        </p:spPr>
      </p:sp>
      <p:sp>
        <p:nvSpPr>
          <p:cNvPr id="23" name="Shape 21"/>
          <p:cNvSpPr/>
          <p:nvPr/>
        </p:nvSpPr>
        <p:spPr>
          <a:xfrm>
            <a:off x="777240" y="4073652"/>
            <a:ext cx="219456" cy="219456"/>
          </a:xfrm>
          <a:prstGeom prst="ellipse">
            <a:avLst/>
          </a:prstGeom>
          <a:solidFill>
            <a:srgbClr val="059669"/>
          </a:solidFill>
          <a:ln/>
        </p:spPr>
      </p:sp>
      <p:sp>
        <p:nvSpPr>
          <p:cNvPr id="24" name="Text 22"/>
          <p:cNvSpPr/>
          <p:nvPr/>
        </p:nvSpPr>
        <p:spPr>
          <a:xfrm>
            <a:off x="777240" y="4073652"/>
            <a:ext cx="219456" cy="219456"/>
          </a:xfrm>
          <a:prstGeom prst="rect">
            <a:avLst/>
          </a:prstGeom>
          <a:noFill/>
          <a:ln/>
        </p:spPr>
        <p:txBody>
          <a:bodyPr wrap="square" lIns="0" tIns="0" rIns="0" bIns="0" rtlCol="0" anchor="ctr"/>
          <a:lstStyle/>
          <a:p>
            <a:pPr marL="0" indent="0" algn="ctr">
              <a:buNone/>
            </a:pPr>
            <a:r>
              <a:rPr lang="en-US" sz="800" b="1" dirty="0">
                <a:solidFill>
                  <a:srgbClr val="FFFFFF"/>
                </a:solidFill>
                <a:latin typeface="Trebuchet MS" pitchFamily="34" charset="0"/>
                <a:ea typeface="Trebuchet MS" pitchFamily="34" charset="-122"/>
                <a:cs typeface="Trebuchet MS" pitchFamily="34" charset="-120"/>
              </a:rPr>
              <a:t>L</a:t>
            </a:r>
            <a:endParaRPr lang="en-US" sz="800" dirty="0"/>
          </a:p>
        </p:txBody>
      </p:sp>
      <p:sp>
        <p:nvSpPr>
          <p:cNvPr id="25" name="Text 23"/>
          <p:cNvSpPr/>
          <p:nvPr/>
        </p:nvSpPr>
        <p:spPr>
          <a:xfrm>
            <a:off x="1143000" y="3886200"/>
            <a:ext cx="2286000" cy="594360"/>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Vendor Lock-in &amp; Cost Creep</a:t>
            </a:r>
            <a:endParaRPr lang="en-US" sz="1100" dirty="0"/>
          </a:p>
          <a:p>
            <a:pPr marL="0" indent="0">
              <a:buNone/>
            </a:pPr>
            <a:r>
              <a:rPr lang="en-US" sz="950" dirty="0">
                <a:solidFill>
                  <a:srgbClr val="94A3B8"/>
                </a:solidFill>
                <a:latin typeface="Calibri" pitchFamily="34" charset="0"/>
                <a:ea typeface="Calibri" pitchFamily="34" charset="-122"/>
                <a:cs typeface="Calibri" pitchFamily="34" charset="-120"/>
              </a:rPr>
              <a:t>Over-dependence on specific AI vendors; unexpected cost increases.</a:t>
            </a:r>
            <a:endParaRPr lang="en-US" sz="1100" dirty="0"/>
          </a:p>
        </p:txBody>
      </p:sp>
      <p:sp>
        <p:nvSpPr>
          <p:cNvPr id="26" name="Text 24"/>
          <p:cNvSpPr/>
          <p:nvPr/>
        </p:nvSpPr>
        <p:spPr>
          <a:xfrm>
            <a:off x="3474720" y="3886200"/>
            <a:ext cx="4754880" cy="594360"/>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Negotiate annual contracts with caps; evaluate alternatives quarterly; maintain tool-agnostic workflows.</a:t>
            </a:r>
            <a:endParaRPr lang="en-US" sz="1000" dirty="0"/>
          </a:p>
        </p:txBody>
      </p:sp>
      <p:sp>
        <p:nvSpPr>
          <p:cNvPr id="27" name="Shape 25"/>
          <p:cNvSpPr/>
          <p:nvPr/>
        </p:nvSpPr>
        <p:spPr>
          <a:xfrm>
            <a:off x="640080" y="4663440"/>
            <a:ext cx="164592" cy="164592"/>
          </a:xfrm>
          <a:prstGeom prst="ellipse">
            <a:avLst/>
          </a:prstGeom>
          <a:solidFill>
            <a:srgbClr val="DC2626"/>
          </a:solidFill>
          <a:ln/>
        </p:spPr>
      </p:sp>
      <p:sp>
        <p:nvSpPr>
          <p:cNvPr id="28" name="Text 26"/>
          <p:cNvSpPr/>
          <p:nvPr/>
        </p:nvSpPr>
        <p:spPr>
          <a:xfrm>
            <a:off x="868680" y="4645152"/>
            <a:ext cx="457200" cy="201168"/>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High</a:t>
            </a:r>
            <a:endParaRPr lang="en-US" sz="900" dirty="0"/>
          </a:p>
        </p:txBody>
      </p:sp>
      <p:sp>
        <p:nvSpPr>
          <p:cNvPr id="29" name="Shape 27"/>
          <p:cNvSpPr/>
          <p:nvPr/>
        </p:nvSpPr>
        <p:spPr>
          <a:xfrm>
            <a:off x="1417320" y="4663440"/>
            <a:ext cx="164592" cy="164592"/>
          </a:xfrm>
          <a:prstGeom prst="ellipse">
            <a:avLst/>
          </a:prstGeom>
          <a:solidFill>
            <a:srgbClr val="D97706"/>
          </a:solidFill>
          <a:ln/>
        </p:spPr>
      </p:sp>
      <p:sp>
        <p:nvSpPr>
          <p:cNvPr id="30" name="Text 28"/>
          <p:cNvSpPr/>
          <p:nvPr/>
        </p:nvSpPr>
        <p:spPr>
          <a:xfrm>
            <a:off x="1645920" y="4645152"/>
            <a:ext cx="457200" cy="201168"/>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Med</a:t>
            </a:r>
            <a:endParaRPr lang="en-US" sz="900" dirty="0"/>
          </a:p>
        </p:txBody>
      </p:sp>
      <p:sp>
        <p:nvSpPr>
          <p:cNvPr id="31" name="Shape 29"/>
          <p:cNvSpPr/>
          <p:nvPr/>
        </p:nvSpPr>
        <p:spPr>
          <a:xfrm>
            <a:off x="2194560" y="4663440"/>
            <a:ext cx="164592" cy="164592"/>
          </a:xfrm>
          <a:prstGeom prst="ellipse">
            <a:avLst/>
          </a:prstGeom>
          <a:solidFill>
            <a:srgbClr val="059669"/>
          </a:solidFill>
          <a:ln/>
        </p:spPr>
      </p:sp>
      <p:sp>
        <p:nvSpPr>
          <p:cNvPr id="32" name="Text 30"/>
          <p:cNvSpPr/>
          <p:nvPr/>
        </p:nvSpPr>
        <p:spPr>
          <a:xfrm>
            <a:off x="2423160" y="4645152"/>
            <a:ext cx="457200" cy="201168"/>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Low</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40080" y="274320"/>
            <a:ext cx="7315200" cy="64008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Success Metrics</a:t>
            </a:r>
            <a:endParaRPr lang="en-US" sz="2800" dirty="0"/>
          </a:p>
        </p:txBody>
      </p:sp>
      <p:sp>
        <p:nvSpPr>
          <p:cNvPr id="3" name="Text 1"/>
          <p:cNvSpPr/>
          <p:nvPr/>
        </p:nvSpPr>
        <p:spPr>
          <a:xfrm>
            <a:off x="640080" y="822960"/>
            <a:ext cx="7315200" cy="365760"/>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How we'll measure impact across the enablement organization</a:t>
            </a:r>
            <a:endParaRPr lang="en-US" sz="1200" dirty="0"/>
          </a:p>
        </p:txBody>
      </p:sp>
      <p:sp>
        <p:nvSpPr>
          <p:cNvPr id="4" name="Shape 2"/>
          <p:cNvSpPr/>
          <p:nvPr/>
        </p:nvSpPr>
        <p:spPr>
          <a:xfrm>
            <a:off x="617220" y="1417320"/>
            <a:ext cx="2423160" cy="1417320"/>
          </a:xfrm>
          <a:prstGeom prst="rect">
            <a:avLst/>
          </a:prstGeom>
          <a:solidFill>
            <a:srgbClr val="FFFFFF">
              <a:alpha val="8000"/>
            </a:srgbClr>
          </a:solidFill>
          <a:ln w="12700">
            <a:solidFill>
              <a:srgbClr val="0891B2">
                <a:alpha val="50000"/>
              </a:srgbClr>
            </a:solidFill>
            <a:prstDash val="solid"/>
          </a:ln>
        </p:spPr>
      </p:sp>
      <p:pic>
        <p:nvPicPr>
          <p:cNvPr id="5" name="Image 0" descr="preencoded.png"/>
          <p:cNvPicPr>
            <a:picLocks noChangeAspect="1"/>
          </p:cNvPicPr>
          <p:nvPr/>
        </p:nvPicPr>
        <p:blipFill>
          <a:blip r:embed="rId3"/>
          <a:stretch>
            <a:fillRect/>
          </a:stretch>
        </p:blipFill>
        <p:spPr>
          <a:xfrm>
            <a:off x="800100" y="1554480"/>
            <a:ext cx="274320" cy="274320"/>
          </a:xfrm>
          <a:prstGeom prst="rect">
            <a:avLst/>
          </a:prstGeom>
        </p:spPr>
      </p:pic>
      <p:sp>
        <p:nvSpPr>
          <p:cNvPr id="6" name="Text 3"/>
          <p:cNvSpPr/>
          <p:nvPr/>
        </p:nvSpPr>
        <p:spPr>
          <a:xfrm>
            <a:off x="1165860" y="1527048"/>
            <a:ext cx="1691640" cy="274320"/>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Time-to-Content</a:t>
            </a:r>
            <a:endParaRPr lang="en-US" sz="1100" dirty="0"/>
          </a:p>
        </p:txBody>
      </p:sp>
      <p:sp>
        <p:nvSpPr>
          <p:cNvPr id="7" name="Text 4"/>
          <p:cNvSpPr/>
          <p:nvPr/>
        </p:nvSpPr>
        <p:spPr>
          <a:xfrm>
            <a:off x="800100" y="1920240"/>
            <a:ext cx="2057400" cy="320040"/>
          </a:xfrm>
          <a:prstGeom prst="rect">
            <a:avLst/>
          </a:prstGeom>
          <a:noFill/>
          <a:ln/>
        </p:spPr>
        <p:txBody>
          <a:bodyPr wrap="square" lIns="0" tIns="0" rIns="0" bIns="0" rtlCol="0" anchor="ctr"/>
          <a:lstStyle/>
          <a:p>
            <a:pPr marL="0" indent="0">
              <a:buNone/>
            </a:pPr>
            <a:r>
              <a:rPr lang="en-US" sz="2000" b="1" dirty="0">
                <a:solidFill>
                  <a:srgbClr val="0891B2"/>
                </a:solidFill>
                <a:latin typeface="Trebuchet MS" pitchFamily="34" charset="0"/>
                <a:ea typeface="Trebuchet MS" pitchFamily="34" charset="-122"/>
                <a:cs typeface="Trebuchet MS" pitchFamily="34" charset="-120"/>
              </a:rPr>
              <a:t>50% reduction</a:t>
            </a:r>
            <a:endParaRPr lang="en-US" sz="2000" dirty="0"/>
          </a:p>
        </p:txBody>
      </p:sp>
      <p:sp>
        <p:nvSpPr>
          <p:cNvPr id="8" name="Text 5"/>
          <p:cNvSpPr/>
          <p:nvPr/>
        </p:nvSpPr>
        <p:spPr>
          <a:xfrm>
            <a:off x="800100" y="2286000"/>
            <a:ext cx="2057400" cy="41148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Average time from brief to first draft across all content types</a:t>
            </a:r>
            <a:endParaRPr lang="en-US" sz="900" dirty="0"/>
          </a:p>
        </p:txBody>
      </p:sp>
      <p:sp>
        <p:nvSpPr>
          <p:cNvPr id="9" name="Shape 6"/>
          <p:cNvSpPr/>
          <p:nvPr/>
        </p:nvSpPr>
        <p:spPr>
          <a:xfrm>
            <a:off x="3360420" y="1417320"/>
            <a:ext cx="2423160" cy="1417320"/>
          </a:xfrm>
          <a:prstGeom prst="rect">
            <a:avLst/>
          </a:prstGeom>
          <a:solidFill>
            <a:srgbClr val="FFFFFF">
              <a:alpha val="8000"/>
            </a:srgbClr>
          </a:solidFill>
          <a:ln w="12700">
            <a:solidFill>
              <a:srgbClr val="14B8A6">
                <a:alpha val="50000"/>
              </a:srgbClr>
            </a:solidFill>
            <a:prstDash val="solid"/>
          </a:ln>
        </p:spPr>
      </p:sp>
      <p:pic>
        <p:nvPicPr>
          <p:cNvPr id="10" name="Image 1" descr="preencoded.png"/>
          <p:cNvPicPr>
            <a:picLocks noChangeAspect="1"/>
          </p:cNvPicPr>
          <p:nvPr/>
        </p:nvPicPr>
        <p:blipFill>
          <a:blip r:embed="rId4"/>
          <a:stretch>
            <a:fillRect/>
          </a:stretch>
        </p:blipFill>
        <p:spPr>
          <a:xfrm>
            <a:off x="3543300" y="1554480"/>
            <a:ext cx="274320" cy="274320"/>
          </a:xfrm>
          <a:prstGeom prst="rect">
            <a:avLst/>
          </a:prstGeom>
        </p:spPr>
      </p:pic>
      <p:sp>
        <p:nvSpPr>
          <p:cNvPr id="11" name="Text 7"/>
          <p:cNvSpPr/>
          <p:nvPr/>
        </p:nvSpPr>
        <p:spPr>
          <a:xfrm>
            <a:off x="3909060" y="1527048"/>
            <a:ext cx="1691640" cy="274320"/>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Reporting Cycle</a:t>
            </a:r>
            <a:endParaRPr lang="en-US" sz="1100" dirty="0"/>
          </a:p>
        </p:txBody>
      </p:sp>
      <p:sp>
        <p:nvSpPr>
          <p:cNvPr id="12" name="Text 8"/>
          <p:cNvSpPr/>
          <p:nvPr/>
        </p:nvSpPr>
        <p:spPr>
          <a:xfrm>
            <a:off x="3543300" y="1920240"/>
            <a:ext cx="2057400" cy="320040"/>
          </a:xfrm>
          <a:prstGeom prst="rect">
            <a:avLst/>
          </a:prstGeom>
          <a:noFill/>
          <a:ln/>
        </p:spPr>
        <p:txBody>
          <a:bodyPr wrap="square" lIns="0" tIns="0" rIns="0" bIns="0" rtlCol="0" anchor="ctr"/>
          <a:lstStyle/>
          <a:p>
            <a:pPr marL="0" indent="0">
              <a:buNone/>
            </a:pPr>
            <a:r>
              <a:rPr lang="en-US" sz="2000" b="1" dirty="0">
                <a:solidFill>
                  <a:srgbClr val="14B8A6"/>
                </a:solidFill>
                <a:latin typeface="Trebuchet MS" pitchFamily="34" charset="0"/>
                <a:ea typeface="Trebuchet MS" pitchFamily="34" charset="-122"/>
                <a:cs typeface="Trebuchet MS" pitchFamily="34" charset="-120"/>
              </a:rPr>
              <a:t>3× faster</a:t>
            </a:r>
            <a:endParaRPr lang="en-US" sz="2000" dirty="0"/>
          </a:p>
        </p:txBody>
      </p:sp>
      <p:sp>
        <p:nvSpPr>
          <p:cNvPr id="13" name="Text 9"/>
          <p:cNvSpPr/>
          <p:nvPr/>
        </p:nvSpPr>
        <p:spPr>
          <a:xfrm>
            <a:off x="3543300" y="2286000"/>
            <a:ext cx="2057400" cy="41148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Time from data pull to published stakeholder report</a:t>
            </a:r>
            <a:endParaRPr lang="en-US" sz="900" dirty="0"/>
          </a:p>
        </p:txBody>
      </p:sp>
      <p:sp>
        <p:nvSpPr>
          <p:cNvPr id="14" name="Shape 10"/>
          <p:cNvSpPr/>
          <p:nvPr/>
        </p:nvSpPr>
        <p:spPr>
          <a:xfrm>
            <a:off x="6103620" y="1417320"/>
            <a:ext cx="2423160" cy="1417320"/>
          </a:xfrm>
          <a:prstGeom prst="rect">
            <a:avLst/>
          </a:prstGeom>
          <a:solidFill>
            <a:srgbClr val="FFFFFF">
              <a:alpha val="8000"/>
            </a:srgbClr>
          </a:solidFill>
          <a:ln w="12700">
            <a:solidFill>
              <a:srgbClr val="06B6D4">
                <a:alpha val="50000"/>
              </a:srgbClr>
            </a:solidFill>
            <a:prstDash val="solid"/>
          </a:ln>
        </p:spPr>
      </p:sp>
      <p:pic>
        <p:nvPicPr>
          <p:cNvPr id="15" name="Image 2" descr="preencoded.png"/>
          <p:cNvPicPr>
            <a:picLocks noChangeAspect="1"/>
          </p:cNvPicPr>
          <p:nvPr/>
        </p:nvPicPr>
        <p:blipFill>
          <a:blip r:embed="rId5"/>
          <a:stretch>
            <a:fillRect/>
          </a:stretch>
        </p:blipFill>
        <p:spPr>
          <a:xfrm>
            <a:off x="6286500" y="1554480"/>
            <a:ext cx="274320" cy="274320"/>
          </a:xfrm>
          <a:prstGeom prst="rect">
            <a:avLst/>
          </a:prstGeom>
        </p:spPr>
      </p:pic>
      <p:sp>
        <p:nvSpPr>
          <p:cNvPr id="16" name="Text 11"/>
          <p:cNvSpPr/>
          <p:nvPr/>
        </p:nvSpPr>
        <p:spPr>
          <a:xfrm>
            <a:off x="6652260" y="1527048"/>
            <a:ext cx="1691640" cy="274320"/>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Intake Processing</a:t>
            </a:r>
            <a:endParaRPr lang="en-US" sz="1100" dirty="0"/>
          </a:p>
        </p:txBody>
      </p:sp>
      <p:sp>
        <p:nvSpPr>
          <p:cNvPr id="17" name="Text 12"/>
          <p:cNvSpPr/>
          <p:nvPr/>
        </p:nvSpPr>
        <p:spPr>
          <a:xfrm>
            <a:off x="6286500" y="1920240"/>
            <a:ext cx="2057400" cy="320040"/>
          </a:xfrm>
          <a:prstGeom prst="rect">
            <a:avLst/>
          </a:prstGeom>
          <a:noFill/>
          <a:ln/>
        </p:spPr>
        <p:txBody>
          <a:bodyPr wrap="square" lIns="0" tIns="0" rIns="0" bIns="0" rtlCol="0" anchor="ctr"/>
          <a:lstStyle/>
          <a:p>
            <a:pPr marL="0" indent="0">
              <a:buNone/>
            </a:pPr>
            <a:r>
              <a:rPr lang="en-US" sz="2000" b="1" dirty="0">
                <a:solidFill>
                  <a:srgbClr val="06B6D4"/>
                </a:solidFill>
                <a:latin typeface="Trebuchet MS" pitchFamily="34" charset="0"/>
                <a:ea typeface="Trebuchet MS" pitchFamily="34" charset="-122"/>
                <a:cs typeface="Trebuchet MS" pitchFamily="34" charset="-120"/>
              </a:rPr>
              <a:t>60% faster</a:t>
            </a:r>
            <a:endParaRPr lang="en-US" sz="2000" dirty="0"/>
          </a:p>
        </p:txBody>
      </p:sp>
      <p:sp>
        <p:nvSpPr>
          <p:cNvPr id="18" name="Text 13"/>
          <p:cNvSpPr/>
          <p:nvPr/>
        </p:nvSpPr>
        <p:spPr>
          <a:xfrm>
            <a:off x="6286500" y="2286000"/>
            <a:ext cx="2057400" cy="41148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Average time to triage and route enablement requests</a:t>
            </a:r>
            <a:endParaRPr lang="en-US" sz="900" dirty="0"/>
          </a:p>
        </p:txBody>
      </p:sp>
      <p:sp>
        <p:nvSpPr>
          <p:cNvPr id="19" name="Shape 14"/>
          <p:cNvSpPr/>
          <p:nvPr/>
        </p:nvSpPr>
        <p:spPr>
          <a:xfrm>
            <a:off x="617220" y="3108960"/>
            <a:ext cx="2423160" cy="1417320"/>
          </a:xfrm>
          <a:prstGeom prst="rect">
            <a:avLst/>
          </a:prstGeom>
          <a:solidFill>
            <a:srgbClr val="FFFFFF">
              <a:alpha val="8000"/>
            </a:srgbClr>
          </a:solidFill>
          <a:ln w="12700">
            <a:solidFill>
              <a:srgbClr val="0891B2">
                <a:alpha val="50000"/>
              </a:srgbClr>
            </a:solidFill>
            <a:prstDash val="solid"/>
          </a:ln>
        </p:spPr>
      </p:sp>
      <p:pic>
        <p:nvPicPr>
          <p:cNvPr id="20" name="Image 3" descr="preencoded.png"/>
          <p:cNvPicPr>
            <a:picLocks noChangeAspect="1"/>
          </p:cNvPicPr>
          <p:nvPr/>
        </p:nvPicPr>
        <p:blipFill>
          <a:blip r:embed="rId6"/>
          <a:stretch>
            <a:fillRect/>
          </a:stretch>
        </p:blipFill>
        <p:spPr>
          <a:xfrm>
            <a:off x="800100" y="3246120"/>
            <a:ext cx="274320" cy="274320"/>
          </a:xfrm>
          <a:prstGeom prst="rect">
            <a:avLst/>
          </a:prstGeom>
        </p:spPr>
      </p:pic>
      <p:sp>
        <p:nvSpPr>
          <p:cNvPr id="21" name="Text 15"/>
          <p:cNvSpPr/>
          <p:nvPr/>
        </p:nvSpPr>
        <p:spPr>
          <a:xfrm>
            <a:off x="1165860" y="3218688"/>
            <a:ext cx="1691640" cy="274320"/>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Content Quality Score</a:t>
            </a:r>
            <a:endParaRPr lang="en-US" sz="1100" dirty="0"/>
          </a:p>
        </p:txBody>
      </p:sp>
      <p:sp>
        <p:nvSpPr>
          <p:cNvPr id="22" name="Text 16"/>
          <p:cNvSpPr/>
          <p:nvPr/>
        </p:nvSpPr>
        <p:spPr>
          <a:xfrm>
            <a:off x="800100" y="3611880"/>
            <a:ext cx="2057400" cy="320040"/>
          </a:xfrm>
          <a:prstGeom prst="rect">
            <a:avLst/>
          </a:prstGeom>
          <a:noFill/>
          <a:ln/>
        </p:spPr>
        <p:txBody>
          <a:bodyPr wrap="square" lIns="0" tIns="0" rIns="0" bIns="0" rtlCol="0" anchor="ctr"/>
          <a:lstStyle/>
          <a:p>
            <a:pPr marL="0" indent="0">
              <a:buNone/>
            </a:pPr>
            <a:r>
              <a:rPr lang="en-US" sz="2000" b="1" dirty="0">
                <a:solidFill>
                  <a:srgbClr val="0891B2"/>
                </a:solidFill>
                <a:latin typeface="Trebuchet MS" pitchFamily="34" charset="0"/>
                <a:ea typeface="Trebuchet MS" pitchFamily="34" charset="-122"/>
                <a:cs typeface="Trebuchet MS" pitchFamily="34" charset="-120"/>
              </a:rPr>
              <a:t>≥ 4.2 / 5.0</a:t>
            </a:r>
            <a:endParaRPr lang="en-US" sz="2000" dirty="0"/>
          </a:p>
        </p:txBody>
      </p:sp>
      <p:sp>
        <p:nvSpPr>
          <p:cNvPr id="23" name="Text 17"/>
          <p:cNvSpPr/>
          <p:nvPr/>
        </p:nvSpPr>
        <p:spPr>
          <a:xfrm>
            <a:off x="800100" y="3977640"/>
            <a:ext cx="2057400" cy="41148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Stakeholder satisfaction rating on AI-assisted content</a:t>
            </a:r>
            <a:endParaRPr lang="en-US" sz="900" dirty="0"/>
          </a:p>
        </p:txBody>
      </p:sp>
      <p:sp>
        <p:nvSpPr>
          <p:cNvPr id="24" name="Shape 18"/>
          <p:cNvSpPr/>
          <p:nvPr/>
        </p:nvSpPr>
        <p:spPr>
          <a:xfrm>
            <a:off x="3360420" y="3108960"/>
            <a:ext cx="2423160" cy="1417320"/>
          </a:xfrm>
          <a:prstGeom prst="rect">
            <a:avLst/>
          </a:prstGeom>
          <a:solidFill>
            <a:srgbClr val="FFFFFF">
              <a:alpha val="8000"/>
            </a:srgbClr>
          </a:solidFill>
          <a:ln w="12700">
            <a:solidFill>
              <a:srgbClr val="14B8A6">
                <a:alpha val="50000"/>
              </a:srgbClr>
            </a:solidFill>
            <a:prstDash val="solid"/>
          </a:ln>
        </p:spPr>
      </p:sp>
      <p:pic>
        <p:nvPicPr>
          <p:cNvPr id="25" name="Image 4" descr="preencoded.png"/>
          <p:cNvPicPr>
            <a:picLocks noChangeAspect="1"/>
          </p:cNvPicPr>
          <p:nvPr/>
        </p:nvPicPr>
        <p:blipFill>
          <a:blip r:embed="rId7"/>
          <a:stretch>
            <a:fillRect/>
          </a:stretch>
        </p:blipFill>
        <p:spPr>
          <a:xfrm>
            <a:off x="3543300" y="3246120"/>
            <a:ext cx="274320" cy="274320"/>
          </a:xfrm>
          <a:prstGeom prst="rect">
            <a:avLst/>
          </a:prstGeom>
        </p:spPr>
      </p:pic>
      <p:sp>
        <p:nvSpPr>
          <p:cNvPr id="26" name="Text 19"/>
          <p:cNvSpPr/>
          <p:nvPr/>
        </p:nvSpPr>
        <p:spPr>
          <a:xfrm>
            <a:off x="3909060" y="3218688"/>
            <a:ext cx="1691640" cy="274320"/>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Team Adoption Rate</a:t>
            </a:r>
            <a:endParaRPr lang="en-US" sz="1100" dirty="0"/>
          </a:p>
        </p:txBody>
      </p:sp>
      <p:sp>
        <p:nvSpPr>
          <p:cNvPr id="27" name="Text 20"/>
          <p:cNvSpPr/>
          <p:nvPr/>
        </p:nvSpPr>
        <p:spPr>
          <a:xfrm>
            <a:off x="3543300" y="3611880"/>
            <a:ext cx="2057400" cy="320040"/>
          </a:xfrm>
          <a:prstGeom prst="rect">
            <a:avLst/>
          </a:prstGeom>
          <a:noFill/>
          <a:ln/>
        </p:spPr>
        <p:txBody>
          <a:bodyPr wrap="square" lIns="0" tIns="0" rIns="0" bIns="0" rtlCol="0" anchor="ctr"/>
          <a:lstStyle/>
          <a:p>
            <a:pPr marL="0" indent="0">
              <a:buNone/>
            </a:pPr>
            <a:r>
              <a:rPr lang="en-US" sz="2000" b="1" dirty="0">
                <a:solidFill>
                  <a:srgbClr val="14B8A6"/>
                </a:solidFill>
                <a:latin typeface="Trebuchet MS" pitchFamily="34" charset="0"/>
                <a:ea typeface="Trebuchet MS" pitchFamily="34" charset="-122"/>
                <a:cs typeface="Trebuchet MS" pitchFamily="34" charset="-120"/>
              </a:rPr>
              <a:t>85% by Month 6</a:t>
            </a:r>
            <a:endParaRPr lang="en-US" sz="2000" dirty="0"/>
          </a:p>
        </p:txBody>
      </p:sp>
      <p:sp>
        <p:nvSpPr>
          <p:cNvPr id="28" name="Text 21"/>
          <p:cNvSpPr/>
          <p:nvPr/>
        </p:nvSpPr>
        <p:spPr>
          <a:xfrm>
            <a:off x="3543300" y="3977640"/>
            <a:ext cx="2057400" cy="41148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Percentage of team using AI tools at least weekly</a:t>
            </a:r>
            <a:endParaRPr lang="en-US" sz="900" dirty="0"/>
          </a:p>
        </p:txBody>
      </p:sp>
      <p:sp>
        <p:nvSpPr>
          <p:cNvPr id="29" name="Shape 22"/>
          <p:cNvSpPr/>
          <p:nvPr/>
        </p:nvSpPr>
        <p:spPr>
          <a:xfrm>
            <a:off x="6103620" y="3108960"/>
            <a:ext cx="2423160" cy="1417320"/>
          </a:xfrm>
          <a:prstGeom prst="rect">
            <a:avLst/>
          </a:prstGeom>
          <a:solidFill>
            <a:srgbClr val="FFFFFF">
              <a:alpha val="8000"/>
            </a:srgbClr>
          </a:solidFill>
          <a:ln w="12700">
            <a:solidFill>
              <a:srgbClr val="06B6D4">
                <a:alpha val="50000"/>
              </a:srgbClr>
            </a:solidFill>
            <a:prstDash val="solid"/>
          </a:ln>
        </p:spPr>
      </p:sp>
      <p:pic>
        <p:nvPicPr>
          <p:cNvPr id="30" name="Image 5" descr="preencoded.png"/>
          <p:cNvPicPr>
            <a:picLocks noChangeAspect="1"/>
          </p:cNvPicPr>
          <p:nvPr/>
        </p:nvPicPr>
        <p:blipFill>
          <a:blip r:embed="rId8"/>
          <a:stretch>
            <a:fillRect/>
          </a:stretch>
        </p:blipFill>
        <p:spPr>
          <a:xfrm>
            <a:off x="6286500" y="3246120"/>
            <a:ext cx="274320" cy="274320"/>
          </a:xfrm>
          <a:prstGeom prst="rect">
            <a:avLst/>
          </a:prstGeom>
        </p:spPr>
      </p:pic>
      <p:sp>
        <p:nvSpPr>
          <p:cNvPr id="31" name="Text 23"/>
          <p:cNvSpPr/>
          <p:nvPr/>
        </p:nvSpPr>
        <p:spPr>
          <a:xfrm>
            <a:off x="6652260" y="3218688"/>
            <a:ext cx="1691640" cy="274320"/>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Capacity Unlocked</a:t>
            </a:r>
            <a:endParaRPr lang="en-US" sz="1100" dirty="0"/>
          </a:p>
        </p:txBody>
      </p:sp>
      <p:sp>
        <p:nvSpPr>
          <p:cNvPr id="32" name="Text 24"/>
          <p:cNvSpPr/>
          <p:nvPr/>
        </p:nvSpPr>
        <p:spPr>
          <a:xfrm>
            <a:off x="6286500" y="3611880"/>
            <a:ext cx="2057400" cy="320040"/>
          </a:xfrm>
          <a:prstGeom prst="rect">
            <a:avLst/>
          </a:prstGeom>
          <a:noFill/>
          <a:ln/>
        </p:spPr>
        <p:txBody>
          <a:bodyPr wrap="square" lIns="0" tIns="0" rIns="0" bIns="0" rtlCol="0" anchor="ctr"/>
          <a:lstStyle/>
          <a:p>
            <a:pPr marL="0" indent="0">
              <a:buNone/>
            </a:pPr>
            <a:r>
              <a:rPr lang="en-US" sz="2000" b="1" dirty="0">
                <a:solidFill>
                  <a:srgbClr val="06B6D4"/>
                </a:solidFill>
                <a:latin typeface="Trebuchet MS" pitchFamily="34" charset="0"/>
                <a:ea typeface="Trebuchet MS" pitchFamily="34" charset="-122"/>
                <a:cs typeface="Trebuchet MS" pitchFamily="34" charset="-120"/>
              </a:rPr>
              <a:t>+20% programs</a:t>
            </a:r>
            <a:endParaRPr lang="en-US" sz="2000" dirty="0"/>
          </a:p>
        </p:txBody>
      </p:sp>
      <p:sp>
        <p:nvSpPr>
          <p:cNvPr id="33" name="Text 25"/>
          <p:cNvSpPr/>
          <p:nvPr/>
        </p:nvSpPr>
        <p:spPr>
          <a:xfrm>
            <a:off x="6286500" y="3977640"/>
            <a:ext cx="2057400" cy="41148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Increase in programs delivered per quarter with same headcount</a:t>
            </a:r>
            <a:endParaRPr lang="en-US" sz="900" dirty="0"/>
          </a:p>
        </p:txBody>
      </p:sp>
      <p:sp>
        <p:nvSpPr>
          <p:cNvPr id="34" name="Shape 26"/>
          <p:cNvSpPr/>
          <p:nvPr/>
        </p:nvSpPr>
        <p:spPr>
          <a:xfrm>
            <a:off x="2743200" y="4572000"/>
            <a:ext cx="3657600" cy="45720"/>
          </a:xfrm>
          <a:prstGeom prst="rect">
            <a:avLst/>
          </a:prstGeom>
          <a:solidFill>
            <a:srgbClr val="0891B2"/>
          </a:solidFill>
          <a:ln/>
        </p:spPr>
      </p:sp>
      <p:sp>
        <p:nvSpPr>
          <p:cNvPr id="35" name="Text 27"/>
          <p:cNvSpPr/>
          <p:nvPr/>
        </p:nvSpPr>
        <p:spPr>
          <a:xfrm>
            <a:off x="1371600" y="4709160"/>
            <a:ext cx="6400800" cy="320040"/>
          </a:xfrm>
          <a:prstGeom prst="rect">
            <a:avLst/>
          </a:prstGeom>
          <a:noFill/>
          <a:ln/>
        </p:spPr>
        <p:txBody>
          <a:bodyPr wrap="square" lIns="0" tIns="0" rIns="0" bIns="0" rtlCol="0" anchor="ctr"/>
          <a:lstStyle/>
          <a:p>
            <a:pPr marL="0" indent="0" algn="ctr">
              <a:buNone/>
            </a:pPr>
            <a:r>
              <a:rPr lang="en-US" sz="1300" i="1" dirty="0">
                <a:solidFill>
                  <a:srgbClr val="94A3B8"/>
                </a:solidFill>
                <a:latin typeface="Calibri" pitchFamily="34" charset="0"/>
                <a:ea typeface="Calibri" pitchFamily="34" charset="-122"/>
                <a:cs typeface="Calibri" pitchFamily="34" charset="-120"/>
              </a:rPr>
              <a:t>Let's build the future of enablement together.</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17d28f16-eb5e-4587-81e0-682ed581eef1" xsi:nil="true"/>
    <lcf76f155ced4ddcb4097134ff3c332f xmlns="69c7e17f-4e9e-430d-90e0-3ef93dcbdb44">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1275B9CB64CD7C47B41F746646547B33" ma:contentTypeVersion="12" ma:contentTypeDescription="Create a new document." ma:contentTypeScope="" ma:versionID="51354516d3b672ae0d8b9a3f2710c302">
  <xsd:schema xmlns:xsd="http://www.w3.org/2001/XMLSchema" xmlns:xs="http://www.w3.org/2001/XMLSchema" xmlns:p="http://schemas.microsoft.com/office/2006/metadata/properties" xmlns:ns2="69c7e17f-4e9e-430d-90e0-3ef93dcbdb44" xmlns:ns3="17d28f16-eb5e-4587-81e0-682ed581eef1" targetNamespace="http://schemas.microsoft.com/office/2006/metadata/properties" ma:root="true" ma:fieldsID="cf335e2618e06b79f2f12a08e2dd74ae" ns2:_="" ns3:_="">
    <xsd:import namespace="69c7e17f-4e9e-430d-90e0-3ef93dcbdb44"/>
    <xsd:import namespace="17d28f16-eb5e-4587-81e0-682ed581eef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BillingMetadata"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9c7e17f-4e9e-430d-90e0-3ef93dcbdb4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BillingMetadata" ma:index="11" nillable="true" ma:displayName="MediaServiceBillingMetadata" ma:hidden="true" ma:internalName="MediaServiceBilling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45ebeb2d-667f-43bd-86ca-2a4d877a1774"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7d28f16-eb5e-4587-81e0-682ed581eef1"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957522ba-6265-4042-bbfc-6e697f6f1b5b}" ma:internalName="TaxCatchAll" ma:showField="CatchAllData" ma:web="17d28f16-eb5e-4587-81e0-682ed581eef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AD3AF52-5A50-4F64-8820-061122CFBCE1}">
  <ds:schemaRefs>
    <ds:schemaRef ds:uri="http://schemas.microsoft.com/office/2006/metadata/properties"/>
    <ds:schemaRef ds:uri="http://schemas.microsoft.com/office/infopath/2007/PartnerControls"/>
    <ds:schemaRef ds:uri="3fc6c855-14a9-4cb8-9c2c-97e64d06e10c"/>
    <ds:schemaRef ds:uri="1bceaef6-f40d-49a5-8a29-19a4537ac916"/>
  </ds:schemaRefs>
</ds:datastoreItem>
</file>

<file path=customXml/itemProps2.xml><?xml version="1.0" encoding="utf-8"?>
<ds:datastoreItem xmlns:ds="http://schemas.openxmlformats.org/officeDocument/2006/customXml" ds:itemID="{279D08E5-4960-4492-9106-73A76F15BBDC}">
  <ds:schemaRefs>
    <ds:schemaRef ds:uri="http://schemas.microsoft.com/sharepoint/v3/contenttype/forms"/>
  </ds:schemaRefs>
</ds:datastoreItem>
</file>

<file path=customXml/itemProps3.xml><?xml version="1.0" encoding="utf-8"?>
<ds:datastoreItem xmlns:ds="http://schemas.openxmlformats.org/officeDocument/2006/customXml" ds:itemID="{97E66438-23BE-4B36-B76C-8DACAAF69ECF}"/>
</file>

<file path=docMetadata/LabelInfo.xml><?xml version="1.0" encoding="utf-8"?>
<clbl:labelList xmlns:clbl="http://schemas.microsoft.com/office/2020/mipLabelMetadata">
  <clbl:label id="{20bd2185-7f4f-483c-8403-3480aaa4171f}" enabled="1" method="Standard" siteId="{72adb271-2fc7-4afe-a5ee-9de6a59f6bfb}" removed="0"/>
</clbl:labelList>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in Our Team – Strategy</dc:title>
  <dc:subject>PptxGenJS Presentation</dc:subject>
  <dc:creator>Enablement Team</dc:creator>
  <cp:lastModifiedBy>Enablement Team</cp:lastModifiedBy>
  <cp:revision>2</cp:revision>
  <dcterms:created xsi:type="dcterms:W3CDTF">2026-04-03T14:08:35Z</dcterms:created>
  <dcterms:modified xsi:type="dcterms:W3CDTF">2026-04-03T15:30:56Z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0x0101001275B9CB64CD7C47B41F746646547B33</vt:lpwstr>
  </property>
  <property fmtid="{D5CDD505-2E9C-101B-9397-08002B2CF9AE}" pid="3" name="MediaServiceImageTags">
    <vt:lpwstr/>
  </property>
</Properties>
</file>